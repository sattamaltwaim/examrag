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32"/>
  </p:notesMasterIdLst>
  <p:sldIdLst>
    <p:sldId id="532" r:id="rId2"/>
    <p:sldId id="607" r:id="rId3"/>
    <p:sldId id="633" r:id="rId4"/>
    <p:sldId id="623" r:id="rId5"/>
    <p:sldId id="624" r:id="rId6"/>
    <p:sldId id="625" r:id="rId7"/>
    <p:sldId id="507" r:id="rId8"/>
    <p:sldId id="626" r:id="rId9"/>
    <p:sldId id="634" r:id="rId10"/>
    <p:sldId id="636" r:id="rId11"/>
    <p:sldId id="637" r:id="rId12"/>
    <p:sldId id="638" r:id="rId13"/>
    <p:sldId id="639" r:id="rId14"/>
    <p:sldId id="640" r:id="rId15"/>
    <p:sldId id="641" r:id="rId16"/>
    <p:sldId id="642" r:id="rId17"/>
    <p:sldId id="643" r:id="rId18"/>
    <p:sldId id="644" r:id="rId19"/>
    <p:sldId id="645" r:id="rId20"/>
    <p:sldId id="646" r:id="rId21"/>
    <p:sldId id="647" r:id="rId22"/>
    <p:sldId id="648" r:id="rId23"/>
    <p:sldId id="649" r:id="rId24"/>
    <p:sldId id="650" r:id="rId25"/>
    <p:sldId id="651" r:id="rId26"/>
    <p:sldId id="652" r:id="rId27"/>
    <p:sldId id="653" r:id="rId28"/>
    <p:sldId id="654" r:id="rId29"/>
    <p:sldId id="655" r:id="rId30"/>
    <p:sldId id="65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0791" autoAdjust="0"/>
  </p:normalViewPr>
  <p:slideViewPr>
    <p:cSldViewPr snapToGrid="0">
      <p:cViewPr varScale="1">
        <p:scale>
          <a:sx n="77" d="100"/>
          <a:sy n="7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THMAN SAED MOHAMAD SAED" userId="74efeeda-7467-4fe6-944b-2051fe18268d" providerId="ADAL" clId="{6FC4511E-9904-49B6-9AD9-C6C10670FDF8}"/>
    <pc:docChg chg="custSel modSld">
      <pc:chgData name="OTHMAN SAED MOHAMAD SAED" userId="74efeeda-7467-4fe6-944b-2051fe18268d" providerId="ADAL" clId="{6FC4511E-9904-49B6-9AD9-C6C10670FDF8}" dt="2026-04-20T04:18:57.964" v="17" actId="14100"/>
      <pc:docMkLst>
        <pc:docMk/>
      </pc:docMkLst>
      <pc:sldChg chg="modSp mod">
        <pc:chgData name="OTHMAN SAED MOHAMAD SAED" userId="74efeeda-7467-4fe6-944b-2051fe18268d" providerId="ADAL" clId="{6FC4511E-9904-49B6-9AD9-C6C10670FDF8}" dt="2026-04-20T04:18:57.964" v="17" actId="14100"/>
        <pc:sldMkLst>
          <pc:docMk/>
          <pc:sldMk cId="2239971618" sldId="639"/>
        </pc:sldMkLst>
        <pc:picChg chg="mod">
          <ac:chgData name="OTHMAN SAED MOHAMAD SAED" userId="74efeeda-7467-4fe6-944b-2051fe18268d" providerId="ADAL" clId="{6FC4511E-9904-49B6-9AD9-C6C10670FDF8}" dt="2026-04-20T04:18:57.964" v="17" actId="14100"/>
          <ac:picMkLst>
            <pc:docMk/>
            <pc:sldMk cId="2239971618" sldId="639"/>
            <ac:picMk id="6" creationId="{57F167DC-132F-430C-945F-7FE33BB103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9143-8A79-4207-B28B-5B935E50198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6E464-822A-46D8-9E7A-C764D9CEF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https://www.freecodecamp.org/news/a-brief-introduction-to-reinforcement-learning-7799af5840db/</a:t>
            </a:r>
          </a:p>
          <a:p>
            <a:endParaRPr lang="en-US" dirty="0"/>
          </a:p>
          <a:p>
            <a:r>
              <a:rPr lang="en-US" dirty="0"/>
              <a:t>https://www.guru99.com/reinforcement-learning-tutorial.html</a:t>
            </a:r>
          </a:p>
          <a:p>
            <a:endParaRPr lang="en-US" dirty="0"/>
          </a:p>
          <a:p>
            <a:r>
              <a:rPr lang="en-US" dirty="0"/>
              <a:t>https://www.javatpoint.com/reinforcement-learning</a:t>
            </a:r>
          </a:p>
          <a:p>
            <a:endParaRPr lang="en-US" dirty="0"/>
          </a:p>
          <a:p>
            <a:r>
              <a:rPr lang="en-US" dirty="0"/>
              <a:t>https://wiki.pathmind.com/deep-reinforcement-learning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8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19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68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9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38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85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3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93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61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4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21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62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91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82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85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10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392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36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58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62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23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175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845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34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294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568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29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86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6E464-822A-46D8-9E7A-C764D9CEF4D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36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FB27-E016-458F-9F60-025A58E2A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73711-3AAE-414D-AAED-9ECCD1FC2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DE0AF-A68E-48EB-A9EE-2E2E6B3AA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BE66-40A0-4CEB-81DB-E01957A408E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0D261-C675-40E6-8936-37ED1187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3C69D-7C42-40B9-A32E-034B7823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3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06C1-C256-4399-BD39-09EC1791C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DCC20-2ACB-41F5-ABFC-E9A9EE34A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0C27F-344A-412E-B8D2-9E2EF2930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89E9-DDBC-45FF-BFB2-D6A0BFB4DBFA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E371-7302-4D47-999D-D46AE679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FFD9-9BC7-4537-A0E9-1E17DA2D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9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68A9-24FD-4F42-A3F3-01AB616C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457B2-E390-4B21-B756-AD55131D6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A3BD-4B71-426B-9AB6-703770E30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248B-3F86-4D4B-B955-D4637065459D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D628-CC7F-4805-BB3E-A36974813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7E14F-B2C9-4AC9-9239-EC3A6173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72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9C80-D973-43D1-9C6E-A270605B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273C-AC69-43C6-B4E2-E5EBF1482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8CED5-D6B2-4815-AE39-F9822C0C2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658F0-68D3-4CB8-A02C-B5F902AE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B2F9-BD15-4D5A-AFA7-6DB7FC73D5F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49A85-1125-461B-950A-ECC37A99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A598A-B1DD-4101-B1DF-BB15EC9A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8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7333-38D2-4C05-8A84-A6F383A1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D8243-D82A-4CCC-86FB-6CA92622E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A3E01-541E-4E8E-BA58-8B0F56183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742DC-A0A1-4A9E-A1E1-441E4973C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6EB09-D505-4CDC-927A-49628F4D0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F82D9-441F-4C37-BB86-66176993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DBC7-AC5A-48B6-8F1C-DDA64E2A58B7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9C4C8-3146-4CFB-8FB5-CBAC0DEC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EBECC-66FE-43D3-9035-8F4A8803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8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8A81-05AA-4844-B518-1E69F96E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2494B-D3C4-4C4A-97FC-298E761D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F534A-7DE9-4D5A-8E7D-7974AB11C9B8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FBFE8-8563-42E5-B6FF-B2308BC4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00EC0-9409-4D2E-B95A-0EF43389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E50A5-034F-4A27-BDE9-B4BF65A1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6F003-ACB3-4FDA-9ED6-91A26DB37ABA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3E659-1523-46B8-B553-58E78062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CC34E-7598-4BF0-BADA-EB988163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8F1E-C3A6-4DFE-A8A4-57967AD5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BB9B-4A9D-40F0-83E7-4C0BDA01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D81AF-720A-4F0B-86F2-57BA7142D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BACB3-F489-4291-AE6B-7B8BF247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37007-BD6C-4963-8491-9A4C405C39A5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F7393-F926-4514-BD8C-2D0CC69C9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1D006-414F-418C-AD35-1AA99983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9C37-5AD8-4B37-A8BF-F99BA01F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CD6E3-A2B3-43A2-84F5-367988C19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B568-9441-40E7-9031-26C890D4F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A881-B1B9-48CA-B717-663310AF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3A7E-1DED-4535-B995-CEF8142E46BD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D477C-6895-4884-9FEE-B74DEAD0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8DE34-913B-474E-92A0-0E4A4505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6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627AF-9B29-4D18-8206-6B6C499E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E32A0-17DC-4402-AF46-74812CF19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C4DDE-2E2D-4B61-89A7-40B29381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0BF1-B558-4EB5-9D96-C6DC91F2CBB2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3630-7FA6-429F-9B3D-14ABD6141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24CC-B5BB-4E18-AC42-5ACD6F9D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2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14A3AA-EB7B-4CD0-BAF3-8C29A6C85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F6578-FC20-437B-A763-D13D67DFA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A768D-2698-4EEA-B0BD-6ED210A8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1157F-D051-4944-A385-F19872BDAAC3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0C3A3-AB0B-4F93-AD3B-C265AB2A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6ABFD-9053-40A5-846B-D99B94E2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6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61AFD-27B4-4242-A306-1BFCFB98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E1AB4-37AF-418D-A6D0-AE2792A6D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284F9-150E-49B6-B096-C56875D0B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125F9-C85E-44A1-85A9-AA9DFDB25483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91573-EA29-413B-8666-D3E498898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College of Computer Science and Engineering University of Jeddah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6D32E-6273-4063-A596-EED5D85FF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49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A0F4-0C40-4C2F-B00B-AC147B6C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E4AB1-E5FC-4E90-93C6-43814BF64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  <a:p>
            <a:r>
              <a:rPr lang="en-US" dirty="0"/>
              <a:t>Bellman Equation</a:t>
            </a:r>
          </a:p>
          <a:p>
            <a:r>
              <a:rPr lang="en-US" dirty="0"/>
              <a:t>Deep </a:t>
            </a:r>
            <a:r>
              <a:rPr lang="en-US"/>
              <a:t>Reinforcement Learning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51A42-17F5-4DF7-932E-60BF5459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College of Computer Science and Engineering University of Jeddah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A7517-A009-4782-804E-D6F197AF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2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A34E99C-EFEB-417D-BE22-B24B5972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90" y="909349"/>
            <a:ext cx="11130856" cy="5039302"/>
          </a:xfrm>
        </p:spPr>
        <p:txBody>
          <a:bodyPr>
            <a:normAutofit/>
          </a:bodyPr>
          <a:lstStyle/>
          <a:p>
            <a:r>
              <a:rPr lang="en-US" dirty="0"/>
              <a:t>Agent learns to behave in an environment by performing actions</a:t>
            </a:r>
          </a:p>
          <a:p>
            <a:pPr lvl="1"/>
            <a:r>
              <a:rPr lang="en-US" dirty="0"/>
              <a:t>Observing the reward / result which it gets based upon those actions</a:t>
            </a:r>
          </a:p>
          <a:p>
            <a:r>
              <a:rPr lang="en-US" dirty="0"/>
              <a:t>Daily Example of reinforcement learning</a:t>
            </a:r>
          </a:p>
          <a:p>
            <a:pPr lvl="1"/>
            <a:r>
              <a:rPr lang="en-US" dirty="0"/>
              <a:t>Baby starts walking and successfully reaches couch</a:t>
            </a:r>
          </a:p>
          <a:p>
            <a:pPr lvl="1"/>
            <a:r>
              <a:rPr lang="en-US" dirty="0"/>
              <a:t>Assume couch is end goal making parents and baby happy</a:t>
            </a:r>
          </a:p>
          <a:p>
            <a:pPr lvl="1"/>
            <a:r>
              <a:rPr lang="en-US" dirty="0"/>
              <a:t>If everyone is happy then baby gets appreciation from parents</a:t>
            </a:r>
          </a:p>
          <a:p>
            <a:pPr lvl="2"/>
            <a:r>
              <a:rPr lang="en-US" dirty="0"/>
              <a:t>happiness =&gt; Positive feedback / reward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F95C99-5FE8-474C-B1AA-F9D013C54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52" y="3429000"/>
            <a:ext cx="5139267" cy="289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34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A34E99C-EFEB-417D-BE22-B24B5972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84" y="1107498"/>
            <a:ext cx="11130856" cy="5039302"/>
          </a:xfrm>
        </p:spPr>
        <p:txBody>
          <a:bodyPr>
            <a:normAutofit/>
          </a:bodyPr>
          <a:lstStyle/>
          <a:p>
            <a:r>
              <a:rPr lang="en-US" dirty="0"/>
              <a:t>Daily Example of reinforcement learning</a:t>
            </a:r>
          </a:p>
          <a:p>
            <a:pPr lvl="1"/>
            <a:r>
              <a:rPr lang="en-US" dirty="0"/>
              <a:t>Baby starts walking and fails reaching couch and gets hurt</a:t>
            </a:r>
          </a:p>
          <a:p>
            <a:pPr lvl="1"/>
            <a:r>
              <a:rPr lang="en-US" dirty="0"/>
              <a:t>Assume couch is end goal </a:t>
            </a:r>
          </a:p>
          <a:p>
            <a:pPr lvl="1"/>
            <a:r>
              <a:rPr lang="en-US" dirty="0"/>
              <a:t>Failing to reach couch and getting hurt makes baby unhappy</a:t>
            </a:r>
          </a:p>
          <a:p>
            <a:pPr lvl="1"/>
            <a:r>
              <a:rPr lang="en-US" dirty="0"/>
              <a:t>Baby fails to reach couch and falls down and gets hurt</a:t>
            </a:r>
          </a:p>
          <a:p>
            <a:pPr lvl="2"/>
            <a:r>
              <a:rPr lang="en-US" dirty="0"/>
              <a:t>injury =&gt; Negative feedback / no-reward</a:t>
            </a:r>
          </a:p>
          <a:p>
            <a:endParaRPr lang="en-US" dirty="0"/>
          </a:p>
          <a:p>
            <a:r>
              <a:rPr lang="en-GB" b="0" i="0" dirty="0">
                <a:solidFill>
                  <a:srgbClr val="0A0A23"/>
                </a:solidFill>
                <a:effectLst/>
              </a:rPr>
              <a:t>That’s how humans learn 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</a:rPr>
              <a:t>trail and error </a:t>
            </a:r>
          </a:p>
          <a:p>
            <a:r>
              <a:rPr lang="en-GB" dirty="0">
                <a:solidFill>
                  <a:srgbClr val="0A0A23"/>
                </a:solidFill>
              </a:rPr>
              <a:t>Reinforcement Learning</a:t>
            </a:r>
          </a:p>
          <a:p>
            <a:pPr lvl="1"/>
            <a:r>
              <a:rPr lang="en-GB" dirty="0">
                <a:solidFill>
                  <a:srgbClr val="0A0A23"/>
                </a:solidFill>
              </a:rPr>
              <a:t>Learn by actions</a:t>
            </a:r>
            <a:endParaRPr lang="en-US" dirty="0"/>
          </a:p>
          <a:p>
            <a:endParaRPr lang="en-US" dirty="0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5AD43A-1E09-41BA-B089-16D09FFC1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316" y="3183255"/>
            <a:ext cx="5641057" cy="317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60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Learning to play Mario brothers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A34E99C-EFEB-417D-BE22-B24B5972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84" y="1107498"/>
            <a:ext cx="11130856" cy="50393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Learning process can be modeled as iterative loop</a:t>
            </a:r>
          </a:p>
          <a:p>
            <a:pPr lvl="1"/>
            <a:endParaRPr lang="en-US" baseline="-25000" dirty="0"/>
          </a:p>
          <a:p>
            <a:pPr lvl="1"/>
            <a:endParaRPr lang="en-US" baseline="-25000" dirty="0"/>
          </a:p>
          <a:p>
            <a:pPr lvl="1"/>
            <a:endParaRPr lang="en-US" baseline="-25000" dirty="0"/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A0A23"/>
                </a:solidFill>
                <a:effectLst/>
              </a:rPr>
              <a:t>The RL Agent receives </a:t>
            </a:r>
            <a:r>
              <a:rPr lang="en-GB" sz="2400" b="1" i="0" dirty="0">
                <a:solidFill>
                  <a:srgbClr val="0A0A23"/>
                </a:solidFill>
                <a:effectLst/>
              </a:rPr>
              <a:t>state S</a:t>
            </a:r>
            <a:r>
              <a:rPr lang="en-GB" sz="2400" b="0" i="0" dirty="0">
                <a:solidFill>
                  <a:srgbClr val="0A0A23"/>
                </a:solidFill>
                <a:effectLst/>
              </a:rPr>
              <a:t>⁰ from the </a:t>
            </a:r>
            <a:r>
              <a:rPr lang="en-GB" sz="2400" b="1" i="0" dirty="0">
                <a:solidFill>
                  <a:srgbClr val="0A0A23"/>
                </a:solidFill>
                <a:effectLst/>
              </a:rPr>
              <a:t>environment</a:t>
            </a:r>
            <a:r>
              <a:rPr lang="en-GB" sz="2400" b="0" i="0" dirty="0">
                <a:solidFill>
                  <a:srgbClr val="0A0A23"/>
                </a:solidFill>
                <a:effectLst/>
              </a:rPr>
              <a:t> i.e. Mario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A0A23"/>
                </a:solidFill>
                <a:effectLst/>
              </a:rPr>
              <a:t>Based on that</a:t>
            </a:r>
            <a:r>
              <a:rPr lang="en-GB" sz="2400" b="1" i="0" dirty="0">
                <a:solidFill>
                  <a:srgbClr val="0A0A23"/>
                </a:solidFill>
                <a:effectLst/>
              </a:rPr>
              <a:t> state S⁰, </a:t>
            </a:r>
            <a:r>
              <a:rPr lang="en-GB" sz="2400" b="0" i="0" dirty="0">
                <a:solidFill>
                  <a:srgbClr val="0A0A23"/>
                </a:solidFill>
                <a:effectLst/>
              </a:rPr>
              <a:t>the RL agent takes an </a:t>
            </a:r>
            <a:r>
              <a:rPr lang="en-GB" sz="2400" b="1" i="0" dirty="0">
                <a:solidFill>
                  <a:srgbClr val="0A0A23"/>
                </a:solidFill>
                <a:effectLst/>
              </a:rPr>
              <a:t>action A</a:t>
            </a:r>
            <a:r>
              <a:rPr lang="en-GB" sz="2400" b="0" i="0" dirty="0">
                <a:solidFill>
                  <a:srgbClr val="0A0A23"/>
                </a:solidFill>
                <a:effectLst/>
              </a:rPr>
              <a:t>⁰, say — our RL agent moves right. Initially, this is random.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A0A23"/>
                </a:solidFill>
                <a:effectLst/>
              </a:rPr>
              <a:t>Now, the environment is in a new state </a:t>
            </a:r>
            <a:r>
              <a:rPr lang="en-GB" sz="2400" b="1" i="0" dirty="0">
                <a:solidFill>
                  <a:srgbClr val="0A0A23"/>
                </a:solidFill>
                <a:effectLst/>
              </a:rPr>
              <a:t>S¹</a:t>
            </a:r>
            <a:r>
              <a:rPr lang="en-GB" sz="2400" b="0" i="0" dirty="0">
                <a:solidFill>
                  <a:srgbClr val="0A0A23"/>
                </a:solidFill>
                <a:effectLst/>
              </a:rPr>
              <a:t> (new frame from Mario or the game engine)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A0A23"/>
                </a:solidFill>
                <a:effectLst/>
              </a:rPr>
              <a:t>Environment gives some </a:t>
            </a:r>
            <a:r>
              <a:rPr lang="en-GB" sz="2400" b="1" i="0" dirty="0">
                <a:solidFill>
                  <a:srgbClr val="0A0A23"/>
                </a:solidFill>
                <a:effectLst/>
              </a:rPr>
              <a:t>reward R</a:t>
            </a:r>
            <a:r>
              <a:rPr lang="en-GB" sz="2400" b="0" i="0" dirty="0">
                <a:solidFill>
                  <a:srgbClr val="0A0A23"/>
                </a:solidFill>
                <a:effectLst/>
              </a:rPr>
              <a:t>¹ to the RL agent. It probably gives a +1 because the agent is not dead yet.</a:t>
            </a:r>
          </a:p>
          <a:p>
            <a:pPr algn="l" fontAlgn="base"/>
            <a:endParaRPr lang="en-GB" sz="1600" b="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  <a:p>
            <a:pPr algn="l" fontAlgn="base"/>
            <a:r>
              <a:rPr lang="en-GB" sz="2400" b="0" i="0" dirty="0">
                <a:solidFill>
                  <a:srgbClr val="0A0A23"/>
                </a:solidFill>
                <a:effectLst/>
              </a:rPr>
              <a:t>This RL loop continues until we are dead or we reach our destination, and it continuously outputs a sequence of </a:t>
            </a:r>
            <a:r>
              <a:rPr lang="en-GB" sz="2400" b="1" i="0" dirty="0">
                <a:solidFill>
                  <a:srgbClr val="0A0A23"/>
                </a:solidFill>
                <a:effectLst/>
              </a:rPr>
              <a:t>state, action and reward.</a:t>
            </a:r>
            <a:endParaRPr lang="en-GB" sz="2400" b="0" i="0" dirty="0">
              <a:solidFill>
                <a:srgbClr val="0A0A23"/>
              </a:solidFill>
              <a:effectLst/>
            </a:endParaRPr>
          </a:p>
          <a:p>
            <a:pPr algn="l" fontAlgn="base"/>
            <a:r>
              <a:rPr lang="en-GB" sz="2400" b="0" i="0" dirty="0">
                <a:solidFill>
                  <a:srgbClr val="0A0A23"/>
                </a:solidFill>
                <a:effectLst/>
              </a:rPr>
              <a:t>The basic aim of our RL agent is to maximize the reward.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GB" sz="2400" b="0" i="0" dirty="0">
              <a:solidFill>
                <a:srgbClr val="0A0A23"/>
              </a:solidFill>
              <a:effectLst/>
            </a:endParaRPr>
          </a:p>
          <a:p>
            <a:pPr lvl="1"/>
            <a:endParaRPr lang="en-US" baseline="-25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3084A59-E4B9-41A4-937B-9BA8DCB2C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480" y="632460"/>
            <a:ext cx="3362960" cy="1580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26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Reward Maximization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A34E99C-EFEB-417D-BE22-B24B597208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0584" y="1107498"/>
                <a:ext cx="11130856" cy="5039302"/>
              </a:xfrm>
            </p:spPr>
            <p:txBody>
              <a:bodyPr>
                <a:normAutofit/>
              </a:bodyPr>
              <a:lstStyle/>
              <a:p>
                <a:pPr algn="l" fontAlgn="base"/>
                <a:r>
                  <a:rPr lang="en-GB" b="0" i="0" dirty="0">
                    <a:solidFill>
                      <a:srgbClr val="0A0A23"/>
                    </a:solidFill>
                    <a:effectLst/>
                    <a:latin typeface="Lato" panose="020F0502020204030203" pitchFamily="34" charset="0"/>
                  </a:rPr>
                  <a:t>RL agent works on maximizing a hypotheses reward.</a:t>
                </a:r>
              </a:p>
              <a:p>
                <a:pPr algn="l" fontAlgn="base"/>
                <a:r>
                  <a:rPr lang="en-GB" b="0" i="0" dirty="0">
                    <a:solidFill>
                      <a:srgbClr val="0A0A23"/>
                    </a:solidFill>
                    <a:effectLst/>
                    <a:latin typeface="Lato" panose="020F0502020204030203" pitchFamily="34" charset="0"/>
                  </a:rPr>
                  <a:t> </a:t>
                </a:r>
                <a:r>
                  <a:rPr lang="en-GB" b="1" i="0" dirty="0">
                    <a:solidFill>
                      <a:srgbClr val="0A0A23"/>
                    </a:solidFill>
                    <a:effectLst/>
                    <a:latin typeface="inherit"/>
                  </a:rPr>
                  <a:t>That’s why reinforcement learning should have best possible action in order to maximize the reward.</a:t>
                </a:r>
                <a:endParaRPr lang="en-GB" b="0" i="0" dirty="0">
                  <a:solidFill>
                    <a:srgbClr val="0A0A23"/>
                  </a:solidFill>
                  <a:effectLst/>
                  <a:latin typeface="Lato" panose="020F0502020204030203" pitchFamily="34" charset="0"/>
                </a:endParaRPr>
              </a:p>
              <a:p>
                <a:pPr algn="l" fontAlgn="base"/>
                <a:r>
                  <a:rPr lang="en-GB" b="0" i="0" dirty="0">
                    <a:solidFill>
                      <a:srgbClr val="0A0A23"/>
                    </a:solidFill>
                    <a:effectLst/>
                    <a:latin typeface="Lato" panose="020F0502020204030203" pitchFamily="34" charset="0"/>
                  </a:rPr>
                  <a:t>The cumulative rewards at each time step with the respective action is written as:</a:t>
                </a:r>
              </a:p>
              <a:p>
                <a:pPr algn="l" fontAlgn="base"/>
                <a:endParaRPr lang="en-GB" baseline="-25000" dirty="0">
                  <a:solidFill>
                    <a:srgbClr val="0A0A23"/>
                  </a:solidFill>
                  <a:latin typeface="Lato" panose="020F0502020204030203" pitchFamily="34" charset="0"/>
                </a:endParaRPr>
              </a:p>
              <a:p>
                <a:pPr marL="0" indent="0" algn="l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pt-BR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solidFill>
                    <a:srgbClr val="222222"/>
                  </a:solidFill>
                  <a:latin typeface="Lato" panose="020F0502020204030203" pitchFamily="34" charset="0"/>
                </a:endParaRPr>
              </a:p>
              <a:p>
                <a:endParaRPr lang="en-US" baseline="-25000" dirty="0">
                  <a:solidFill>
                    <a:srgbClr val="222222"/>
                  </a:solidFill>
                  <a:latin typeface="Lato" panose="020F0502020204030203" pitchFamily="34" charset="0"/>
                </a:endParaRPr>
              </a:p>
              <a:p>
                <a:endParaRPr lang="en-US" baseline="-25000" dirty="0">
                  <a:solidFill>
                    <a:srgbClr val="222222"/>
                  </a:solidFill>
                  <a:latin typeface="Lato" panose="020F0502020204030203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A34E99C-EFEB-417D-BE22-B24B597208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584" y="1107498"/>
                <a:ext cx="11130856" cy="5039302"/>
              </a:xfrm>
              <a:blipFill>
                <a:blip r:embed="rId3"/>
                <a:stretch>
                  <a:fillRect l="-986" t="-2179"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4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Example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A34E99C-EFEB-417D-BE22-B24B5972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944" y="909349"/>
            <a:ext cx="11130856" cy="5039302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222222"/>
                </a:solidFill>
                <a:effectLst/>
              </a:rPr>
              <a:t>Our agent is a robotic mouse and is placed in a maze with cheese (reward), electric shock (punishment), cat (punishment).</a:t>
            </a:r>
          </a:p>
          <a:p>
            <a:r>
              <a:rPr lang="en-US" sz="2400" dirty="0">
                <a:solidFill>
                  <a:srgbClr val="222222"/>
                </a:solidFill>
              </a:rPr>
              <a:t>Goal: Eat maximum cheese before getting electrocuted or eaten by cat </a:t>
            </a:r>
            <a:endParaRPr lang="en-US" sz="2400" b="0" i="0" dirty="0">
              <a:solidFill>
                <a:srgbClr val="222222"/>
              </a:solidFill>
              <a:effectLst/>
            </a:endParaRPr>
          </a:p>
          <a:p>
            <a:pPr algn="l" fontAlgn="base"/>
            <a:r>
              <a:rPr lang="en-GB" sz="2400" b="0" i="0" dirty="0">
                <a:solidFill>
                  <a:srgbClr val="0A0A23"/>
                </a:solidFill>
                <a:effectLst/>
              </a:rPr>
              <a:t>Should mouse eat more cheese close to cat or electricity ?</a:t>
            </a:r>
          </a:p>
          <a:p>
            <a:pPr algn="l" fontAlgn="base"/>
            <a:r>
              <a:rPr lang="en-GB" sz="2400" b="0" i="0" dirty="0">
                <a:solidFill>
                  <a:srgbClr val="0A0A23"/>
                </a:solidFill>
                <a:effectLst/>
              </a:rPr>
              <a:t>Should </a:t>
            </a:r>
            <a:r>
              <a:rPr lang="en-GB" sz="2400" dirty="0">
                <a:solidFill>
                  <a:srgbClr val="0A0A23"/>
                </a:solidFill>
              </a:rPr>
              <a:t>mouse eat less cheese far from cat or electricity ? </a:t>
            </a:r>
          </a:p>
          <a:p>
            <a:pPr algn="l" fontAlgn="base"/>
            <a:r>
              <a:rPr lang="en-GB" sz="2400" b="0" i="0" dirty="0">
                <a:solidFill>
                  <a:srgbClr val="0A0A23"/>
                </a:solidFill>
                <a:effectLst/>
              </a:rPr>
              <a:t>Eat cheese far from cat or electricity, because the closer to them  the higher the probability of death. </a:t>
            </a:r>
          </a:p>
          <a:p>
            <a:pPr algn="l" fontAlgn="base"/>
            <a:r>
              <a:rPr lang="en-GB" sz="2400" b="0" i="0" dirty="0">
                <a:solidFill>
                  <a:srgbClr val="0A0A23"/>
                </a:solidFill>
                <a:effectLst/>
              </a:rPr>
              <a:t>Result=&gt; Reward near cat or electricity, even if it is bigger (more cheese), will be discounted. This is done because of the uncertainty factor.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D0DBAF3-063C-4625-AB84-9C1525AE7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808" y="4314190"/>
            <a:ext cx="3094532" cy="254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3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How to discount reward 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98" y="1161634"/>
            <a:ext cx="10515600" cy="4710846"/>
          </a:xfrm>
        </p:spPr>
        <p:txBody>
          <a:bodyPr>
            <a:norm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We define a discount rate called </a:t>
            </a:r>
            <a:r>
              <a:rPr lang="en-GB" b="1" i="0" dirty="0">
                <a:effectLst/>
                <a:latin typeface="Lato" panose="020F0502020204030203" pitchFamily="34" charset="0"/>
              </a:rPr>
              <a:t>gamma</a:t>
            </a:r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. 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Its value is between 0 and 1. 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The larger the gamma, the smaller the discount and vice versa.</a:t>
            </a:r>
            <a:endParaRPr lang="en-GB" b="0" i="0" dirty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A4BF3-3383-48EE-95F7-53D55AC3D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237" y="2704465"/>
            <a:ext cx="45815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2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Approaches to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32">
                <a:extLst>
                  <a:ext uri="{FF2B5EF4-FFF2-40B4-BE49-F238E27FC236}">
                    <a16:creationId xmlns:a16="http://schemas.microsoft.com/office/drawing/2014/main" id="{465D80DC-0A40-488B-BCED-6C2D2F409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498" y="1161634"/>
                <a:ext cx="10785302" cy="471084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b="0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Policy Based</a:t>
                </a:r>
                <a:endParaRPr lang="en-GB" dirty="0">
                  <a:solidFill>
                    <a:srgbClr val="222222"/>
                  </a:solidFill>
                  <a:latin typeface="Lato" panose="020F0502020204030203" pitchFamily="34" charset="0"/>
                </a:endParaRPr>
              </a:p>
              <a:p>
                <a:r>
                  <a:rPr lang="en-GB" b="0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We set a policy which we optimize</a:t>
                </a:r>
              </a:p>
              <a:p>
                <a:r>
                  <a:rPr lang="en-GB" dirty="0">
                    <a:solidFill>
                      <a:srgbClr val="222222"/>
                    </a:solidFill>
                    <a:latin typeface="Lato" panose="020F0502020204030203" pitchFamily="34" charset="0"/>
                  </a:rPr>
                  <a:t>Policy defines how the agent behaves</a:t>
                </a:r>
                <a:endParaRPr lang="en-GB" b="0" i="0" dirty="0">
                  <a:solidFill>
                    <a:srgbClr val="222222"/>
                  </a:solidFill>
                  <a:effectLst/>
                  <a:latin typeface="Lato" panose="020F050202020403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1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b="1" dirty="0">
                    <a:solidFill>
                      <a:srgbClr val="222222"/>
                    </a:solidFill>
                    <a:latin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GB" b="1" dirty="0">
                  <a:solidFill>
                    <a:srgbClr val="222222"/>
                  </a:solidFill>
                  <a:latin typeface="Lato" panose="020F0502020204030203" pitchFamily="34" charset="0"/>
                </a:endParaRPr>
              </a:p>
              <a:p>
                <a:pPr lvl="1"/>
                <a:r>
                  <a:rPr lang="en-GB" b="0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Where </a:t>
                </a:r>
                <a:r>
                  <a:rPr lang="en-GB" b="1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a</a:t>
                </a:r>
                <a:r>
                  <a:rPr lang="en-GB" b="0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 = actions, </a:t>
                </a:r>
                <a:r>
                  <a:rPr lang="en-GB" b="1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s</a:t>
                </a:r>
                <a:r>
                  <a:rPr lang="en-GB" b="0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 = state,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GB" b="1" i="1" dirty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0" i="0" dirty="0">
                    <a:solidFill>
                      <a:srgbClr val="222222"/>
                    </a:solidFill>
                    <a:effectLst/>
                    <a:latin typeface="Lato" panose="020F0502020204030203" pitchFamily="34" charset="0"/>
                  </a:rPr>
                  <a:t>= policy function</a:t>
                </a:r>
              </a:p>
              <a:p>
                <a:pPr algn="l" fontAlgn="base"/>
                <a:r>
                  <a:rPr lang="en-GB" sz="2400" b="0" i="0" dirty="0">
                    <a:solidFill>
                      <a:srgbClr val="0A0A23"/>
                    </a:solidFill>
                    <a:effectLst/>
                  </a:rPr>
                  <a:t>We learn a policy function which helps in mapping each state to best action.</a:t>
                </a:r>
              </a:p>
              <a:p>
                <a:pPr algn="l" fontAlgn="base"/>
                <a:r>
                  <a:rPr lang="en-GB" sz="2400" b="0" i="0" dirty="0">
                    <a:solidFill>
                      <a:srgbClr val="0A0A23"/>
                    </a:solidFill>
                    <a:effectLst/>
                  </a:rPr>
                  <a:t>Policy types:</a:t>
                </a:r>
              </a:p>
              <a:p>
                <a:pPr algn="l" fontAlgn="base">
                  <a:buFont typeface="Arial" panose="020B0604020202020204" pitchFamily="34" charset="0"/>
                  <a:buChar char="•"/>
                </a:pPr>
                <a:r>
                  <a:rPr lang="en-GB" sz="2400" b="1" i="0" dirty="0">
                    <a:solidFill>
                      <a:srgbClr val="0A0A23"/>
                    </a:solidFill>
                    <a:effectLst/>
                  </a:rPr>
                  <a:t>Deterministic</a:t>
                </a:r>
                <a:r>
                  <a:rPr lang="en-GB" sz="2400" b="0" i="0" dirty="0">
                    <a:solidFill>
                      <a:srgbClr val="0A0A23"/>
                    </a:solidFill>
                    <a:effectLst/>
                  </a:rPr>
                  <a:t>: a policy at a given state(s) will always return the same action(a). </a:t>
                </a:r>
                <a:r>
                  <a:rPr lang="en-GB" sz="2400" b="1" i="0" dirty="0">
                    <a:solidFill>
                      <a:srgbClr val="0A0A23"/>
                    </a:solidFill>
                    <a:effectLst/>
                  </a:rPr>
                  <a:t>It means, it is pre-mapped as S=(s) ➡ A=(a).</a:t>
                </a:r>
                <a:endParaRPr lang="en-GB" sz="2400" b="0" i="0" dirty="0">
                  <a:solidFill>
                    <a:srgbClr val="0A0A23"/>
                  </a:solidFill>
                  <a:effectLst/>
                </a:endParaRPr>
              </a:p>
              <a:p>
                <a:pPr algn="l" fontAlgn="base">
                  <a:buFont typeface="Arial" panose="020B0604020202020204" pitchFamily="34" charset="0"/>
                  <a:buChar char="•"/>
                </a:pPr>
                <a:r>
                  <a:rPr lang="en-GB" sz="2400" b="1" i="0" dirty="0">
                    <a:solidFill>
                      <a:srgbClr val="0A0A23"/>
                    </a:solidFill>
                    <a:effectLst/>
                  </a:rPr>
                  <a:t>Stochastic</a:t>
                </a:r>
                <a:r>
                  <a:rPr lang="en-GB" sz="2400" b="0" i="0" dirty="0">
                    <a:solidFill>
                      <a:srgbClr val="0A0A23"/>
                    </a:solidFill>
                    <a:effectLst/>
                  </a:rPr>
                  <a:t>: It gives a distribution of probability over different actions</a:t>
                </a:r>
                <a:r>
                  <a:rPr lang="en-GB" sz="2400" b="1" i="0" dirty="0">
                    <a:solidFill>
                      <a:srgbClr val="0A0A23"/>
                    </a:solidFill>
                    <a:effectLst/>
                  </a:rPr>
                  <a:t>. </a:t>
                </a:r>
                <a:r>
                  <a:rPr lang="en-GB" sz="2400" b="1" i="0" dirty="0" err="1">
                    <a:solidFill>
                      <a:srgbClr val="0A0A23"/>
                    </a:solidFill>
                    <a:effectLst/>
                  </a:rPr>
                  <a:t>i.e</a:t>
                </a:r>
                <a:r>
                  <a:rPr lang="en-GB" sz="2400" b="1" i="0" dirty="0">
                    <a:solidFill>
                      <a:srgbClr val="0A0A23"/>
                    </a:solidFill>
                    <a:effectLst/>
                  </a:rPr>
                  <a:t> Stochastic Policy ➡ p( A = a | S = s )</a:t>
                </a:r>
                <a:endParaRPr lang="en-GB" sz="2400" b="0" i="0" dirty="0">
                  <a:solidFill>
                    <a:srgbClr val="0A0A23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3" name="Content Placeholder 32">
                <a:extLst>
                  <a:ext uri="{FF2B5EF4-FFF2-40B4-BE49-F238E27FC236}">
                    <a16:creationId xmlns:a16="http://schemas.microsoft.com/office/drawing/2014/main" id="{465D80DC-0A40-488B-BCED-6C2D2F409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498" y="1161634"/>
                <a:ext cx="10785302" cy="4710846"/>
              </a:xfrm>
              <a:blipFill>
                <a:blip r:embed="rId3"/>
                <a:stretch>
                  <a:fillRect l="-1017" t="-3238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505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Approaches to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98" y="1190389"/>
            <a:ext cx="10785302" cy="4710846"/>
          </a:xfrm>
        </p:spPr>
        <p:txBody>
          <a:bodyPr>
            <a:normAutofit fontScale="85000" lnSpcReduction="10000"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Value Based</a:t>
            </a:r>
            <a:endParaRPr lang="en-GB" dirty="0">
              <a:solidFill>
                <a:srgbClr val="222222"/>
              </a:solidFill>
              <a:latin typeface="Lato" panose="020F0502020204030203" pitchFamily="34" charset="0"/>
            </a:endParaRPr>
          </a:p>
          <a:p>
            <a:pPr algn="l" fontAlgn="base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Goal of the agent is to optimize the value function </a:t>
            </a:r>
            <a:r>
              <a:rPr lang="en-GB" b="0" i="1" dirty="0">
                <a:solidFill>
                  <a:srgbClr val="0A0A23"/>
                </a:solidFill>
                <a:effectLst/>
                <a:latin typeface="inherit"/>
              </a:rPr>
              <a:t>V(s)</a:t>
            </a:r>
          </a:p>
          <a:p>
            <a:pPr algn="l" fontAlgn="base"/>
            <a:r>
              <a:rPr lang="en-GB" b="0" i="1" dirty="0">
                <a:solidFill>
                  <a:srgbClr val="0A0A23"/>
                </a:solidFill>
                <a:effectLst/>
                <a:latin typeface="inherit"/>
              </a:rPr>
              <a:t>Value</a:t>
            </a:r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 function tells us maximum expected future reward that the agent shall get at each state.</a:t>
            </a:r>
          </a:p>
          <a:p>
            <a:pPr algn="l" fontAlgn="base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The value of each state is the total amount of the reward an RL agent can expect to collect over the future, from a particular state.</a:t>
            </a:r>
          </a:p>
          <a:p>
            <a:pPr algn="l" fontAlgn="base"/>
            <a:endParaRPr lang="en-GB" dirty="0">
              <a:solidFill>
                <a:srgbClr val="0A0A23"/>
              </a:solidFill>
              <a:latin typeface="Lato" panose="020F0502020204030203" pitchFamily="34" charset="0"/>
            </a:endParaRPr>
          </a:p>
          <a:p>
            <a:pPr algn="l" fontAlgn="base"/>
            <a:endParaRPr lang="en-GB" b="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  <a:p>
            <a:pPr algn="l" fontAlgn="base"/>
            <a:endParaRPr lang="en-GB" b="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  <a:p>
            <a:pPr algn="l" fontAlgn="base"/>
            <a:endParaRPr lang="en-GB" dirty="0">
              <a:solidFill>
                <a:srgbClr val="0A0A23"/>
              </a:solidFill>
              <a:latin typeface="Lato" panose="020F0502020204030203" pitchFamily="34" charset="0"/>
            </a:endParaRPr>
          </a:p>
          <a:p>
            <a:pPr algn="l" fontAlgn="base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The agent will use the above value function to select which state to choose at each step. The agent will always take the state with the biggest value.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103D7F5-4179-4A37-84D5-B4B48FA51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3545812"/>
            <a:ext cx="6591300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093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Policy Based Example (Pong)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000047" cy="5236846"/>
          </a:xfrm>
        </p:spPr>
        <p:txBody>
          <a:bodyPr>
            <a:norm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Feed game frames (new states) to the RL algo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Let algorithm decide where to go up or down. 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This network is said to be a </a:t>
            </a:r>
            <a:r>
              <a:rPr lang="en-GB" b="1" i="0" dirty="0">
                <a:effectLst/>
                <a:latin typeface="Lato" panose="020F0502020204030203" pitchFamily="34" charset="0"/>
              </a:rPr>
              <a:t>policy network</a:t>
            </a:r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Method used for training </a:t>
            </a:r>
          </a:p>
          <a:p>
            <a:pPr lvl="1"/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Policy Gradient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Feed images to algorithm</a:t>
            </a:r>
          </a:p>
          <a:p>
            <a:pPr lvl="1"/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Algorithm generates random output</a:t>
            </a:r>
          </a:p>
          <a:p>
            <a:pPr lvl="1"/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Reward assigned to output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Fed back to algorithm</a:t>
            </a:r>
          </a:p>
          <a:p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Score board acts as reward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+1 score means action taken was good at that state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4194E82-3572-43EE-9415-4CCFA16728B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450" y="0"/>
            <a:ext cx="363855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49A66515-05AB-4654-9F89-63598655F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551" y="2505205"/>
            <a:ext cx="5101449" cy="286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96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Policy Based Example (Pong)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000047" cy="5236846"/>
          </a:xfrm>
        </p:spPr>
        <p:txBody>
          <a:bodyPr>
            <a:norm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Let’s train the agent to play the pong game. 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At start, feed in a bunch of game frame </a:t>
            </a:r>
            <a:r>
              <a:rPr lang="en-GB" b="1" i="0" dirty="0">
                <a:effectLst/>
                <a:latin typeface="Lato" panose="020F0502020204030203" pitchFamily="34" charset="0"/>
              </a:rPr>
              <a:t>(states)</a:t>
            </a:r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to algo and let it take random actions.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Initial actions will be bad, but agent might get lucky and win a point.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Due to this lucky random event, it receives a reward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Agent understands that performed series of actions were good enough to fetch a reward.</a:t>
            </a:r>
          </a:p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So, in the future, agent is likely to take the actions which will fetch a reward over an action which will not.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A9204-CD23-430C-A035-69DAF9583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190" y="4826694"/>
            <a:ext cx="491490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12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Limitations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During training, when an agent loses an episode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It will discard or lower the </a:t>
            </a:r>
            <a:r>
              <a:rPr lang="en-GB" b="0" i="0" dirty="0" err="1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likelyhood</a:t>
            </a:r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 of taking series of actions in that episode.</a:t>
            </a:r>
          </a:p>
          <a:p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What if agent was performing well and made a mistake in last 2 steps?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Should we discard all actions ?</a:t>
            </a:r>
          </a:p>
          <a:p>
            <a:pPr lvl="1"/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We should remove only last two steps.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This is called credit assignment problem.</a:t>
            </a:r>
          </a:p>
          <a:p>
            <a:pPr lvl="2"/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Instead of getting reward at each step, agent gets reward at the end</a:t>
            </a:r>
          </a:p>
          <a:p>
            <a:pPr lvl="2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Because of this sparse reward setting algorithm is sample inefficient</a:t>
            </a:r>
          </a:p>
          <a:p>
            <a:pPr lvl="3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Large amount of training data is required</a:t>
            </a:r>
          </a:p>
          <a:p>
            <a:pPr lvl="2"/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Use reward shaping to solve this problem</a:t>
            </a:r>
            <a:endParaRPr lang="en-GB" b="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11859BB-2069-4F91-9A60-95F5D11C8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80" y="4905029"/>
            <a:ext cx="49149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297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Comparison (ML, DL and RL)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There is no clear divide between machine learning, deep learning and reinforcement learning.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Machine learning is the broadest category and the deep reinforcement learning the most narrow one.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In the same way, RL is a specialized application of ML and DL</a:t>
            </a:r>
            <a:endParaRPr lang="en-GB" b="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167DC-132F-430C-945F-7FE33BB1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164726"/>
            <a:ext cx="4604014" cy="345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7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Applications of RL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Robotics for industrial automation.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Business strategy planning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Machine learning and data processing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Aircraft control and robot motion control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Creating training systems that provide custom instruction and materials according to the requirement of students.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495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Why use RL?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It helps you to find which situation needs an 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Helps you to discover which action yields the highest reward over the longer period.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Reinforcement Learning also provides the learning agent with a reward function.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It also allows it to figure out the best method for obtaining large rewards.</a:t>
            </a:r>
          </a:p>
        </p:txBody>
      </p:sp>
    </p:spTree>
    <p:extLst>
      <p:ext uri="{BB962C8B-B14F-4D97-AF65-F5344CB8AC3E}">
        <p14:creationId xmlns:p14="http://schemas.microsoft.com/office/powerpoint/2010/main" val="102424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Why not use RL?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When you have enough data to solve the problem with a supervised learning method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You need to remember that Reinforcement Learning is computing-heavy and time-consuming, in particular when the action space is large.</a:t>
            </a:r>
          </a:p>
        </p:txBody>
      </p:sp>
    </p:spTree>
    <p:extLst>
      <p:ext uri="{BB962C8B-B14F-4D97-AF65-F5344CB8AC3E}">
        <p14:creationId xmlns:p14="http://schemas.microsoft.com/office/powerpoint/2010/main" val="1285871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/>
          <a:lstStyle/>
          <a:p>
            <a:r>
              <a:rPr lang="en-US" dirty="0"/>
              <a:t>Challenges related to RL?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Feature/reward design which should be very involved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Parameters may affect the speed of learning.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Realistic environments can have partial observability.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Too much Reinforcement may lead to an overload of states which can diminish the results.</a:t>
            </a:r>
          </a:p>
          <a:p>
            <a:endParaRPr lang="en-GB" b="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12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 and Deep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Remember, Neural networks are function approximators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22222"/>
                </a:solidFill>
                <a:latin typeface="Source Sans Pro" panose="020B0503030403020204" pitchFamily="34" charset="0"/>
              </a:rPr>
              <a:t>Therefore, NN</a:t>
            </a: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are useful in RL when state or action space is too large to be completely known.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22222"/>
                </a:solidFill>
                <a:latin typeface="Source Sans Pro" panose="020B0503030403020204" pitchFamily="34" charset="0"/>
              </a:rPr>
              <a:t>NN</a:t>
            </a: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can approximate a value function, or a policy function.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NN can learn to map states to values, or state-action pairs to values.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Instead of impossible task of building a lookup table to store, index and update all possible states and their values</a:t>
            </a:r>
          </a:p>
          <a:p>
            <a:pPr lvl="1"/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NN can train on samples from the state or action space to learn to predict how valuable those are relative to our target in reinforcement learning.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NN coefficients approximate the function relating inputs to outputs</a:t>
            </a:r>
            <a:r>
              <a:rPr lang="en-GB" dirty="0">
                <a:solidFill>
                  <a:srgbClr val="0A0A23"/>
                </a:solidFill>
                <a:latin typeface="Lato" panose="020F0502020204030203" pitchFamily="34" charset="0"/>
              </a:rPr>
              <a:t> and reduce error or increase reward </a:t>
            </a:r>
            <a:endParaRPr lang="en-GB" b="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339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 and Deep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 RL, CNNs can be used to recognize an agent’s state when the input is visual; e.g. the screen that Mario is on, or the terrain before a drone. That is, they perform their typical task of image recognition.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Generally, CNNs derive different interpretations from images as compared to those in RL. </a:t>
            </a:r>
          </a:p>
          <a:p>
            <a:pPr lvl="1"/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 supervised CNNs, network applies a label to each image; i.e., it matches names to pixels.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CNNs will provide labels that best fit the image in terms of their probabilities.</a:t>
            </a:r>
          </a:p>
          <a:p>
            <a:pPr lvl="1"/>
            <a:r>
              <a:rPr lang="en-GB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Shown an image of a donkey, it might decide the picture is 80% likely to be a donkey, 50% likely to be a horse, and 30% likely to be a dog.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A0A23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 RL, given an image that represents a state, a CNN ranks actions possible to perform in that state; for example, it might predict that running right will return 5 points, jumping 7, and running left none.</a:t>
            </a:r>
          </a:p>
        </p:txBody>
      </p:sp>
    </p:spTree>
    <p:extLst>
      <p:ext uri="{BB962C8B-B14F-4D97-AF65-F5344CB8AC3E}">
        <p14:creationId xmlns:p14="http://schemas.microsoft.com/office/powerpoint/2010/main" val="2875836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 and Deep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6" name="Picture 2" descr="convolutional classifier">
            <a:extLst>
              <a:ext uri="{FF2B5EF4-FFF2-40B4-BE49-F238E27FC236}">
                <a16:creationId xmlns:a16="http://schemas.microsoft.com/office/drawing/2014/main" id="{F2E53FB2-41DD-49F6-A564-7879C7CF2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16" y="1176338"/>
            <a:ext cx="5371407" cy="332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nvolutional agent">
            <a:extLst>
              <a:ext uri="{FF2B5EF4-FFF2-40B4-BE49-F238E27FC236}">
                <a16:creationId xmlns:a16="http://schemas.microsoft.com/office/drawing/2014/main" id="{56572745-FF0C-4F77-A035-6D8267E5E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623" y="1176338"/>
            <a:ext cx="58769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581412-4F6C-475C-AF4E-E34FC0CF3F3C}"/>
              </a:ext>
            </a:extLst>
          </p:cNvPr>
          <p:cNvSpPr txBox="1"/>
          <p:nvPr/>
        </p:nvSpPr>
        <p:spPr>
          <a:xfrm>
            <a:off x="546216" y="4765040"/>
            <a:ext cx="107377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 right image illustrates what a policy agent does, mapping a state to the best action.</a:t>
            </a:r>
          </a:p>
          <a:p>
            <a:r>
              <a:rPr lang="en-GB" dirty="0"/>
              <a:t>A policy maps a state to an action.</a:t>
            </a:r>
          </a:p>
          <a:p>
            <a:r>
              <a:rPr lang="en-GB" dirty="0"/>
              <a:t>Q maps state action pairs to rewards.</a:t>
            </a:r>
          </a:p>
          <a:p>
            <a:r>
              <a:rPr lang="en-GB" dirty="0"/>
              <a:t>Q maps state-action pairs to the highest combination of immediate reward with all future rewards that might be </a:t>
            </a:r>
          </a:p>
          <a:p>
            <a:r>
              <a:rPr lang="en-GB" dirty="0"/>
              <a:t>harvested by later actions in the trajectory.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32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 and Deep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Having assigned values to the expected rewards, the Q function simply selects the state-action pair with the highest so-called Q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A0A23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At beginning of RL, the NN coefficients may be initialized stochastically, or randomly.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A0A23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Next, NN can use difference between its expected reward and the ground-truth reward to adjust its weights and improve its interpretation of state-action pairs.</a:t>
            </a:r>
          </a:p>
        </p:txBody>
      </p:sp>
      <p:pic>
        <p:nvPicPr>
          <p:cNvPr id="2050" name="Picture 2" descr="q learning equation">
            <a:extLst>
              <a:ext uri="{FF2B5EF4-FFF2-40B4-BE49-F238E27FC236}">
                <a16:creationId xmlns:a16="http://schemas.microsoft.com/office/drawing/2014/main" id="{7609FE61-A749-49A1-B24C-9F5BC0C48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943" y="1095492"/>
            <a:ext cx="9263266" cy="135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523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 and Deep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 supervised learning, knowledge of the ground-truth and predicted labels push towards the goal of creating a model that maps different images to their respective names.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RL relies on the environment to send it a scalar number in response to each new action.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Rewards returned by the environment can be varied, delayed or affected by unknown variables, introducing noise to the feedback loop.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This leads us to a more complete expression of the Q function, which takes into account not only the immediate rewards produced by an action, but also the delayed rewards that may be returned several time steps deeper in the sequence.</a:t>
            </a:r>
            <a:endParaRPr lang="en-GB" b="0" i="0" dirty="0">
              <a:solidFill>
                <a:srgbClr val="0A0A2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50" name="Picture 2" descr="q learning equation">
            <a:extLst>
              <a:ext uri="{FF2B5EF4-FFF2-40B4-BE49-F238E27FC236}">
                <a16:creationId xmlns:a16="http://schemas.microsoft.com/office/drawing/2014/main" id="{7609FE61-A749-49A1-B24C-9F5BC0C48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943" y="1095492"/>
            <a:ext cx="9263266" cy="135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833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 and Deep Reinforcement Learning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Like human beings, the Q function is recursive.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Just as calling the method human() contains within it another method human(), of which we are all the fruit, calling the Q function on a given state-action pair requires us to call a nested Q function to predict the value of the next state, which in turn depends on the Q function of the state after that, and so forth.</a:t>
            </a:r>
            <a:endParaRPr lang="en-GB" b="0" i="0" dirty="0">
              <a:solidFill>
                <a:srgbClr val="0A0A23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50" name="Picture 2" descr="q learning equation">
            <a:extLst>
              <a:ext uri="{FF2B5EF4-FFF2-40B4-BE49-F238E27FC236}">
                <a16:creationId xmlns:a16="http://schemas.microsoft.com/office/drawing/2014/main" id="{7609FE61-A749-49A1-B24C-9F5BC0C48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943" y="1095492"/>
            <a:ext cx="9263266" cy="135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819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/>
          </a:bodyPr>
          <a:lstStyle/>
          <a:p>
            <a:r>
              <a:rPr lang="en-US" dirty="0"/>
              <a:t>Summary of Terms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777" y="1067739"/>
            <a:ext cx="11416607" cy="5236846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Agent():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An entity that can perceive/explore the environment and act upon 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Environment():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A situation in which an agent is present or surrounded by. In RL, we assume the stochastic environment, which means it is random in nature.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Action():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Actions are the moves taken by an agent within the environment.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State():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State is a situation returned by the environment after each action taken by the agent.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Reward():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A feedback returned to the agent from the environment to evaluate the action of the agent.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Policy():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Policy is a strategy applied by the agent for the next action based on the current state.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Value():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It is expected long-term retuned with the discount factor and opposite to the short-term reward.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Q-value():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 It is mostly similar to the value, but it takes one additional parameter as a current action (a).</a:t>
            </a:r>
          </a:p>
        </p:txBody>
      </p:sp>
    </p:spTree>
    <p:extLst>
      <p:ext uri="{BB962C8B-B14F-4D97-AF65-F5344CB8AC3E}">
        <p14:creationId xmlns:p14="http://schemas.microsoft.com/office/powerpoint/2010/main" val="2026212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/>
          </a:bodyPr>
          <a:lstStyle/>
          <a:p>
            <a:r>
              <a:rPr lang="en-US" dirty="0"/>
              <a:t>The Bellman Equation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Is associated with dynamic programming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00"/>
                </a:solidFill>
                <a:latin typeface="inter-bold"/>
              </a:rPr>
              <a:t>Used to calculate values of a decision problem at a certain point by including values of previous states.</a:t>
            </a:r>
          </a:p>
          <a:p>
            <a:pPr lvl="1" algn="just"/>
            <a:r>
              <a:rPr lang="pt-BR" b="0" i="0" dirty="0">
                <a:solidFill>
                  <a:srgbClr val="000000"/>
                </a:solidFill>
                <a:effectLst/>
                <a:latin typeface="inter-regular"/>
              </a:rPr>
              <a:t>V(s) = max [R(s,a) + γV(s`)] 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latin typeface="inter-bold"/>
              </a:rPr>
              <a:t>Where</a:t>
            </a: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V(s)= value calculated at a particular point.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R(</a:t>
            </a:r>
            <a:r>
              <a:rPr lang="en-GB" b="1" i="0" dirty="0" err="1">
                <a:solidFill>
                  <a:srgbClr val="333333"/>
                </a:solidFill>
                <a:effectLst/>
                <a:latin typeface="inter-bold"/>
              </a:rPr>
              <a:t>s,a</a:t>
            </a: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) = Reward at a particular state s by performing an action.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γ = Discount factor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V(s`) = The value at the previous state.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lvl="1"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In the above equation, we are taking the max of the complete values because the agent tries to find the optimal solution always.</a:t>
            </a:r>
            <a:endParaRPr lang="en-GB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8087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/>
          </a:bodyPr>
          <a:lstStyle/>
          <a:p>
            <a:r>
              <a:rPr lang="en-US" dirty="0"/>
              <a:t>The Bellman Equation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107498"/>
            <a:ext cx="11416607" cy="5236846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Agent is at very first block of the maze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Maze consisting of a wall at S6 block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Fire pit at S8 a fire pit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inter-regular"/>
              </a:rPr>
              <a:t>Diamond (reward)</a:t>
            </a: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 at S4 block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Agent cannot cross S6 block, as it is solid wall.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If the agent reaches the S4 block, then get the +1 reward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If it reaches the fire pit, then gets -1 reward point.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inter-regular"/>
              </a:rPr>
              <a:t>It can take four actions: move up, move down, move left, and move right.</a:t>
            </a:r>
          </a:p>
        </p:txBody>
      </p:sp>
      <p:pic>
        <p:nvPicPr>
          <p:cNvPr id="3074" name="Picture 2" descr="How does Reinforcement Learning Works">
            <a:extLst>
              <a:ext uri="{FF2B5EF4-FFF2-40B4-BE49-F238E27FC236}">
                <a16:creationId xmlns:a16="http://schemas.microsoft.com/office/drawing/2014/main" id="{D25611FD-B09B-4F99-948E-CC00ECBF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-96332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661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/>
          </a:bodyPr>
          <a:lstStyle/>
          <a:p>
            <a:r>
              <a:rPr lang="en-US" dirty="0"/>
              <a:t>The Bellman Equation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302066"/>
            <a:ext cx="11416607" cy="5236846"/>
          </a:xfrm>
        </p:spPr>
        <p:txBody>
          <a:bodyPr>
            <a:normAutofit/>
          </a:bodyPr>
          <a:lstStyle/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For 1st block: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V(s3) = max [R(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s,a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) +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γV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(s`)], here V(s')= 0 because there is no further state to move.</a:t>
            </a: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V(s3)= max[R(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s,a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)]=&gt; V(s3)= max[1]=&gt; </a:t>
            </a: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V(s3)= 1.</a:t>
            </a:r>
          </a:p>
          <a:p>
            <a:pPr algn="just"/>
            <a:endParaRPr lang="en-GB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For 2nd block: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V(s2) = max [R(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s,a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) +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γV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(s`)], here γ= 0.9(lets), V(s')= 1, and R(s, a)= 0, because there is no reward at this state.</a:t>
            </a: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V(s2)= max[0.9(1)]=&gt; V(s)= max[0.9]=&gt; </a:t>
            </a: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V(s2) =0.9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3074" name="Picture 2" descr="How does Reinforcement Learning Works">
            <a:extLst>
              <a:ext uri="{FF2B5EF4-FFF2-40B4-BE49-F238E27FC236}">
                <a16:creationId xmlns:a16="http://schemas.microsoft.com/office/drawing/2014/main" id="{D25611FD-B09B-4F99-948E-CC00ECBF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-158057"/>
            <a:ext cx="2743200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281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/>
          </a:bodyPr>
          <a:lstStyle/>
          <a:p>
            <a:r>
              <a:rPr lang="en-US" dirty="0"/>
              <a:t>The Bellman Equation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302066"/>
            <a:ext cx="11416607" cy="5236846"/>
          </a:xfrm>
        </p:spPr>
        <p:txBody>
          <a:bodyPr>
            <a:normAutofit/>
          </a:bodyPr>
          <a:lstStyle/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For 3rd block: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V(s1) = max [R(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s,a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) +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γV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(s`)], here γ= 0.9(lets), V(s')= 0.9, and R(s, a)= 0, because there is no reward at this state also.</a:t>
            </a: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V(s1)= max[0.9(0.9)]=&gt; V(s3)= max[0.81]=&gt; </a:t>
            </a: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V(s1) =0.81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GB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For 4th block: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V(s5) = max [R(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s,a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) +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γV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(s`)], here γ= 0.9(lets), V(s')= 0.81, and R(s, a)= 0, because there is no reward at this state also.</a:t>
            </a: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V(s5)= max[0.9(0.81)]=&gt; V(s5)= max[0.81]=&gt; </a:t>
            </a: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V(s5) =0.73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3074" name="Picture 2" descr="How does Reinforcement Learning Works">
            <a:extLst>
              <a:ext uri="{FF2B5EF4-FFF2-40B4-BE49-F238E27FC236}">
                <a16:creationId xmlns:a16="http://schemas.microsoft.com/office/drawing/2014/main" id="{D25611FD-B09B-4F99-948E-CC00ECBF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-158057"/>
            <a:ext cx="2743200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927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/>
          </a:bodyPr>
          <a:lstStyle/>
          <a:p>
            <a:r>
              <a:rPr lang="en-US" dirty="0"/>
              <a:t>The Bellman Equation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29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981" y="1302066"/>
            <a:ext cx="11416607" cy="5236846"/>
          </a:xfrm>
        </p:spPr>
        <p:txBody>
          <a:bodyPr>
            <a:normAutofit/>
          </a:bodyPr>
          <a:lstStyle/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For 5th block: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V(s9) = max [R(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s,a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) +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inter-regular"/>
              </a:rPr>
              <a:t>γV</a:t>
            </a:r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(s`)], here γ= 0.9(lets), V(s')= 0.73, and R(s, a)= 0, because there is no reward at this state also.</a:t>
            </a: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V(s9)= max[0.9(0.73)]=&gt; V(s4)= max[0.81]=&gt; </a:t>
            </a:r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V(s4) =0.66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GB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Block next to fire pit:</a:t>
            </a:r>
          </a:p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Agent has three options to move; </a:t>
            </a:r>
          </a:p>
          <a:p>
            <a:pPr lvl="1"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Move to S6, hits wall</a:t>
            </a:r>
          </a:p>
          <a:p>
            <a:pPr lvl="1"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Moves to the fire pit, reward -1 reward (Negative)</a:t>
            </a:r>
          </a:p>
          <a:p>
            <a:pPr lvl="1"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Move upwards </a:t>
            </a:r>
          </a:p>
          <a:p>
            <a:pPr lvl="2" algn="just"/>
            <a:r>
              <a:rPr lang="en-GB" b="0" i="0" dirty="0">
                <a:solidFill>
                  <a:srgbClr val="333333"/>
                </a:solidFill>
                <a:effectLst/>
                <a:latin typeface="inter-regular"/>
              </a:rPr>
              <a:t>Only option Move upwards</a:t>
            </a:r>
          </a:p>
          <a:p>
            <a:pPr algn="just"/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3074" name="Picture 2" descr="How does Reinforcement Learning Works">
            <a:extLst>
              <a:ext uri="{FF2B5EF4-FFF2-40B4-BE49-F238E27FC236}">
                <a16:creationId xmlns:a16="http://schemas.microsoft.com/office/drawing/2014/main" id="{D25611FD-B09B-4F99-948E-CC00ECBF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-158057"/>
            <a:ext cx="2743200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ellman Equation">
            <a:extLst>
              <a:ext uri="{FF2B5EF4-FFF2-40B4-BE49-F238E27FC236}">
                <a16:creationId xmlns:a16="http://schemas.microsoft.com/office/drawing/2014/main" id="{3F0EAEC3-FE71-4CEE-B48E-8FFD9EA72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193" y="3229996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751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710D-C626-4B1C-8D0A-9C3E0E7D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73" y="168275"/>
            <a:ext cx="11291454" cy="770948"/>
          </a:xfrm>
        </p:spPr>
        <p:txBody>
          <a:bodyPr>
            <a:normAutofit/>
          </a:bodyPr>
          <a:lstStyle/>
          <a:p>
            <a:r>
              <a:rPr lang="en-US" dirty="0"/>
              <a:t>The Bellman Equation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DA6C-F4D5-4F42-9571-90DD21D0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5091" y="6319838"/>
            <a:ext cx="5246254" cy="3651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College of Computer Science and Engineering </a:t>
            </a:r>
          </a:p>
          <a:p>
            <a:r>
              <a:rPr lang="en-GB" dirty="0">
                <a:solidFill>
                  <a:schemeClr val="tx1"/>
                </a:solidFill>
              </a:rPr>
              <a:t>University of Jeddah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9E97D-6DFF-4A07-BC12-DF5244B1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>
                <a:solidFill>
                  <a:schemeClr val="tx1"/>
                </a:solidFill>
              </a:rPr>
              <a:t>30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E986AB69-7627-4D92-8547-7B8AD32D9B5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86AD5D9-7E52-44BC-8503-52C80A722C6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465D80DC-0A40-488B-BCED-6C2D2F40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73" y="1302066"/>
            <a:ext cx="11416607" cy="5236846"/>
          </a:xfrm>
        </p:spPr>
        <p:txBody>
          <a:bodyPr>
            <a:normAutofit/>
          </a:bodyPr>
          <a:lstStyle/>
          <a:p>
            <a:pPr algn="just"/>
            <a:endParaRPr lang="en-GB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algn="just"/>
            <a:r>
              <a:rPr lang="en-GB" b="1" i="0" dirty="0">
                <a:solidFill>
                  <a:srgbClr val="333333"/>
                </a:solidFill>
                <a:effectLst/>
                <a:latin typeface="inter-bold"/>
              </a:rPr>
              <a:t>After all calculations</a:t>
            </a:r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GB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5122" name="Picture 2" descr="Bellman Equation">
            <a:extLst>
              <a:ext uri="{FF2B5EF4-FFF2-40B4-BE49-F238E27FC236}">
                <a16:creationId xmlns:a16="http://schemas.microsoft.com/office/drawing/2014/main" id="{9388D237-F94B-4848-90F9-F9D973470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030" y="1391920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41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11220</TotalTime>
  <Words>3029</Words>
  <Application>Microsoft Office PowerPoint</Application>
  <PresentationFormat>Widescreen</PresentationFormat>
  <Paragraphs>387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inherit</vt:lpstr>
      <vt:lpstr>inter-bold</vt:lpstr>
      <vt:lpstr>inter-regular</vt:lpstr>
      <vt:lpstr>Arial</vt:lpstr>
      <vt:lpstr>Calibri</vt:lpstr>
      <vt:lpstr>Calibri Light</vt:lpstr>
      <vt:lpstr>Cambria Math</vt:lpstr>
      <vt:lpstr>lato</vt:lpstr>
      <vt:lpstr>lato</vt:lpstr>
      <vt:lpstr>Source Sans Pro</vt:lpstr>
      <vt:lpstr>Office Theme</vt:lpstr>
      <vt:lpstr>Contents</vt:lpstr>
      <vt:lpstr>Reinforcement Learning</vt:lpstr>
      <vt:lpstr>Reinforcement Learning</vt:lpstr>
      <vt:lpstr>Learning to play Mario brothers</vt:lpstr>
      <vt:lpstr>Reward Maximization</vt:lpstr>
      <vt:lpstr>Example </vt:lpstr>
      <vt:lpstr>How to discount reward ?</vt:lpstr>
      <vt:lpstr>Approaches to Reinforcement Learning</vt:lpstr>
      <vt:lpstr>Approaches to Reinforcement Learning</vt:lpstr>
      <vt:lpstr>Policy Based Example (Pong)</vt:lpstr>
      <vt:lpstr>Policy Based Example (Pong)</vt:lpstr>
      <vt:lpstr>Limitations</vt:lpstr>
      <vt:lpstr>Comparison (ML, DL and RL)</vt:lpstr>
      <vt:lpstr>Applications of RL</vt:lpstr>
      <vt:lpstr>Why use RL?</vt:lpstr>
      <vt:lpstr>Why not use RL?</vt:lpstr>
      <vt:lpstr>Challenges related to RL?</vt:lpstr>
      <vt:lpstr>Neural Networks and Deep Reinforcement Learning</vt:lpstr>
      <vt:lpstr>Neural Networks and Deep Reinforcement Learning</vt:lpstr>
      <vt:lpstr>Neural Networks and Deep Reinforcement Learning</vt:lpstr>
      <vt:lpstr>Neural Networks and Deep Reinforcement Learning</vt:lpstr>
      <vt:lpstr>Neural Networks and Deep Reinforcement Learning</vt:lpstr>
      <vt:lpstr>Neural Networks and Deep Reinforcement Learning</vt:lpstr>
      <vt:lpstr>Summary of Terms</vt:lpstr>
      <vt:lpstr>The Bellman Equation</vt:lpstr>
      <vt:lpstr>The Bellman Equation</vt:lpstr>
      <vt:lpstr>The Bellman Equation</vt:lpstr>
      <vt:lpstr>The Bellman Equation</vt:lpstr>
      <vt:lpstr>The Bellman Equation</vt:lpstr>
      <vt:lpstr>The Bellman Equation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CCAI 321  Artificial Neural Networks  Week 1</dc:title>
  <dc:creator>Muhammad khan</dc:creator>
  <cp:lastModifiedBy>OTHMAN SAED MOHAMAD SAED</cp:lastModifiedBy>
  <cp:revision>659</cp:revision>
  <dcterms:created xsi:type="dcterms:W3CDTF">2021-01-14T12:18:11Z</dcterms:created>
  <dcterms:modified xsi:type="dcterms:W3CDTF">2026-04-20T04:19:08Z</dcterms:modified>
</cp:coreProperties>
</file>