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641" r:id="rId21"/>
    <p:sldId id="670" r:id="rId22"/>
    <p:sldId id="671" r:id="rId23"/>
    <p:sldId id="275" r:id="rId24"/>
    <p:sldId id="276" r:id="rId25"/>
    <p:sldId id="277" r:id="rId26"/>
    <p:sldId id="278" r:id="rId27"/>
    <p:sldId id="279" r:id="rId28"/>
    <p:sldId id="668" r:id="rId29"/>
    <p:sldId id="669" r:id="rId30"/>
    <p:sldId id="672" r:id="rId31"/>
    <p:sldId id="673" r:id="rId32"/>
    <p:sldId id="674" r:id="rId33"/>
    <p:sldId id="675" r:id="rId34"/>
    <p:sldId id="67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5706" autoAdjust="0"/>
  </p:normalViewPr>
  <p:slideViewPr>
    <p:cSldViewPr snapToGrid="0">
      <p:cViewPr>
        <p:scale>
          <a:sx n="75" d="100"/>
          <a:sy n="75" d="100"/>
        </p:scale>
        <p:origin x="97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THMAN SAED MOHAMAD SAED" userId="74efeeda-7467-4fe6-944b-2051fe18268d" providerId="ADAL" clId="{6FC4511E-9904-49B6-9AD9-C6C10670FDF8}"/>
    <pc:docChg chg="modSld sldOrd">
      <pc:chgData name="OTHMAN SAED MOHAMAD SAED" userId="74efeeda-7467-4fe6-944b-2051fe18268d" providerId="ADAL" clId="{6FC4511E-9904-49B6-9AD9-C6C10670FDF8}" dt="2026-04-25T15:17:39.209" v="6"/>
      <pc:docMkLst>
        <pc:docMk/>
      </pc:docMkLst>
      <pc:sldChg chg="modSp mod">
        <pc:chgData name="OTHMAN SAED MOHAMAD SAED" userId="74efeeda-7467-4fe6-944b-2051fe18268d" providerId="ADAL" clId="{6FC4511E-9904-49B6-9AD9-C6C10670FDF8}" dt="2026-04-25T14:31:34.987" v="0" actId="1076"/>
        <pc:sldMkLst>
          <pc:docMk/>
          <pc:sldMk cId="109839399" sldId="258"/>
        </pc:sldMkLst>
        <pc:picChg chg="mod">
          <ac:chgData name="OTHMAN SAED MOHAMAD SAED" userId="74efeeda-7467-4fe6-944b-2051fe18268d" providerId="ADAL" clId="{6FC4511E-9904-49B6-9AD9-C6C10670FDF8}" dt="2026-04-25T14:31:34.987" v="0" actId="1076"/>
          <ac:picMkLst>
            <pc:docMk/>
            <pc:sldMk cId="109839399" sldId="258"/>
            <ac:picMk id="5" creationId="{74027175-552E-504D-2399-FA4AAE91FAE6}"/>
          </ac:picMkLst>
        </pc:picChg>
      </pc:sldChg>
      <pc:sldChg chg="ord">
        <pc:chgData name="OTHMAN SAED MOHAMAD SAED" userId="74efeeda-7467-4fe6-944b-2051fe18268d" providerId="ADAL" clId="{6FC4511E-9904-49B6-9AD9-C6C10670FDF8}" dt="2026-04-25T15:14:14.947" v="2"/>
        <pc:sldMkLst>
          <pc:docMk/>
          <pc:sldMk cId="1595214168" sldId="275"/>
        </pc:sldMkLst>
      </pc:sldChg>
      <pc:sldChg chg="ord">
        <pc:chgData name="OTHMAN SAED MOHAMAD SAED" userId="74efeeda-7467-4fe6-944b-2051fe18268d" providerId="ADAL" clId="{6FC4511E-9904-49B6-9AD9-C6C10670FDF8}" dt="2026-04-25T15:14:14.947" v="2"/>
        <pc:sldMkLst>
          <pc:docMk/>
          <pc:sldMk cId="1943698464" sldId="276"/>
        </pc:sldMkLst>
      </pc:sldChg>
      <pc:sldChg chg="ord">
        <pc:chgData name="OTHMAN SAED MOHAMAD SAED" userId="74efeeda-7467-4fe6-944b-2051fe18268d" providerId="ADAL" clId="{6FC4511E-9904-49B6-9AD9-C6C10670FDF8}" dt="2026-04-25T15:14:14.947" v="2"/>
        <pc:sldMkLst>
          <pc:docMk/>
          <pc:sldMk cId="242552867" sldId="277"/>
        </pc:sldMkLst>
      </pc:sldChg>
      <pc:sldChg chg="ord">
        <pc:chgData name="OTHMAN SAED MOHAMAD SAED" userId="74efeeda-7467-4fe6-944b-2051fe18268d" providerId="ADAL" clId="{6FC4511E-9904-49B6-9AD9-C6C10670FDF8}" dt="2026-04-25T15:14:14.947" v="2"/>
        <pc:sldMkLst>
          <pc:docMk/>
          <pc:sldMk cId="125363715" sldId="278"/>
        </pc:sldMkLst>
      </pc:sldChg>
      <pc:sldChg chg="ord">
        <pc:chgData name="OTHMAN SAED MOHAMAD SAED" userId="74efeeda-7467-4fe6-944b-2051fe18268d" providerId="ADAL" clId="{6FC4511E-9904-49B6-9AD9-C6C10670FDF8}" dt="2026-04-25T15:14:14.947" v="2"/>
        <pc:sldMkLst>
          <pc:docMk/>
          <pc:sldMk cId="4178701896" sldId="279"/>
        </pc:sldMkLst>
      </pc:sldChg>
      <pc:sldChg chg="ord">
        <pc:chgData name="OTHMAN SAED MOHAMAD SAED" userId="74efeeda-7467-4fe6-944b-2051fe18268d" providerId="ADAL" clId="{6FC4511E-9904-49B6-9AD9-C6C10670FDF8}" dt="2026-04-25T15:17:39.209" v="6"/>
        <pc:sldMkLst>
          <pc:docMk/>
          <pc:sldMk cId="950120269" sldId="670"/>
        </pc:sldMkLst>
      </pc:sldChg>
      <pc:sldChg chg="ord">
        <pc:chgData name="OTHMAN SAED MOHAMAD SAED" userId="74efeeda-7467-4fe6-944b-2051fe18268d" providerId="ADAL" clId="{6FC4511E-9904-49B6-9AD9-C6C10670FDF8}" dt="2026-04-25T15:17:39.209" v="6"/>
        <pc:sldMkLst>
          <pc:docMk/>
          <pc:sldMk cId="286959263" sldId="6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D5D90-1300-449F-94C8-E946D6DAB541}"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875E2B-1C79-4A64-A927-0D5EA61E0893}" type="slidenum">
              <a:rPr lang="en-US" smtClean="0"/>
              <a:t>‹#›</a:t>
            </a:fld>
            <a:endParaRPr lang="en-US"/>
          </a:p>
        </p:txBody>
      </p:sp>
    </p:spTree>
    <p:extLst>
      <p:ext uri="{BB962C8B-B14F-4D97-AF65-F5344CB8AC3E}">
        <p14:creationId xmlns:p14="http://schemas.microsoft.com/office/powerpoint/2010/main" val="400086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French computer scientist Dr. Yann </a:t>
            </a:r>
            <a:r>
              <a:rPr lang="en-US" sz="1200" b="0" i="0" kern="1200" dirty="0" err="1">
                <a:solidFill>
                  <a:schemeClr val="tx1"/>
                </a:solidFill>
                <a:effectLst/>
                <a:latin typeface="+mn-lt"/>
                <a:ea typeface="+mn-ea"/>
                <a:cs typeface="+mn-cs"/>
              </a:rPr>
              <a:t>Lecun</a:t>
            </a:r>
            <a:r>
              <a:rPr lang="en-US" sz="1200" b="0" i="0" kern="1200" dirty="0">
                <a:solidFill>
                  <a:schemeClr val="tx1"/>
                </a:solidFill>
                <a:effectLst/>
                <a:latin typeface="+mn-lt"/>
                <a:ea typeface="+mn-ea"/>
                <a:cs typeface="+mn-cs"/>
              </a:rPr>
              <a:t> has called generative adversarial networks the most interesting idea of the decade in machine learning. Generative adversarial networks, or GANs, are a deep-learning-based generative model that is used to generate new data. It is a system in which two adversarial neural networks compete with each other to generate new observations that are indistinguishable from real data. GAN models consist of several deep neural networks that process data. They work great for synthetic data generation, particularly for image data.</a:t>
            </a:r>
          </a:p>
          <a:p>
            <a:r>
              <a:rPr lang="en-US" sz="1200" b="0" i="0" kern="1200" dirty="0">
                <a:solidFill>
                  <a:schemeClr val="tx1"/>
                </a:solidFill>
                <a:effectLst/>
                <a:latin typeface="+mn-lt"/>
                <a:ea typeface="+mn-ea"/>
                <a:cs typeface="+mn-cs"/>
              </a:rPr>
              <a:t>You might be wondering, "How can networks be adversarial?" Well the two networks, called generator and discriminator, compete with each other to win, hence the name adversarial. The generator learns to create fake samples of data, which can be image, audio, text, or simply numerical data. The generator tries to fool the discriminator by producing novel synthesized instances that ideally look like the real data. The discriminator evaluates the generated data and tries to discriminate whether the data are real or fake.</a:t>
            </a:r>
          </a:p>
          <a:p>
            <a:r>
              <a:rPr lang="en-US" sz="1200" b="0" i="0" kern="1200" dirty="0">
                <a:solidFill>
                  <a:schemeClr val="tx1"/>
                </a:solidFill>
                <a:effectLst/>
                <a:latin typeface="+mn-lt"/>
                <a:ea typeface="+mn-ea"/>
                <a:cs typeface="+mn-cs"/>
              </a:rPr>
              <a:t>The key to GANs lies in how we alternate the training of the two networks. As the generator becomes more adept at fooling the discriminator, the discriminator must adapt in order to maintain its ability to correctly identify which observations are fake. This drives the generator to find new ways to fool the discriminator, and so the cycle continues. Through multiple cycles of generation and discrimination, both networks train each other, while simultaneously trying to deceive each other.</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4</a:t>
            </a:fld>
            <a:endParaRPr lang="en-US"/>
          </a:p>
        </p:txBody>
      </p:sp>
    </p:spTree>
    <p:extLst>
      <p:ext uri="{BB962C8B-B14F-4D97-AF65-F5344CB8AC3E}">
        <p14:creationId xmlns:p14="http://schemas.microsoft.com/office/powerpoint/2010/main" val="25501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 us consider an example where you want to create an image of a one-dollar bill. When the training begins. the generator produces an obviously fake image of a one-dollar bill, and the discriminator quickly determines that the image is fake. When the generator is caught with the fake dollar-bill image it tries harder the next time to get better at creating one-dollar-bill images. But, the discriminator also gets better, so they both compete to win. As training progresses, the generator gets closer to producing output that can deceive the discriminator.</a:t>
            </a:r>
          </a:p>
          <a:p>
            <a:r>
              <a:rPr lang="en-US" sz="1200" b="0" i="0" kern="1200" dirty="0">
                <a:solidFill>
                  <a:schemeClr val="tx1"/>
                </a:solidFill>
                <a:effectLst/>
                <a:latin typeface="+mn-lt"/>
                <a:ea typeface="+mn-ea"/>
                <a:cs typeface="+mn-cs"/>
              </a:rPr>
              <a:t>Eventually, there comes a point where the generator becomes good enough at generating realistic-looking fake images that the discriminator cannot discriminate whether the bill is fake or real, and it starts to classify the fake bill as real. It is important to focus on each of these components to understand how they come together.</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5</a:t>
            </a:fld>
            <a:endParaRPr lang="en-US"/>
          </a:p>
        </p:txBody>
      </p:sp>
    </p:spTree>
    <p:extLst>
      <p:ext uri="{BB962C8B-B14F-4D97-AF65-F5344CB8AC3E}">
        <p14:creationId xmlns:p14="http://schemas.microsoft.com/office/powerpoint/2010/main" val="4267897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What is a generator network? The generator network tries to learn the data distribution by using random noise as inputs and producing instances that look like real data. The main goal of the generator network is to maximize the likelihood that the discriminator misclassifies its output as real.</a:t>
            </a:r>
          </a:p>
          <a:p>
            <a:r>
              <a:rPr lang="en-US" sz="1200" b="0" i="0" kern="1200" dirty="0">
                <a:solidFill>
                  <a:schemeClr val="tx1"/>
                </a:solidFill>
                <a:effectLst/>
                <a:latin typeface="+mn-lt"/>
                <a:ea typeface="+mn-ea"/>
                <a:cs typeface="+mn-cs"/>
              </a:rPr>
              <a:t>The generator network training process, the fake sample produced by the generator is trained on the discriminator.</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10</a:t>
            </a:fld>
            <a:endParaRPr lang="en-US"/>
          </a:p>
        </p:txBody>
      </p:sp>
    </p:spTree>
    <p:extLst>
      <p:ext uri="{BB962C8B-B14F-4D97-AF65-F5344CB8AC3E}">
        <p14:creationId xmlns:p14="http://schemas.microsoft.com/office/powerpoint/2010/main" val="403166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discriminator network classifies the generated data as real or fake and produces generator loss. This generator loss penalizes the generator for failing to dupe the discriminator. Remember, the main goal of the generator is to fool the discriminator into classifying its output as real.</a:t>
            </a:r>
          </a:p>
          <a:p>
            <a:r>
              <a:rPr lang="en-US" sz="1200" b="0" i="0" kern="1200" dirty="0">
                <a:solidFill>
                  <a:schemeClr val="tx1"/>
                </a:solidFill>
                <a:effectLst/>
                <a:latin typeface="+mn-lt"/>
                <a:ea typeface="+mn-ea"/>
                <a:cs typeface="+mn-cs"/>
              </a:rPr>
              <a:t>The back propagation method is used to adjust each weight by calculating the weight's impact on the output. The back propagation method is used to obtain gradient, and these gradients can help change the generator weights. The generated, or fake, examples become negative training cases for the discriminator.</a:t>
            </a:r>
          </a:p>
          <a:p>
            <a:r>
              <a:rPr lang="en-US" sz="1200" b="0" i="0" kern="1200" dirty="0">
                <a:solidFill>
                  <a:schemeClr val="tx1"/>
                </a:solidFill>
                <a:effectLst/>
                <a:latin typeface="+mn-lt"/>
                <a:ea typeface="+mn-ea"/>
                <a:cs typeface="+mn-cs"/>
              </a:rPr>
              <a:t>The training data feeding into the discriminator network comes from two sources: the real data instances, which are used as positive examples during the training process, and the fake data instances, which were generated by the generator network and are used as negative examples during the training process.</a:t>
            </a:r>
          </a:p>
          <a:p>
            <a:r>
              <a:rPr lang="en-US" sz="1200" b="0" i="0" kern="1200" dirty="0">
                <a:solidFill>
                  <a:schemeClr val="tx1"/>
                </a:solidFill>
                <a:effectLst/>
                <a:latin typeface="+mn-lt"/>
                <a:ea typeface="+mn-ea"/>
                <a:cs typeface="+mn-cs"/>
              </a:rPr>
              <a:t>The discriminator network generates predictions for how likely the instances are to be real or fake, where the labels are 1 for the real instances and 0 for fake instances, with binary cross-entropy as the </a:t>
            </a:r>
            <a:r>
              <a:rPr lang="en-US" sz="1200" b="0" i="0" kern="1200" dirty="0" err="1">
                <a:solidFill>
                  <a:schemeClr val="tx1"/>
                </a:solidFill>
                <a:effectLst/>
                <a:latin typeface="+mn-lt"/>
                <a:ea typeface="+mn-ea"/>
                <a:cs typeface="+mn-cs"/>
              </a:rPr>
              <a:t>lossfunction</a:t>
            </a:r>
            <a:r>
              <a:rPr lang="en-US" sz="1200" b="0" i="0" kern="1200" dirty="0">
                <a:solidFill>
                  <a:schemeClr val="tx1"/>
                </a:solidFill>
                <a:effectLst/>
                <a:latin typeface="+mn-lt"/>
                <a:ea typeface="+mn-ea"/>
                <a:cs typeface="+mn-cs"/>
              </a:rPr>
              <a:t>. So, the main goal of discriminator network is to accurately distinguish between real and fake data.</a:t>
            </a:r>
          </a:p>
          <a:p>
            <a:r>
              <a:rPr lang="en-US" sz="1200" b="0" i="0" kern="1200" dirty="0">
                <a:solidFill>
                  <a:schemeClr val="tx1"/>
                </a:solidFill>
                <a:effectLst/>
                <a:latin typeface="+mn-lt"/>
                <a:ea typeface="+mn-ea"/>
                <a:cs typeface="+mn-cs"/>
              </a:rPr>
              <a:t>In the process of training the discriminator network, it classifies both the real data and the fake data from the generator. Notice that the discriminator connects to two loss functions. However, during discriminator training, the discriminator ignores the generator loss and simply uses the discriminator loss. The discriminator loss penalizes the discriminator for misclassifying a real data instance as fake or a fake data instance as real. The discriminator updates its weights </a:t>
            </a:r>
            <a:r>
              <a:rPr lang="en-US" sz="1200" b="0" i="0" kern="1200" dirty="0" err="1">
                <a:solidFill>
                  <a:schemeClr val="tx1"/>
                </a:solidFill>
                <a:effectLst/>
                <a:latin typeface="+mn-lt"/>
                <a:ea typeface="+mn-ea"/>
                <a:cs typeface="+mn-cs"/>
              </a:rPr>
              <a:t>throughback</a:t>
            </a:r>
            <a:r>
              <a:rPr lang="en-US" sz="1200" b="0" i="0" kern="1200" dirty="0">
                <a:solidFill>
                  <a:schemeClr val="tx1"/>
                </a:solidFill>
                <a:effectLst/>
                <a:latin typeface="+mn-lt"/>
                <a:ea typeface="+mn-ea"/>
                <a:cs typeface="+mn-cs"/>
              </a:rPr>
              <a:t> propagation from the discriminator loss through the discriminator network.</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11</a:t>
            </a:fld>
            <a:endParaRPr lang="en-US"/>
          </a:p>
        </p:txBody>
      </p:sp>
    </p:spTree>
    <p:extLst>
      <p:ext uri="{BB962C8B-B14F-4D97-AF65-F5344CB8AC3E}">
        <p14:creationId xmlns:p14="http://schemas.microsoft.com/office/powerpoint/2010/main" val="127185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Discriminator network tries to differentiate between the fake data produced by the generator network and real data. Thus, the discriminator network is simply a classifier that could use any network architecture appropriate to the type of data that it's classifying.</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12</a:t>
            </a:fld>
            <a:endParaRPr lang="en-US"/>
          </a:p>
        </p:txBody>
      </p:sp>
    </p:spTree>
    <p:extLst>
      <p:ext uri="{BB962C8B-B14F-4D97-AF65-F5344CB8AC3E}">
        <p14:creationId xmlns:p14="http://schemas.microsoft.com/office/powerpoint/2010/main" val="3020402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process of training the discriminator network, it classifies both the real data and the fake data from the generator. Notice that the discriminator connects to two loss functions. However, during discriminator training, the discriminator ignores the generator loss and simply uses the discriminator loss. The discriminator loss penalizes the discriminator for misclassifying a real data instance as fake or a fake data instance as real. The discriminator updates its weights </a:t>
            </a:r>
            <a:r>
              <a:rPr lang="en-US" sz="1200" b="0" i="0" kern="1200" dirty="0" err="1">
                <a:solidFill>
                  <a:schemeClr val="tx1"/>
                </a:solidFill>
                <a:effectLst/>
                <a:latin typeface="+mn-lt"/>
                <a:ea typeface="+mn-ea"/>
                <a:cs typeface="+mn-cs"/>
              </a:rPr>
              <a:t>throughback</a:t>
            </a:r>
            <a:r>
              <a:rPr lang="en-US" sz="1200" b="0" i="0" kern="1200" dirty="0">
                <a:solidFill>
                  <a:schemeClr val="tx1"/>
                </a:solidFill>
                <a:effectLst/>
                <a:latin typeface="+mn-lt"/>
                <a:ea typeface="+mn-ea"/>
                <a:cs typeface="+mn-cs"/>
              </a:rPr>
              <a:t> propagation from the discriminator loss through the discriminator network.</a:t>
            </a:r>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13</a:t>
            </a:fld>
            <a:endParaRPr lang="en-US"/>
          </a:p>
        </p:txBody>
      </p:sp>
    </p:spTree>
    <p:extLst>
      <p:ext uri="{BB962C8B-B14F-4D97-AF65-F5344CB8AC3E}">
        <p14:creationId xmlns:p14="http://schemas.microsoft.com/office/powerpoint/2010/main" val="1772485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have seen that the generator and discriminator have different training processes. So, you must be wondering, "How are GANs trained as a whole?"</a:t>
            </a:r>
          </a:p>
          <a:p>
            <a:r>
              <a:rPr lang="en-US" sz="1200" b="0" i="0" kern="1200" dirty="0">
                <a:solidFill>
                  <a:schemeClr val="tx1"/>
                </a:solidFill>
                <a:effectLst/>
                <a:latin typeface="+mn-lt"/>
                <a:ea typeface="+mn-ea"/>
                <a:cs typeface="+mn-cs"/>
              </a:rPr>
              <a:t>Well, the two networks are trained in alternating fashion. Note that the discriminator needs to train for a few epochs prior to starting the adversarial training, as the discriminator will need to be able to actually classify the data (images) as real or fake.</a:t>
            </a:r>
          </a:p>
          <a:p>
            <a:r>
              <a:rPr lang="en-US" sz="1200" b="0" i="0" kern="1200" dirty="0">
                <a:solidFill>
                  <a:schemeClr val="tx1"/>
                </a:solidFill>
                <a:effectLst/>
                <a:latin typeface="+mn-lt"/>
                <a:ea typeface="+mn-ea"/>
                <a:cs typeface="+mn-cs"/>
              </a:rPr>
              <a:t>While alternating the training of these two networks, we also must make sure that we update the weights of only one network at a time. For example, during the generator training process, only the generator's weights are updated. If we allowed the discriminator's weights to change at this time as well, the discriminator would just adjust so that it is more likely to predict the generated images to be real, which is not the desired outcome. We want generated data to have predictions close to 1 (real) because the generator is strong, not because the discriminator is weak.</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14</a:t>
            </a:fld>
            <a:endParaRPr lang="en-US"/>
          </a:p>
        </p:txBody>
      </p:sp>
    </p:spTree>
    <p:extLst>
      <p:ext uri="{BB962C8B-B14F-4D97-AF65-F5344CB8AC3E}">
        <p14:creationId xmlns:p14="http://schemas.microsoft.com/office/powerpoint/2010/main" val="2291249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discriminator network generates predictions for how likely the instances are to be real or fake, where the labels are 1 for the real instances and 0 for fake instances, with binary cross-entropy as the loss function. So, the main goal of discriminator network is to accurately distinguish between real and fake data.</a:t>
            </a:r>
          </a:p>
          <a:p>
            <a:r>
              <a:rPr lang="en-US" sz="1200" b="0" i="0" kern="1200" dirty="0">
                <a:solidFill>
                  <a:schemeClr val="tx1"/>
                </a:solidFill>
                <a:effectLst/>
                <a:latin typeface="+mn-lt"/>
                <a:ea typeface="+mn-ea"/>
                <a:cs typeface="+mn-cs"/>
              </a:rPr>
              <a:t>In the process of training the discriminator network, it classifies both the real data and the fake data from the generator. Notice that the discriminator connects to two loss functions. However, during discriminator training, the discriminator ignores the generator loss and simply uses the discriminator loss. The discriminator loss penalizes the discriminator for misclassifying a real data instance as fake or a fake data instance as real. The discriminator updates its weights </a:t>
            </a:r>
            <a:r>
              <a:rPr lang="en-US" sz="1200" b="0" i="0" kern="1200" dirty="0" err="1">
                <a:solidFill>
                  <a:schemeClr val="tx1"/>
                </a:solidFill>
                <a:effectLst/>
                <a:latin typeface="+mn-lt"/>
                <a:ea typeface="+mn-ea"/>
                <a:cs typeface="+mn-cs"/>
              </a:rPr>
              <a:t>throughback</a:t>
            </a:r>
            <a:r>
              <a:rPr lang="en-US" sz="1200" b="0" i="0" kern="1200" dirty="0">
                <a:solidFill>
                  <a:schemeClr val="tx1"/>
                </a:solidFill>
                <a:effectLst/>
                <a:latin typeface="+mn-lt"/>
                <a:ea typeface="+mn-ea"/>
                <a:cs typeface="+mn-cs"/>
              </a:rPr>
              <a:t> propagation from the discriminator loss through the discriminator network.</a:t>
            </a:r>
          </a:p>
          <a:p>
            <a:r>
              <a:rPr lang="en-US" sz="1200" b="0" i="0" kern="1200" dirty="0">
                <a:solidFill>
                  <a:schemeClr val="tx1"/>
                </a:solidFill>
                <a:effectLst/>
                <a:latin typeface="+mn-lt"/>
                <a:ea typeface="+mn-ea"/>
                <a:cs typeface="+mn-cs"/>
              </a:rPr>
              <a:t>as a whole?"</a:t>
            </a:r>
          </a:p>
          <a:p>
            <a:r>
              <a:rPr lang="en-US" sz="1200" b="0" i="0" kern="1200" dirty="0">
                <a:solidFill>
                  <a:schemeClr val="tx1"/>
                </a:solidFill>
                <a:effectLst/>
                <a:latin typeface="+mn-lt"/>
                <a:ea typeface="+mn-ea"/>
                <a:cs typeface="+mn-cs"/>
              </a:rPr>
              <a:t>Well, the two networks are trained in alternating fashion.</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15</a:t>
            </a:fld>
            <a:endParaRPr lang="en-US"/>
          </a:p>
        </p:txBody>
      </p:sp>
    </p:spTree>
    <p:extLst>
      <p:ext uri="{BB962C8B-B14F-4D97-AF65-F5344CB8AC3E}">
        <p14:creationId xmlns:p14="http://schemas.microsoft.com/office/powerpoint/2010/main" val="1106213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have seen that the generator and discriminator have different training processes. So, you must be wondering, "How are GANs trained as a whole?"</a:t>
            </a:r>
          </a:p>
          <a:p>
            <a:r>
              <a:rPr lang="en-US" sz="1200" b="0" i="0" kern="1200" dirty="0">
                <a:solidFill>
                  <a:schemeClr val="tx1"/>
                </a:solidFill>
                <a:effectLst/>
                <a:latin typeface="+mn-lt"/>
                <a:ea typeface="+mn-ea"/>
                <a:cs typeface="+mn-cs"/>
              </a:rPr>
              <a:t>Well, the two networks are trained in alternating fashion. Note that the discriminator needs to train for a few epochs prior to starting the adversarial training, as the discriminator will need to be able to actually classify the data (images) as real or fake.</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16</a:t>
            </a:fld>
            <a:endParaRPr lang="en-US"/>
          </a:p>
        </p:txBody>
      </p:sp>
    </p:spTree>
    <p:extLst>
      <p:ext uri="{BB962C8B-B14F-4D97-AF65-F5344CB8AC3E}">
        <p14:creationId xmlns:p14="http://schemas.microsoft.com/office/powerpoint/2010/main" val="2018879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While alternating the training of these two networks, we also must make sure that we update the weights of only one network at a time. For example, during the generator training process, only the generator's weights are updated. If we allowed the discriminator's weights to change at this time as well, the discriminator would just adjust so that it is more likely to predict the generated images to be real, which is not the desired outcome. We want generated data to have predictions close to 1 (real) because the generator is strong, not because the discriminator is weak.</a:t>
            </a:r>
          </a:p>
          <a:p>
            <a:r>
              <a:rPr lang="en-US" sz="1200" b="0" i="0" kern="1200" dirty="0">
                <a:solidFill>
                  <a:schemeClr val="tx1"/>
                </a:solidFill>
                <a:effectLst/>
                <a:latin typeface="+mn-lt"/>
                <a:ea typeface="+mn-ea"/>
                <a:cs typeface="+mn-cs"/>
              </a:rPr>
              <a:t>Similarly, we keep the generator's weights constant during the discriminator training phase and update the discriminator's weights only during this phase. As discriminator training tries to figure out how to distinguish real data from fake data, it has to learn how to recognize the generator's flaws. This is a different problem for a thoroughly trained generator than it is for an untrained generator producing random output.</a:t>
            </a:r>
          </a:p>
          <a:p>
            <a:r>
              <a:rPr lang="en-US" sz="1200" b="0" i="0" kern="1200" dirty="0">
                <a:solidFill>
                  <a:schemeClr val="tx1"/>
                </a:solidFill>
                <a:effectLst/>
                <a:latin typeface="+mn-lt"/>
                <a:ea typeface="+mn-ea"/>
                <a:cs typeface="+mn-cs"/>
              </a:rPr>
              <a:t>This back-and-forth training enables GANs to tackle otherwise intractable generative problems. We get a toehold in the difficult generative problem by starting with a much simpler classification problem. Conversely, if you can't train a classifier to tell the difference between real and generated data for even the initial random generator output, you can't get the GAN training started.</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17</a:t>
            </a:fld>
            <a:endParaRPr lang="en-US"/>
          </a:p>
        </p:txBody>
      </p:sp>
    </p:spTree>
    <p:extLst>
      <p:ext uri="{BB962C8B-B14F-4D97-AF65-F5344CB8AC3E}">
        <p14:creationId xmlns:p14="http://schemas.microsoft.com/office/powerpoint/2010/main" val="2466471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recall that the generator network generates data that are similar to the real data, and to measure the similarity, we use objective functions. Both networks have their own objective functions, which they try to optimize during training. We train D to maximize the probability of assigning the correct label to both training instances and samples from the generator. We simultaneously train G to minimize the discriminator's reward. In other words, D and G play the two-player minimax game with the final objective function.</a:t>
            </a:r>
          </a:p>
          <a:p>
            <a:r>
              <a:rPr lang="en-US" sz="1200" b="0" i="0" kern="1200" dirty="0">
                <a:solidFill>
                  <a:schemeClr val="tx1"/>
                </a:solidFill>
                <a:effectLst/>
                <a:latin typeface="+mn-lt"/>
                <a:ea typeface="+mn-ea"/>
                <a:cs typeface="+mn-cs"/>
              </a:rPr>
              <a:t>In this equation,  represents the expected value over all real data instances.  represents the expected value over all generated fake instances .  represents the real data distribution.  represents the distribution of data generated by the generator.  represents the discriminator's output (that is, the probability that  came from the training sample or from the real data), and  represents the generator's output given noise .</a:t>
            </a:r>
          </a:p>
          <a:p>
            <a:r>
              <a:rPr lang="en-US" sz="1200" b="0" i="0" kern="1200" dirty="0">
                <a:solidFill>
                  <a:schemeClr val="tx1"/>
                </a:solidFill>
                <a:effectLst/>
                <a:latin typeface="+mn-lt"/>
                <a:ea typeface="+mn-ea"/>
                <a:cs typeface="+mn-cs"/>
              </a:rPr>
              <a:t>During </a:t>
            </a:r>
            <a:r>
              <a:rPr lang="en-US" sz="1200" b="0" i="0" kern="1200" dirty="0" err="1">
                <a:solidFill>
                  <a:schemeClr val="tx1"/>
                </a:solidFill>
                <a:effectLst/>
                <a:latin typeface="+mn-lt"/>
                <a:ea typeface="+mn-ea"/>
                <a:cs typeface="+mn-cs"/>
              </a:rPr>
              <a:t>training,the</a:t>
            </a:r>
            <a:r>
              <a:rPr lang="en-US" sz="1200" b="0" i="0" kern="1200" dirty="0">
                <a:solidFill>
                  <a:schemeClr val="tx1"/>
                </a:solidFill>
                <a:effectLst/>
                <a:latin typeface="+mn-lt"/>
                <a:ea typeface="+mn-ea"/>
                <a:cs typeface="+mn-cs"/>
              </a:rPr>
              <a:t> discriminator wants to maximize the objective function, whereas the generator wants to minimize it. In this way, the generator and the discriminator repeatedly learn to work together, and eventually the GAN can reach a Nash equilibrium when the following conditions are met: The discriminator is unable to distinguish between real and fake instances. The generator can produce fake samples that are indistinguishable from the real data in the training data set.</a:t>
            </a:r>
          </a:p>
          <a:p>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18</a:t>
            </a:fld>
            <a:endParaRPr lang="en-US"/>
          </a:p>
        </p:txBody>
      </p:sp>
    </p:spTree>
    <p:extLst>
      <p:ext uri="{BB962C8B-B14F-4D97-AF65-F5344CB8AC3E}">
        <p14:creationId xmlns:p14="http://schemas.microsoft.com/office/powerpoint/2010/main" val="704124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revisit the currency example where the aim is to generate images of one-dollar bills that look real. First, a random noise vector is fed into the generator. Using this latent input, the generator network creates a fake one-dollar bill image. As discussed earlier, now the discriminator is fed with the fake images of one-dollar bills created by the generator as well as real images of one-dollar bills. The discriminator classifies each image as real or fake. Next, the generator, tries to fool the discriminator by creating more realistic one-dollar-bill images over multiple iterations. The discriminator tries to outwit the generator by continuing to refine its own criteria for determining a fake image. Hence, they guide each other by providing feedback from the successful changes that they make in their own process in each iteration. Ultimately, the discriminator trains the generator to a point at which it no longer can determine which one-dollar-bill images are real and which are fake. Remember our goal as modelers is to generate data, which is different from either of the network goals. Note that during generator training, gradients propagate through the discriminator network to the generator network (although the discriminator does not update its weights during generator training). So, the weights in the discriminator network influence the updates to the generator network.</a:t>
            </a:r>
            <a:endParaRPr lang="en-US" dirty="0"/>
          </a:p>
        </p:txBody>
      </p:sp>
      <p:sp>
        <p:nvSpPr>
          <p:cNvPr id="4" name="Slide Number Placeholder 3"/>
          <p:cNvSpPr>
            <a:spLocks noGrp="1"/>
          </p:cNvSpPr>
          <p:nvPr>
            <p:ph type="sldNum" sz="quarter" idx="5"/>
          </p:nvPr>
        </p:nvSpPr>
        <p:spPr/>
        <p:txBody>
          <a:bodyPr/>
          <a:lstStyle/>
          <a:p>
            <a:fld id="{FB875E2B-1C79-4A64-A927-0D5EA61E0893}" type="slidenum">
              <a:rPr lang="en-US" smtClean="0"/>
              <a:t>19</a:t>
            </a:fld>
            <a:endParaRPr lang="en-US"/>
          </a:p>
        </p:txBody>
      </p:sp>
    </p:spTree>
    <p:extLst>
      <p:ext uri="{BB962C8B-B14F-4D97-AF65-F5344CB8AC3E}">
        <p14:creationId xmlns:p14="http://schemas.microsoft.com/office/powerpoint/2010/main" val="1125169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20</a:t>
            </a:fld>
            <a:endParaRPr lang="en-US"/>
          </a:p>
        </p:txBody>
      </p:sp>
    </p:spTree>
    <p:extLst>
      <p:ext uri="{BB962C8B-B14F-4D97-AF65-F5344CB8AC3E}">
        <p14:creationId xmlns:p14="http://schemas.microsoft.com/office/powerpoint/2010/main" val="3466882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21</a:t>
            </a:fld>
            <a:endParaRPr lang="en-US"/>
          </a:p>
        </p:txBody>
      </p:sp>
    </p:spTree>
    <p:extLst>
      <p:ext uri="{BB962C8B-B14F-4D97-AF65-F5344CB8AC3E}">
        <p14:creationId xmlns:p14="http://schemas.microsoft.com/office/powerpoint/2010/main" val="1221256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22</a:t>
            </a:fld>
            <a:endParaRPr lang="en-US"/>
          </a:p>
        </p:txBody>
      </p:sp>
    </p:spTree>
    <p:extLst>
      <p:ext uri="{BB962C8B-B14F-4D97-AF65-F5344CB8AC3E}">
        <p14:creationId xmlns:p14="http://schemas.microsoft.com/office/powerpoint/2010/main" val="1619459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28</a:t>
            </a:fld>
            <a:endParaRPr lang="en-US"/>
          </a:p>
        </p:txBody>
      </p:sp>
    </p:spTree>
    <p:extLst>
      <p:ext uri="{BB962C8B-B14F-4D97-AF65-F5344CB8AC3E}">
        <p14:creationId xmlns:p14="http://schemas.microsoft.com/office/powerpoint/2010/main" val="3173442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29</a:t>
            </a:fld>
            <a:endParaRPr lang="en-US"/>
          </a:p>
        </p:txBody>
      </p:sp>
    </p:spTree>
    <p:extLst>
      <p:ext uri="{BB962C8B-B14F-4D97-AF65-F5344CB8AC3E}">
        <p14:creationId xmlns:p14="http://schemas.microsoft.com/office/powerpoint/2010/main" val="493912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30</a:t>
            </a:fld>
            <a:endParaRPr lang="en-US"/>
          </a:p>
        </p:txBody>
      </p:sp>
    </p:spTree>
    <p:extLst>
      <p:ext uri="{BB962C8B-B14F-4D97-AF65-F5344CB8AC3E}">
        <p14:creationId xmlns:p14="http://schemas.microsoft.com/office/powerpoint/2010/main" val="3093717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31</a:t>
            </a:fld>
            <a:endParaRPr lang="en-US"/>
          </a:p>
        </p:txBody>
      </p:sp>
    </p:spTree>
    <p:extLst>
      <p:ext uri="{BB962C8B-B14F-4D97-AF65-F5344CB8AC3E}">
        <p14:creationId xmlns:p14="http://schemas.microsoft.com/office/powerpoint/2010/main" val="2103615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32</a:t>
            </a:fld>
            <a:endParaRPr lang="en-US"/>
          </a:p>
        </p:txBody>
      </p:sp>
    </p:spTree>
    <p:extLst>
      <p:ext uri="{BB962C8B-B14F-4D97-AF65-F5344CB8AC3E}">
        <p14:creationId xmlns:p14="http://schemas.microsoft.com/office/powerpoint/2010/main" val="3892373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33</a:t>
            </a:fld>
            <a:endParaRPr lang="en-US"/>
          </a:p>
        </p:txBody>
      </p:sp>
    </p:spTree>
    <p:extLst>
      <p:ext uri="{BB962C8B-B14F-4D97-AF65-F5344CB8AC3E}">
        <p14:creationId xmlns:p14="http://schemas.microsoft.com/office/powerpoint/2010/main" val="1367733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34</a:t>
            </a:fld>
            <a:endParaRPr lang="en-US"/>
          </a:p>
        </p:txBody>
      </p:sp>
    </p:spTree>
    <p:extLst>
      <p:ext uri="{BB962C8B-B14F-4D97-AF65-F5344CB8AC3E}">
        <p14:creationId xmlns:p14="http://schemas.microsoft.com/office/powerpoint/2010/main" val="3409650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A8298-A4D5-A13D-0486-CDB98AD646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476564-F084-191C-1001-C3B414BBC3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F02664-8D89-4057-5F0D-823DCCB72E24}"/>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F801180E-26AC-D638-9AF5-AFB461602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7A4E1-515E-1CD7-2E22-E5040295F9B2}"/>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4020398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9230-7BF5-E51E-563A-E162BDAD21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9484A9-5BC6-9725-6C85-B2651545E6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5BF4F5-A1F4-18AD-4D16-56E9BB83D7C2}"/>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02F6BB8D-E975-1E9B-3E88-23404B3EC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F728B2-FF60-A286-C38F-E2CC9E86C270}"/>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335039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C125-542B-1A49-8167-F2925DAC2C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E07DAA-DF02-C08E-FE35-889EEB7098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D94CA-A835-79C8-8B42-BDF202126BD7}"/>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A54B3A2C-B833-38D1-BE89-C5E481700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ED61B-3A2D-60BE-E728-D9704AA96E60}"/>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144323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D7890-112F-4B42-BE08-EF5B19B6D1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970712-CEEA-97A4-7220-6EB67702E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8B45FE-4AE4-40F7-4933-01E9B8DCE6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6B299C-CDA5-CA74-C580-80FF5E29F41D}"/>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6" name="Footer Placeholder 5">
            <a:extLst>
              <a:ext uri="{FF2B5EF4-FFF2-40B4-BE49-F238E27FC236}">
                <a16:creationId xmlns:a16="http://schemas.microsoft.com/office/drawing/2014/main" id="{6638010C-A56D-67AE-DACE-68EBA66C35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D29DD5-645A-897A-7CCF-85778B22CD6A}"/>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3715376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67708-0CDD-5017-B589-09BAC9AE4F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7B0CD5-9BBA-3079-FFD5-703126E536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CDFF00-728A-9C8D-1798-6E724CE8ED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BDED97-0ED5-2C99-9BAE-758038DF6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8FA007-1C9F-43E3-F258-DE6986BC30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A9A4F7-CCFC-BFD3-F7B5-8F605AF5178A}"/>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8" name="Footer Placeholder 7">
            <a:extLst>
              <a:ext uri="{FF2B5EF4-FFF2-40B4-BE49-F238E27FC236}">
                <a16:creationId xmlns:a16="http://schemas.microsoft.com/office/drawing/2014/main" id="{299112BE-9312-FFC7-25B1-4F0C1C6A6F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56BDED-3BFA-20F1-5AC2-74F388FEB07E}"/>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1165482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AF0A-0B73-9CD8-307D-46FF123637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6B5094-7F32-4AE8-980E-D027A6D38214}"/>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4" name="Footer Placeholder 3">
            <a:extLst>
              <a:ext uri="{FF2B5EF4-FFF2-40B4-BE49-F238E27FC236}">
                <a16:creationId xmlns:a16="http://schemas.microsoft.com/office/drawing/2014/main" id="{3A497F1A-6C28-260E-2EB1-488F7428CA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CBD49A-5A9F-6B28-4832-5EAC27DCB731}"/>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3670806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58EC5F-2CF6-FB78-D1CA-4BE46C0B06B2}"/>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3" name="Footer Placeholder 2">
            <a:extLst>
              <a:ext uri="{FF2B5EF4-FFF2-40B4-BE49-F238E27FC236}">
                <a16:creationId xmlns:a16="http://schemas.microsoft.com/office/drawing/2014/main" id="{6EEF3483-7240-B39B-FC5E-5BB5C3FF3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160903-5190-E54A-230A-089D0009548F}"/>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346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6AB4C-4706-F446-52D3-699504FED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86F385-76A7-5720-D11E-FBCDED9A40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D9961C-8719-73B5-5AB8-BE3675B5E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07D301-27D6-C6E5-5BDB-A527B6D09A4E}"/>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6" name="Footer Placeholder 5">
            <a:extLst>
              <a:ext uri="{FF2B5EF4-FFF2-40B4-BE49-F238E27FC236}">
                <a16:creationId xmlns:a16="http://schemas.microsoft.com/office/drawing/2014/main" id="{3F6020D5-0492-FE10-BC4B-CE4CAD7CE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ECCD5-B93F-2690-43EF-291E18C6D51F}"/>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112455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13F96-29F8-BEE8-CAC8-38743D2F6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69F89D-CC9D-B548-921B-018EC1534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BB173E-AC20-E72B-19A0-136FD59BEC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F53CA-D82A-A179-82BE-AAD6AA464729}"/>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6" name="Footer Placeholder 5">
            <a:extLst>
              <a:ext uri="{FF2B5EF4-FFF2-40B4-BE49-F238E27FC236}">
                <a16:creationId xmlns:a16="http://schemas.microsoft.com/office/drawing/2014/main" id="{DBD70771-1FB8-6E93-E845-A9ED4EB56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2D767-3F76-D11C-84F4-132928381E12}"/>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1731356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3E5B-B4EE-64FB-1266-C5C168BE0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253947-1AEE-E78C-EAA8-3A3A56CE7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0DF95-E89A-F43A-6A0D-9BAED32FC89E}"/>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529AA607-72B6-AE8B-F455-FC72C8D798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392D7-9DBF-69F5-5742-3798EFEEFECF}"/>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263765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4FB445-9C62-1BED-517A-E96B176FE2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A392E7-753A-E2EE-31DD-5B86FD42C0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DA068-02C3-D84F-0072-7B6C09F7AF6F}"/>
              </a:ext>
            </a:extLst>
          </p:cNvPr>
          <p:cNvSpPr>
            <a:spLocks noGrp="1"/>
          </p:cNvSpPr>
          <p:nvPr>
            <p:ph type="dt" sz="half" idx="10"/>
          </p:nvPr>
        </p:nvSpPr>
        <p:spPr/>
        <p:txBody>
          <a:body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6F13C760-5967-B458-CC88-753DF6F5BE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0F707-4C50-91F5-0E67-F3746FED59C7}"/>
              </a:ext>
            </a:extLst>
          </p:cNvPr>
          <p:cNvSpPr>
            <a:spLocks noGrp="1"/>
          </p:cNvSpPr>
          <p:nvPr>
            <p:ph type="sldNum" sz="quarter" idx="12"/>
          </p:nvPr>
        </p:nvSpPr>
        <p:spPr/>
        <p:txBody>
          <a:bodyPr/>
          <a:lstStyle/>
          <a:p>
            <a:fld id="{D9F28C93-D4B2-41DC-A73A-9F7D33070E2F}" type="slidenum">
              <a:rPr lang="en-US" smtClean="0"/>
              <a:t>‹#›</a:t>
            </a:fld>
            <a:endParaRPr lang="en-US"/>
          </a:p>
        </p:txBody>
      </p:sp>
    </p:spTree>
    <p:extLst>
      <p:ext uri="{BB962C8B-B14F-4D97-AF65-F5344CB8AC3E}">
        <p14:creationId xmlns:p14="http://schemas.microsoft.com/office/powerpoint/2010/main" val="38174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E13136-210F-EB76-06B3-9F05421C96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C5F06-37AE-5579-B7C2-88EF5CE4A0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B619F0-5448-DC52-F20A-05CBFE102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C99F64-ECA9-4102-BA53-86E385D3DD20}" type="datetimeFigureOut">
              <a:rPr lang="en-US" smtClean="0"/>
              <a:t>4/25/2026</a:t>
            </a:fld>
            <a:endParaRPr lang="en-US"/>
          </a:p>
        </p:txBody>
      </p:sp>
      <p:sp>
        <p:nvSpPr>
          <p:cNvPr id="5" name="Footer Placeholder 4">
            <a:extLst>
              <a:ext uri="{FF2B5EF4-FFF2-40B4-BE49-F238E27FC236}">
                <a16:creationId xmlns:a16="http://schemas.microsoft.com/office/drawing/2014/main" id="{6042922E-367E-B558-490A-7775965DE6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347B98-13A2-1BD3-640E-C15F651A61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F28C93-D4B2-41DC-A73A-9F7D33070E2F}" type="slidenum">
              <a:rPr lang="en-US" smtClean="0"/>
              <a:t>‹#›</a:t>
            </a:fld>
            <a:endParaRPr lang="en-US"/>
          </a:p>
        </p:txBody>
      </p:sp>
    </p:spTree>
    <p:extLst>
      <p:ext uri="{BB962C8B-B14F-4D97-AF65-F5344CB8AC3E}">
        <p14:creationId xmlns:p14="http://schemas.microsoft.com/office/powerpoint/2010/main" val="4198869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24C2C-7A90-6B74-220E-D5A23527BF22}"/>
              </a:ext>
            </a:extLst>
          </p:cNvPr>
          <p:cNvSpPr>
            <a:spLocks noGrp="1"/>
          </p:cNvSpPr>
          <p:nvPr>
            <p:ph type="ctrTitle"/>
          </p:nvPr>
        </p:nvSpPr>
        <p:spPr/>
        <p:txBody>
          <a:bodyPr/>
          <a:lstStyle/>
          <a:p>
            <a:r>
              <a:rPr lang="en-US" dirty="0"/>
              <a:t>GANS </a:t>
            </a:r>
          </a:p>
        </p:txBody>
      </p:sp>
      <p:sp>
        <p:nvSpPr>
          <p:cNvPr id="3" name="Subtitle 2">
            <a:extLst>
              <a:ext uri="{FF2B5EF4-FFF2-40B4-BE49-F238E27FC236}">
                <a16:creationId xmlns:a16="http://schemas.microsoft.com/office/drawing/2014/main" id="{824CDD1B-642F-489E-A49D-5FC437A7A0EA}"/>
              </a:ext>
            </a:extLst>
          </p:cNvPr>
          <p:cNvSpPr>
            <a:spLocks noGrp="1"/>
          </p:cNvSpPr>
          <p:nvPr>
            <p:ph type="subTitle" idx="1"/>
          </p:nvPr>
        </p:nvSpPr>
        <p:spPr/>
        <p:txBody>
          <a:bodyPr/>
          <a:lstStyle/>
          <a:p>
            <a:r>
              <a:rPr lang="en-US" dirty="0"/>
              <a:t>Generative Adversarial Networks</a:t>
            </a:r>
          </a:p>
          <a:p>
            <a:endParaRPr lang="en-US" dirty="0"/>
          </a:p>
        </p:txBody>
      </p:sp>
    </p:spTree>
    <p:extLst>
      <p:ext uri="{BB962C8B-B14F-4D97-AF65-F5344CB8AC3E}">
        <p14:creationId xmlns:p14="http://schemas.microsoft.com/office/powerpoint/2010/main" val="2699152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9409-2125-2870-27E0-4503E20EADCB}"/>
              </a:ext>
            </a:extLst>
          </p:cNvPr>
          <p:cNvSpPr>
            <a:spLocks noGrp="1"/>
          </p:cNvSpPr>
          <p:nvPr>
            <p:ph type="title"/>
          </p:nvPr>
        </p:nvSpPr>
        <p:spPr/>
        <p:txBody>
          <a:bodyPr/>
          <a:lstStyle/>
          <a:p>
            <a:r>
              <a:rPr lang="en-US" dirty="0"/>
              <a:t>GANS</a:t>
            </a:r>
          </a:p>
        </p:txBody>
      </p:sp>
      <p:pic>
        <p:nvPicPr>
          <p:cNvPr id="5" name="Content Placeholder 4">
            <a:extLst>
              <a:ext uri="{FF2B5EF4-FFF2-40B4-BE49-F238E27FC236}">
                <a16:creationId xmlns:a16="http://schemas.microsoft.com/office/drawing/2014/main" id="{DD5C239B-9362-5786-BDF7-E64F80821E88}"/>
              </a:ext>
            </a:extLst>
          </p:cNvPr>
          <p:cNvPicPr>
            <a:picLocks noGrp="1" noChangeAspect="1"/>
          </p:cNvPicPr>
          <p:nvPr>
            <p:ph idx="1"/>
          </p:nvPr>
        </p:nvPicPr>
        <p:blipFill>
          <a:blip r:embed="rId2"/>
          <a:stretch>
            <a:fillRect/>
          </a:stretch>
        </p:blipFill>
        <p:spPr>
          <a:xfrm>
            <a:off x="1657465" y="1441450"/>
            <a:ext cx="8877069" cy="4760913"/>
          </a:xfrm>
          <a:prstGeom prst="rect">
            <a:avLst/>
          </a:prstGeom>
        </p:spPr>
      </p:pic>
    </p:spTree>
    <p:extLst>
      <p:ext uri="{BB962C8B-B14F-4D97-AF65-F5344CB8AC3E}">
        <p14:creationId xmlns:p14="http://schemas.microsoft.com/office/powerpoint/2010/main" val="3003186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027175-552E-504D-2399-FA4AAE91FAE6}"/>
              </a:ext>
            </a:extLst>
          </p:cNvPr>
          <p:cNvPicPr>
            <a:picLocks noGrp="1" noChangeAspect="1"/>
          </p:cNvPicPr>
          <p:nvPr>
            <p:ph idx="1"/>
          </p:nvPr>
        </p:nvPicPr>
        <p:blipFill>
          <a:blip r:embed="rId2"/>
          <a:stretch>
            <a:fillRect/>
          </a:stretch>
        </p:blipFill>
        <p:spPr>
          <a:xfrm>
            <a:off x="278921" y="358589"/>
            <a:ext cx="10878437" cy="5370513"/>
          </a:xfrm>
          <a:prstGeom prst="rect">
            <a:avLst/>
          </a:prstGeom>
        </p:spPr>
      </p:pic>
    </p:spTree>
    <p:extLst>
      <p:ext uri="{BB962C8B-B14F-4D97-AF65-F5344CB8AC3E}">
        <p14:creationId xmlns:p14="http://schemas.microsoft.com/office/powerpoint/2010/main" val="109839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BFBB-103C-C06E-4D25-E92B132C5C1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D976B63-2962-86BB-47C0-892987EC9FC2}"/>
              </a:ext>
            </a:extLst>
          </p:cNvPr>
          <p:cNvPicPr>
            <a:picLocks noGrp="1" noChangeAspect="1"/>
          </p:cNvPicPr>
          <p:nvPr>
            <p:ph idx="1"/>
          </p:nvPr>
        </p:nvPicPr>
        <p:blipFill>
          <a:blip r:embed="rId3"/>
          <a:stretch>
            <a:fillRect/>
          </a:stretch>
        </p:blipFill>
        <p:spPr>
          <a:xfrm>
            <a:off x="609871" y="908050"/>
            <a:ext cx="10415679" cy="5268913"/>
          </a:xfrm>
          <a:prstGeom prst="rect">
            <a:avLst/>
          </a:prstGeom>
        </p:spPr>
      </p:pic>
    </p:spTree>
    <p:extLst>
      <p:ext uri="{BB962C8B-B14F-4D97-AF65-F5344CB8AC3E}">
        <p14:creationId xmlns:p14="http://schemas.microsoft.com/office/powerpoint/2010/main" val="4024472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81A5-CD0A-915D-113E-B0149AFD36F9}"/>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1011533D-556F-049F-1EF1-B8C488820029}"/>
              </a:ext>
            </a:extLst>
          </p:cNvPr>
          <p:cNvPicPr>
            <a:picLocks noGrp="1" noChangeAspect="1"/>
          </p:cNvPicPr>
          <p:nvPr>
            <p:ph idx="1"/>
          </p:nvPr>
        </p:nvPicPr>
        <p:blipFill>
          <a:blip r:embed="rId3"/>
          <a:stretch>
            <a:fillRect/>
          </a:stretch>
        </p:blipFill>
        <p:spPr>
          <a:xfrm>
            <a:off x="1673578" y="1825625"/>
            <a:ext cx="8844843" cy="4351338"/>
          </a:xfrm>
          <a:prstGeom prst="rect">
            <a:avLst/>
          </a:prstGeom>
        </p:spPr>
      </p:pic>
    </p:spTree>
    <p:extLst>
      <p:ext uri="{BB962C8B-B14F-4D97-AF65-F5344CB8AC3E}">
        <p14:creationId xmlns:p14="http://schemas.microsoft.com/office/powerpoint/2010/main" val="2439839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B7E7-09FE-E537-1C61-8ACB9473E4F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E2F7970-2194-37F7-64FA-DA28BBA5B03B}"/>
              </a:ext>
            </a:extLst>
          </p:cNvPr>
          <p:cNvPicPr>
            <a:picLocks noGrp="1" noChangeAspect="1"/>
          </p:cNvPicPr>
          <p:nvPr>
            <p:ph idx="1"/>
          </p:nvPr>
        </p:nvPicPr>
        <p:blipFill>
          <a:blip r:embed="rId2"/>
          <a:stretch>
            <a:fillRect/>
          </a:stretch>
        </p:blipFill>
        <p:spPr>
          <a:xfrm>
            <a:off x="2263306" y="1825625"/>
            <a:ext cx="7665387" cy="4351338"/>
          </a:xfrm>
          <a:prstGeom prst="rect">
            <a:avLst/>
          </a:prstGeom>
        </p:spPr>
      </p:pic>
    </p:spTree>
    <p:extLst>
      <p:ext uri="{BB962C8B-B14F-4D97-AF65-F5344CB8AC3E}">
        <p14:creationId xmlns:p14="http://schemas.microsoft.com/office/powerpoint/2010/main" val="26199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EF559-E322-3D6D-9566-DE5B3B927DC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52D4677-4949-CB76-5D39-5984E7B53E3C}"/>
              </a:ext>
            </a:extLst>
          </p:cNvPr>
          <p:cNvPicPr>
            <a:picLocks noGrp="1" noChangeAspect="1"/>
          </p:cNvPicPr>
          <p:nvPr>
            <p:ph idx="1"/>
          </p:nvPr>
        </p:nvPicPr>
        <p:blipFill>
          <a:blip r:embed="rId2"/>
          <a:stretch>
            <a:fillRect/>
          </a:stretch>
        </p:blipFill>
        <p:spPr>
          <a:xfrm>
            <a:off x="2013986" y="1825625"/>
            <a:ext cx="8164028" cy="4351338"/>
          </a:xfrm>
          <a:prstGeom prst="rect">
            <a:avLst/>
          </a:prstGeom>
        </p:spPr>
      </p:pic>
    </p:spTree>
    <p:extLst>
      <p:ext uri="{BB962C8B-B14F-4D97-AF65-F5344CB8AC3E}">
        <p14:creationId xmlns:p14="http://schemas.microsoft.com/office/powerpoint/2010/main" val="501550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FAAF-2DA4-80AF-2DBB-C8D12D01715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51A0B12-D7AE-6DCA-C1D0-6632C322A0E0}"/>
              </a:ext>
            </a:extLst>
          </p:cNvPr>
          <p:cNvPicPr>
            <a:picLocks noGrp="1" noChangeAspect="1"/>
          </p:cNvPicPr>
          <p:nvPr>
            <p:ph idx="1"/>
          </p:nvPr>
        </p:nvPicPr>
        <p:blipFill>
          <a:blip r:embed="rId2"/>
          <a:stretch>
            <a:fillRect/>
          </a:stretch>
        </p:blipFill>
        <p:spPr>
          <a:xfrm>
            <a:off x="2360743" y="1825625"/>
            <a:ext cx="7470514" cy="4351338"/>
          </a:xfrm>
          <a:prstGeom prst="rect">
            <a:avLst/>
          </a:prstGeom>
        </p:spPr>
      </p:pic>
    </p:spTree>
    <p:extLst>
      <p:ext uri="{BB962C8B-B14F-4D97-AF65-F5344CB8AC3E}">
        <p14:creationId xmlns:p14="http://schemas.microsoft.com/office/powerpoint/2010/main" val="1881222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669E-F253-A2A1-AE7C-09897B61C3D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F1E4B23-DB47-477F-CD69-016C5860406B}"/>
              </a:ext>
            </a:extLst>
          </p:cNvPr>
          <p:cNvPicPr>
            <a:picLocks noGrp="1" noChangeAspect="1"/>
          </p:cNvPicPr>
          <p:nvPr>
            <p:ph idx="1"/>
          </p:nvPr>
        </p:nvPicPr>
        <p:blipFill>
          <a:blip r:embed="rId2"/>
          <a:stretch>
            <a:fillRect/>
          </a:stretch>
        </p:blipFill>
        <p:spPr>
          <a:xfrm>
            <a:off x="1744662" y="1825625"/>
            <a:ext cx="8702675" cy="4351338"/>
          </a:xfrm>
          <a:prstGeom prst="rect">
            <a:avLst/>
          </a:prstGeom>
        </p:spPr>
      </p:pic>
    </p:spTree>
    <p:extLst>
      <p:ext uri="{BB962C8B-B14F-4D97-AF65-F5344CB8AC3E}">
        <p14:creationId xmlns:p14="http://schemas.microsoft.com/office/powerpoint/2010/main" val="418612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6B7D-C4AB-8337-DD12-4AC5FBBFBB78}"/>
              </a:ext>
            </a:extLst>
          </p:cNvPr>
          <p:cNvSpPr>
            <a:spLocks noGrp="1"/>
          </p:cNvSpPr>
          <p:nvPr>
            <p:ph type="title"/>
          </p:nvPr>
        </p:nvSpPr>
        <p:spPr/>
        <p:txBody>
          <a:bodyPr/>
          <a:lstStyle/>
          <a:p>
            <a:r>
              <a:rPr lang="en-US" dirty="0"/>
              <a:t>Training networks</a:t>
            </a:r>
          </a:p>
        </p:txBody>
      </p:sp>
      <p:pic>
        <p:nvPicPr>
          <p:cNvPr id="5" name="Content Placeholder 4">
            <a:extLst>
              <a:ext uri="{FF2B5EF4-FFF2-40B4-BE49-F238E27FC236}">
                <a16:creationId xmlns:a16="http://schemas.microsoft.com/office/drawing/2014/main" id="{D2FAFF4C-DF81-1AD3-DB9A-2007E2F44CE8}"/>
              </a:ext>
            </a:extLst>
          </p:cNvPr>
          <p:cNvPicPr>
            <a:picLocks noGrp="1" noChangeAspect="1"/>
          </p:cNvPicPr>
          <p:nvPr>
            <p:ph idx="1"/>
          </p:nvPr>
        </p:nvPicPr>
        <p:blipFill>
          <a:blip r:embed="rId3"/>
          <a:stretch>
            <a:fillRect/>
          </a:stretch>
        </p:blipFill>
        <p:spPr>
          <a:xfrm>
            <a:off x="1685541" y="1825625"/>
            <a:ext cx="8820918" cy="4351338"/>
          </a:xfrm>
          <a:prstGeom prst="rect">
            <a:avLst/>
          </a:prstGeom>
        </p:spPr>
      </p:pic>
    </p:spTree>
    <p:extLst>
      <p:ext uri="{BB962C8B-B14F-4D97-AF65-F5344CB8AC3E}">
        <p14:creationId xmlns:p14="http://schemas.microsoft.com/office/powerpoint/2010/main" val="134713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106A-CDA4-6CCF-9E72-7381E1A449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F3743F-CDB5-C415-7865-93750F9AC96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8C7AF15-F71F-BD92-10B6-4F73A67F92BA}"/>
              </a:ext>
            </a:extLst>
          </p:cNvPr>
          <p:cNvPicPr>
            <a:picLocks noChangeAspect="1"/>
          </p:cNvPicPr>
          <p:nvPr/>
        </p:nvPicPr>
        <p:blipFill>
          <a:blip r:embed="rId3"/>
          <a:stretch>
            <a:fillRect/>
          </a:stretch>
        </p:blipFill>
        <p:spPr>
          <a:xfrm>
            <a:off x="0" y="125382"/>
            <a:ext cx="12192000" cy="6607235"/>
          </a:xfrm>
          <a:prstGeom prst="rect">
            <a:avLst/>
          </a:prstGeom>
        </p:spPr>
      </p:pic>
    </p:spTree>
    <p:extLst>
      <p:ext uri="{BB962C8B-B14F-4D97-AF65-F5344CB8AC3E}">
        <p14:creationId xmlns:p14="http://schemas.microsoft.com/office/powerpoint/2010/main" val="331413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23B1-6402-9979-82E3-DF98A8BA34E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2005A32-6990-3D31-08EC-41EEC7702AAF}"/>
              </a:ext>
            </a:extLst>
          </p:cNvPr>
          <p:cNvPicPr>
            <a:picLocks noGrp="1" noChangeAspect="1"/>
          </p:cNvPicPr>
          <p:nvPr>
            <p:ph idx="1"/>
          </p:nvPr>
        </p:nvPicPr>
        <p:blipFill>
          <a:blip r:embed="rId3"/>
          <a:stretch>
            <a:fillRect/>
          </a:stretch>
        </p:blipFill>
        <p:spPr>
          <a:xfrm>
            <a:off x="2806139" y="1825625"/>
            <a:ext cx="6579721" cy="4351338"/>
          </a:xfrm>
          <a:prstGeom prst="rect">
            <a:avLst/>
          </a:prstGeom>
        </p:spPr>
      </p:pic>
    </p:spTree>
    <p:extLst>
      <p:ext uri="{BB962C8B-B14F-4D97-AF65-F5344CB8AC3E}">
        <p14:creationId xmlns:p14="http://schemas.microsoft.com/office/powerpoint/2010/main" val="3945594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32D31-3A56-A955-EBF7-17C4E5DECE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6ADFE9-C662-B761-6281-E8D127528E4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6E40E38-6025-E674-2F11-EF9890204E66}"/>
              </a:ext>
            </a:extLst>
          </p:cNvPr>
          <p:cNvPicPr>
            <a:picLocks noChangeAspect="1"/>
          </p:cNvPicPr>
          <p:nvPr/>
        </p:nvPicPr>
        <p:blipFill>
          <a:blip r:embed="rId3"/>
          <a:stretch>
            <a:fillRect/>
          </a:stretch>
        </p:blipFill>
        <p:spPr>
          <a:xfrm>
            <a:off x="1263569" y="1140034"/>
            <a:ext cx="8058231" cy="5717966"/>
          </a:xfrm>
          <a:prstGeom prst="rect">
            <a:avLst/>
          </a:prstGeom>
        </p:spPr>
      </p:pic>
    </p:spTree>
    <p:extLst>
      <p:ext uri="{BB962C8B-B14F-4D97-AF65-F5344CB8AC3E}">
        <p14:creationId xmlns:p14="http://schemas.microsoft.com/office/powerpoint/2010/main" val="66574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5861-B249-E708-04B4-C95496F4E84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45C9527-9467-97BE-E2E2-E8016FF6FCC7}"/>
              </a:ext>
            </a:extLst>
          </p:cNvPr>
          <p:cNvPicPr>
            <a:picLocks noGrp="1" noChangeAspect="1"/>
          </p:cNvPicPr>
          <p:nvPr>
            <p:ph idx="1"/>
          </p:nvPr>
        </p:nvPicPr>
        <p:blipFill>
          <a:blip r:embed="rId3"/>
          <a:stretch>
            <a:fillRect/>
          </a:stretch>
        </p:blipFill>
        <p:spPr>
          <a:xfrm>
            <a:off x="1942450" y="1825625"/>
            <a:ext cx="8307099" cy="4351338"/>
          </a:xfrm>
          <a:prstGeom prst="rect">
            <a:avLst/>
          </a:prstGeom>
        </p:spPr>
      </p:pic>
    </p:spTree>
    <p:extLst>
      <p:ext uri="{BB962C8B-B14F-4D97-AF65-F5344CB8AC3E}">
        <p14:creationId xmlns:p14="http://schemas.microsoft.com/office/powerpoint/2010/main" val="2106977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98D41-EFF1-06C2-5DF0-FDFC6CAE037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87BE0A5-9F71-CFB0-EBAB-11DF24E3163F}"/>
              </a:ext>
            </a:extLst>
          </p:cNvPr>
          <p:cNvPicPr>
            <a:picLocks noGrp="1" noChangeAspect="1"/>
          </p:cNvPicPr>
          <p:nvPr>
            <p:ph idx="1"/>
          </p:nvPr>
        </p:nvPicPr>
        <p:blipFill>
          <a:blip r:embed="rId3"/>
          <a:stretch>
            <a:fillRect/>
          </a:stretch>
        </p:blipFill>
        <p:spPr>
          <a:xfrm>
            <a:off x="1827632" y="1825625"/>
            <a:ext cx="8536735" cy="4351338"/>
          </a:xfrm>
          <a:prstGeom prst="rect">
            <a:avLst/>
          </a:prstGeom>
        </p:spPr>
      </p:pic>
    </p:spTree>
    <p:extLst>
      <p:ext uri="{BB962C8B-B14F-4D97-AF65-F5344CB8AC3E}">
        <p14:creationId xmlns:p14="http://schemas.microsoft.com/office/powerpoint/2010/main" val="1289073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E76C-5242-779B-8E90-2D5332991EE2}"/>
              </a:ext>
            </a:extLst>
          </p:cNvPr>
          <p:cNvSpPr>
            <a:spLocks noGrp="1"/>
          </p:cNvSpPr>
          <p:nvPr>
            <p:ph type="title"/>
          </p:nvPr>
        </p:nvSpPr>
        <p:spPr/>
        <p:txBody>
          <a:bodyPr/>
          <a:lstStyle/>
          <a:p>
            <a:r>
              <a:rPr lang="en-US" dirty="0"/>
              <a:t>Training Gans</a:t>
            </a:r>
          </a:p>
        </p:txBody>
      </p:sp>
      <p:pic>
        <p:nvPicPr>
          <p:cNvPr id="5" name="Content Placeholder 4">
            <a:extLst>
              <a:ext uri="{FF2B5EF4-FFF2-40B4-BE49-F238E27FC236}">
                <a16:creationId xmlns:a16="http://schemas.microsoft.com/office/drawing/2014/main" id="{4858F89E-0F45-2FCC-9ACD-5E98374209C4}"/>
              </a:ext>
            </a:extLst>
          </p:cNvPr>
          <p:cNvPicPr>
            <a:picLocks noGrp="1" noChangeAspect="1"/>
          </p:cNvPicPr>
          <p:nvPr>
            <p:ph idx="1"/>
          </p:nvPr>
        </p:nvPicPr>
        <p:blipFill>
          <a:blip r:embed="rId3"/>
          <a:stretch>
            <a:fillRect/>
          </a:stretch>
        </p:blipFill>
        <p:spPr>
          <a:xfrm>
            <a:off x="1948419" y="1825625"/>
            <a:ext cx="8295162" cy="4351338"/>
          </a:xfrm>
          <a:prstGeom prst="rect">
            <a:avLst/>
          </a:prstGeom>
        </p:spPr>
      </p:pic>
    </p:spTree>
    <p:extLst>
      <p:ext uri="{BB962C8B-B14F-4D97-AF65-F5344CB8AC3E}">
        <p14:creationId xmlns:p14="http://schemas.microsoft.com/office/powerpoint/2010/main" val="1281965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C80B-F0E8-8159-9F80-33C743EE3DA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86134BF-5E69-5C56-6034-50ADBF59846F}"/>
              </a:ext>
            </a:extLst>
          </p:cNvPr>
          <p:cNvPicPr>
            <a:picLocks noGrp="1" noChangeAspect="1"/>
          </p:cNvPicPr>
          <p:nvPr>
            <p:ph idx="1"/>
          </p:nvPr>
        </p:nvPicPr>
        <p:blipFill>
          <a:blip r:embed="rId3"/>
          <a:stretch>
            <a:fillRect/>
          </a:stretch>
        </p:blipFill>
        <p:spPr>
          <a:xfrm>
            <a:off x="1972374" y="1825625"/>
            <a:ext cx="8247251" cy="4351338"/>
          </a:xfrm>
          <a:prstGeom prst="rect">
            <a:avLst/>
          </a:prstGeom>
        </p:spPr>
      </p:pic>
    </p:spTree>
    <p:extLst>
      <p:ext uri="{BB962C8B-B14F-4D97-AF65-F5344CB8AC3E}">
        <p14:creationId xmlns:p14="http://schemas.microsoft.com/office/powerpoint/2010/main" val="2919193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350DC-3CDB-C3BD-8A54-9F8C43390D5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2FF8D2C-DE0F-3B8A-A9A7-3BE5DA56904B}"/>
              </a:ext>
            </a:extLst>
          </p:cNvPr>
          <p:cNvPicPr>
            <a:picLocks noGrp="1" noChangeAspect="1"/>
          </p:cNvPicPr>
          <p:nvPr>
            <p:ph idx="1"/>
          </p:nvPr>
        </p:nvPicPr>
        <p:blipFill>
          <a:blip r:embed="rId3"/>
          <a:stretch>
            <a:fillRect/>
          </a:stretch>
        </p:blipFill>
        <p:spPr>
          <a:xfrm>
            <a:off x="1381642" y="1825625"/>
            <a:ext cx="9428716" cy="4351338"/>
          </a:xfrm>
          <a:prstGeom prst="rect">
            <a:avLst/>
          </a:prstGeom>
        </p:spPr>
      </p:pic>
    </p:spTree>
    <p:extLst>
      <p:ext uri="{BB962C8B-B14F-4D97-AF65-F5344CB8AC3E}">
        <p14:creationId xmlns:p14="http://schemas.microsoft.com/office/powerpoint/2010/main" val="1525428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8470-EE4D-3AB5-8051-72CA69CCB27A}"/>
              </a:ext>
            </a:extLst>
          </p:cNvPr>
          <p:cNvSpPr>
            <a:spLocks noGrp="1"/>
          </p:cNvSpPr>
          <p:nvPr>
            <p:ph type="title"/>
          </p:nvPr>
        </p:nvSpPr>
        <p:spPr/>
        <p:txBody>
          <a:bodyPr/>
          <a:lstStyle/>
          <a:p>
            <a:r>
              <a:rPr lang="en-US" dirty="0"/>
              <a:t>Example explanation</a:t>
            </a:r>
          </a:p>
        </p:txBody>
      </p:sp>
      <p:pic>
        <p:nvPicPr>
          <p:cNvPr id="5" name="Content Placeholder 4">
            <a:extLst>
              <a:ext uri="{FF2B5EF4-FFF2-40B4-BE49-F238E27FC236}">
                <a16:creationId xmlns:a16="http://schemas.microsoft.com/office/drawing/2014/main" id="{42B53A38-FA15-53C5-AC0B-875AB08306AD}"/>
              </a:ext>
            </a:extLst>
          </p:cNvPr>
          <p:cNvPicPr>
            <a:picLocks noGrp="1" noChangeAspect="1"/>
          </p:cNvPicPr>
          <p:nvPr>
            <p:ph idx="1"/>
          </p:nvPr>
        </p:nvPicPr>
        <p:blipFill>
          <a:blip r:embed="rId3"/>
          <a:stretch>
            <a:fillRect/>
          </a:stretch>
        </p:blipFill>
        <p:spPr>
          <a:xfrm>
            <a:off x="1916970" y="1825625"/>
            <a:ext cx="8358060" cy="4351338"/>
          </a:xfrm>
          <a:prstGeom prst="rect">
            <a:avLst/>
          </a:prstGeom>
        </p:spPr>
      </p:pic>
    </p:spTree>
    <p:extLst>
      <p:ext uri="{BB962C8B-B14F-4D97-AF65-F5344CB8AC3E}">
        <p14:creationId xmlns:p14="http://schemas.microsoft.com/office/powerpoint/2010/main" val="877430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GAN algorithm</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20</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20</a:t>
            </a:fld>
            <a:endParaRPr lang="en-US"/>
          </a:p>
        </p:txBody>
      </p:sp>
      <p:pic>
        <p:nvPicPr>
          <p:cNvPr id="8" name="Picture 7">
            <a:extLst>
              <a:ext uri="{FF2B5EF4-FFF2-40B4-BE49-F238E27FC236}">
                <a16:creationId xmlns:a16="http://schemas.microsoft.com/office/drawing/2014/main" id="{DB5D2941-AB72-401D-8B62-AF7F32D93692}"/>
              </a:ext>
            </a:extLst>
          </p:cNvPr>
          <p:cNvPicPr>
            <a:picLocks noChangeAspect="1"/>
          </p:cNvPicPr>
          <p:nvPr/>
        </p:nvPicPr>
        <p:blipFill>
          <a:blip r:embed="rId3"/>
          <a:stretch>
            <a:fillRect/>
          </a:stretch>
        </p:blipFill>
        <p:spPr>
          <a:xfrm>
            <a:off x="814387" y="906175"/>
            <a:ext cx="10563225" cy="5410200"/>
          </a:xfrm>
          <a:prstGeom prst="rect">
            <a:avLst/>
          </a:prstGeom>
        </p:spPr>
      </p:pic>
    </p:spTree>
    <p:extLst>
      <p:ext uri="{BB962C8B-B14F-4D97-AF65-F5344CB8AC3E}">
        <p14:creationId xmlns:p14="http://schemas.microsoft.com/office/powerpoint/2010/main" val="1024243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Convolutional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21</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21</a:t>
            </a:fld>
            <a:endParaRPr lang="en-US"/>
          </a:p>
        </p:txBody>
      </p:sp>
      <p:sp>
        <p:nvSpPr>
          <p:cNvPr id="33" name="Content Placeholder 32">
            <a:extLst>
              <a:ext uri="{FF2B5EF4-FFF2-40B4-BE49-F238E27FC236}">
                <a16:creationId xmlns:a16="http://schemas.microsoft.com/office/drawing/2014/main" id="{465D80DC-0A40-488B-BCED-6C2D2F4097F1}"/>
              </a:ext>
            </a:extLst>
          </p:cNvPr>
          <p:cNvSpPr>
            <a:spLocks noGrp="1"/>
          </p:cNvSpPr>
          <p:nvPr>
            <p:ph idx="1"/>
          </p:nvPr>
        </p:nvSpPr>
        <p:spPr>
          <a:xfrm>
            <a:off x="379153" y="641113"/>
            <a:ext cx="11605324" cy="5236846"/>
          </a:xfrm>
        </p:spPr>
        <p:txBody>
          <a:bodyPr>
            <a:normAutofit/>
          </a:bodyPr>
          <a:lstStyle/>
          <a:p>
            <a:r>
              <a:rPr lang="en-US" dirty="0">
                <a:solidFill>
                  <a:srgbClr val="222222"/>
                </a:solidFill>
                <a:latin typeface="Source Sans Pro" panose="020B0503030403020204" pitchFamily="34" charset="0"/>
              </a:rPr>
              <a:t>Replace pooling layers with </a:t>
            </a:r>
            <a:r>
              <a:rPr lang="en-US" dirty="0" err="1">
                <a:solidFill>
                  <a:srgbClr val="222222"/>
                </a:solidFill>
                <a:latin typeface="Source Sans Pro" panose="020B0503030403020204" pitchFamily="34" charset="0"/>
              </a:rPr>
              <a:t>strided</a:t>
            </a:r>
            <a:r>
              <a:rPr lang="en-US" dirty="0">
                <a:solidFill>
                  <a:srgbClr val="222222"/>
                </a:solidFill>
                <a:latin typeface="Source Sans Pro" panose="020B0503030403020204" pitchFamily="34" charset="0"/>
              </a:rPr>
              <a:t> </a:t>
            </a:r>
            <a:r>
              <a:rPr lang="en-US" dirty="0" err="1">
                <a:solidFill>
                  <a:srgbClr val="222222"/>
                </a:solidFill>
                <a:latin typeface="Source Sans Pro" panose="020B0503030403020204" pitchFamily="34" charset="0"/>
              </a:rPr>
              <a:t>convs</a:t>
            </a:r>
            <a:r>
              <a:rPr lang="en-US" dirty="0">
                <a:solidFill>
                  <a:srgbClr val="222222"/>
                </a:solidFill>
                <a:latin typeface="Source Sans Pro" panose="020B0503030403020204" pitchFamily="34" charset="0"/>
              </a:rPr>
              <a:t> (discriminator) and factional-</a:t>
            </a:r>
            <a:r>
              <a:rPr lang="en-US" dirty="0" err="1">
                <a:solidFill>
                  <a:srgbClr val="222222"/>
                </a:solidFill>
                <a:latin typeface="Source Sans Pro" panose="020B0503030403020204" pitchFamily="34" charset="0"/>
              </a:rPr>
              <a:t>strided</a:t>
            </a:r>
            <a:r>
              <a:rPr lang="en-US" dirty="0">
                <a:solidFill>
                  <a:srgbClr val="222222"/>
                </a:solidFill>
                <a:latin typeface="Source Sans Pro" panose="020B0503030403020204" pitchFamily="34" charset="0"/>
              </a:rPr>
              <a:t> </a:t>
            </a:r>
            <a:r>
              <a:rPr lang="en-US" dirty="0" err="1">
                <a:solidFill>
                  <a:srgbClr val="222222"/>
                </a:solidFill>
                <a:latin typeface="Source Sans Pro" panose="020B0503030403020204" pitchFamily="34" charset="0"/>
              </a:rPr>
              <a:t>convs</a:t>
            </a:r>
            <a:r>
              <a:rPr lang="en-US" dirty="0">
                <a:solidFill>
                  <a:srgbClr val="222222"/>
                </a:solidFill>
                <a:latin typeface="Source Sans Pro" panose="020B0503030403020204" pitchFamily="34" charset="0"/>
              </a:rPr>
              <a:t> (generator)</a:t>
            </a:r>
          </a:p>
          <a:p>
            <a:pPr lvl="1"/>
            <a:r>
              <a:rPr lang="en-US" dirty="0" err="1">
                <a:solidFill>
                  <a:srgbClr val="222222"/>
                </a:solidFill>
                <a:latin typeface="Source Sans Pro" panose="020B0503030403020204" pitchFamily="34" charset="0"/>
              </a:rPr>
              <a:t>Strided</a:t>
            </a:r>
            <a:r>
              <a:rPr lang="en-US" dirty="0">
                <a:solidFill>
                  <a:srgbClr val="222222"/>
                </a:solidFill>
                <a:latin typeface="Source Sans Pro" panose="020B0503030403020204" pitchFamily="34" charset="0"/>
              </a:rPr>
              <a:t> conv means having stride greater than 1</a:t>
            </a:r>
          </a:p>
          <a:p>
            <a:pPr lvl="1"/>
            <a:r>
              <a:rPr lang="en-US" dirty="0">
                <a:solidFill>
                  <a:srgbClr val="222222"/>
                </a:solidFill>
                <a:latin typeface="Source Sans Pro" panose="020B0503030403020204" pitchFamily="34" charset="0"/>
              </a:rPr>
              <a:t>Fractional-</a:t>
            </a:r>
            <a:r>
              <a:rPr lang="en-US" dirty="0" err="1">
                <a:solidFill>
                  <a:srgbClr val="222222"/>
                </a:solidFill>
                <a:latin typeface="Source Sans Pro" panose="020B0503030403020204" pitchFamily="34" charset="0"/>
              </a:rPr>
              <a:t>strided</a:t>
            </a:r>
            <a:r>
              <a:rPr lang="en-US" dirty="0">
                <a:solidFill>
                  <a:srgbClr val="222222"/>
                </a:solidFill>
                <a:latin typeface="Source Sans Pro" panose="020B0503030403020204" pitchFamily="34" charset="0"/>
              </a:rPr>
              <a:t> conv means inserting zeros in input before applying filter (to increase size of image)</a:t>
            </a:r>
          </a:p>
          <a:p>
            <a:r>
              <a:rPr lang="en-US" b="0" i="0" dirty="0">
                <a:solidFill>
                  <a:srgbClr val="222222"/>
                </a:solidFill>
                <a:effectLst/>
                <a:latin typeface="Source Sans Pro" panose="020B0503030403020204" pitchFamily="34" charset="0"/>
              </a:rPr>
              <a:t>Use batch normalization in both</a:t>
            </a:r>
          </a:p>
          <a:p>
            <a:r>
              <a:rPr lang="en-US" dirty="0">
                <a:solidFill>
                  <a:srgbClr val="222222"/>
                </a:solidFill>
                <a:latin typeface="Source Sans Pro" panose="020B0503030403020204" pitchFamily="34" charset="0"/>
              </a:rPr>
              <a:t>Remove fully connected hidden layers</a:t>
            </a:r>
          </a:p>
          <a:p>
            <a:r>
              <a:rPr lang="en-US" b="0" i="0" dirty="0">
                <a:solidFill>
                  <a:srgbClr val="222222"/>
                </a:solidFill>
                <a:effectLst/>
                <a:latin typeface="Source Sans Pro" panose="020B0503030403020204" pitchFamily="34" charset="0"/>
              </a:rPr>
              <a:t>Use </a:t>
            </a:r>
            <a:r>
              <a:rPr lang="en-US" b="0" i="0" dirty="0" err="1">
                <a:solidFill>
                  <a:srgbClr val="222222"/>
                </a:solidFill>
                <a:effectLst/>
                <a:latin typeface="Source Sans Pro" panose="020B0503030403020204" pitchFamily="34" charset="0"/>
              </a:rPr>
              <a:t>ReLU</a:t>
            </a:r>
            <a:r>
              <a:rPr lang="en-US" b="0" i="0" dirty="0">
                <a:solidFill>
                  <a:srgbClr val="222222"/>
                </a:solidFill>
                <a:effectLst/>
                <a:latin typeface="Source Sans Pro" panose="020B0503030403020204" pitchFamily="34" charset="0"/>
              </a:rPr>
              <a:t> activation in Gen for all layers except outpu</a:t>
            </a:r>
            <a:r>
              <a:rPr lang="en-US" dirty="0">
                <a:solidFill>
                  <a:srgbClr val="222222"/>
                </a:solidFill>
                <a:latin typeface="Source Sans Pro" panose="020B0503030403020204" pitchFamily="34" charset="0"/>
              </a:rPr>
              <a:t>t which uses tanh</a:t>
            </a:r>
          </a:p>
          <a:p>
            <a:r>
              <a:rPr lang="en-US" b="0" i="0" dirty="0">
                <a:solidFill>
                  <a:srgbClr val="222222"/>
                </a:solidFill>
                <a:effectLst/>
                <a:latin typeface="Source Sans Pro" panose="020B0503030403020204" pitchFamily="34" charset="0"/>
              </a:rPr>
              <a:t>Use </a:t>
            </a:r>
            <a:r>
              <a:rPr lang="en-US" b="0" i="0" dirty="0" err="1">
                <a:solidFill>
                  <a:srgbClr val="222222"/>
                </a:solidFill>
                <a:effectLst/>
                <a:latin typeface="Source Sans Pro" panose="020B0503030403020204" pitchFamily="34" charset="0"/>
              </a:rPr>
              <a:t>LeakyReLU</a:t>
            </a:r>
            <a:r>
              <a:rPr lang="en-US" b="0" i="0" dirty="0">
                <a:solidFill>
                  <a:srgbClr val="222222"/>
                </a:solidFill>
                <a:effectLst/>
                <a:latin typeface="Source Sans Pro" panose="020B0503030403020204" pitchFamily="34" charset="0"/>
              </a:rPr>
              <a:t> activation in Discriminator for all layers</a:t>
            </a:r>
            <a:endParaRPr lang="en-GB" b="0" i="0" dirty="0">
              <a:solidFill>
                <a:srgbClr val="222222"/>
              </a:solidFill>
              <a:effectLst/>
              <a:latin typeface="Source Sans Pro" panose="020B0503030403020204" pitchFamily="34" charset="0"/>
            </a:endParaRPr>
          </a:p>
        </p:txBody>
      </p:sp>
    </p:spTree>
    <p:extLst>
      <p:ext uri="{BB962C8B-B14F-4D97-AF65-F5344CB8AC3E}">
        <p14:creationId xmlns:p14="http://schemas.microsoft.com/office/powerpoint/2010/main" val="950120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Convolutional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22</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22</a:t>
            </a:fld>
            <a:endParaRPr lang="en-US"/>
          </a:p>
        </p:txBody>
      </p:sp>
      <p:pic>
        <p:nvPicPr>
          <p:cNvPr id="6" name="Picture 5">
            <a:extLst>
              <a:ext uri="{FF2B5EF4-FFF2-40B4-BE49-F238E27FC236}">
                <a16:creationId xmlns:a16="http://schemas.microsoft.com/office/drawing/2014/main" id="{7B6E06AD-BD8C-4392-AAC3-E48B4599693B}"/>
              </a:ext>
            </a:extLst>
          </p:cNvPr>
          <p:cNvPicPr>
            <a:picLocks noChangeAspect="1"/>
          </p:cNvPicPr>
          <p:nvPr/>
        </p:nvPicPr>
        <p:blipFill>
          <a:blip r:embed="rId3"/>
          <a:stretch>
            <a:fillRect/>
          </a:stretch>
        </p:blipFill>
        <p:spPr>
          <a:xfrm>
            <a:off x="0" y="939445"/>
            <a:ext cx="12192000" cy="4979110"/>
          </a:xfrm>
          <a:prstGeom prst="rect">
            <a:avLst/>
          </a:prstGeom>
        </p:spPr>
      </p:pic>
    </p:spTree>
    <p:extLst>
      <p:ext uri="{BB962C8B-B14F-4D97-AF65-F5344CB8AC3E}">
        <p14:creationId xmlns:p14="http://schemas.microsoft.com/office/powerpoint/2010/main" val="286959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6C3C0-0880-70F2-FDA7-8FB9B7B8E59E}"/>
              </a:ext>
            </a:extLst>
          </p:cNvPr>
          <p:cNvSpPr>
            <a:spLocks noGrp="1"/>
          </p:cNvSpPr>
          <p:nvPr>
            <p:ph type="title"/>
          </p:nvPr>
        </p:nvSpPr>
        <p:spPr/>
        <p:txBody>
          <a:bodyPr/>
          <a:lstStyle/>
          <a:p>
            <a:r>
              <a:rPr lang="en-US" dirty="0"/>
              <a:t>Applications of GANS</a:t>
            </a:r>
          </a:p>
        </p:txBody>
      </p:sp>
      <p:pic>
        <p:nvPicPr>
          <p:cNvPr id="5" name="Content Placeholder 4">
            <a:extLst>
              <a:ext uri="{FF2B5EF4-FFF2-40B4-BE49-F238E27FC236}">
                <a16:creationId xmlns:a16="http://schemas.microsoft.com/office/drawing/2014/main" id="{24B95733-DA0C-F473-9715-4901687E860C}"/>
              </a:ext>
            </a:extLst>
          </p:cNvPr>
          <p:cNvPicPr>
            <a:picLocks noGrp="1" noChangeAspect="1"/>
          </p:cNvPicPr>
          <p:nvPr>
            <p:ph idx="1"/>
          </p:nvPr>
        </p:nvPicPr>
        <p:blipFill>
          <a:blip r:embed="rId2"/>
          <a:stretch>
            <a:fillRect/>
          </a:stretch>
        </p:blipFill>
        <p:spPr>
          <a:xfrm>
            <a:off x="2051032" y="1825625"/>
            <a:ext cx="8089936" cy="4351338"/>
          </a:xfrm>
          <a:prstGeom prst="rect">
            <a:avLst/>
          </a:prstGeom>
        </p:spPr>
      </p:pic>
    </p:spTree>
    <p:extLst>
      <p:ext uri="{BB962C8B-B14F-4D97-AF65-F5344CB8AC3E}">
        <p14:creationId xmlns:p14="http://schemas.microsoft.com/office/powerpoint/2010/main" val="1595214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F058-136E-EEFB-574B-8C32474FC38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C2F4D83-EFD7-A22F-030C-BBBEB16EF551}"/>
              </a:ext>
            </a:extLst>
          </p:cNvPr>
          <p:cNvPicPr>
            <a:picLocks noGrp="1" noChangeAspect="1"/>
          </p:cNvPicPr>
          <p:nvPr>
            <p:ph idx="1"/>
          </p:nvPr>
        </p:nvPicPr>
        <p:blipFill>
          <a:blip r:embed="rId2"/>
          <a:stretch>
            <a:fillRect/>
          </a:stretch>
        </p:blipFill>
        <p:spPr>
          <a:xfrm>
            <a:off x="1683640" y="1825625"/>
            <a:ext cx="8824720" cy="4351338"/>
          </a:xfrm>
          <a:prstGeom prst="rect">
            <a:avLst/>
          </a:prstGeom>
        </p:spPr>
      </p:pic>
    </p:spTree>
    <p:extLst>
      <p:ext uri="{BB962C8B-B14F-4D97-AF65-F5344CB8AC3E}">
        <p14:creationId xmlns:p14="http://schemas.microsoft.com/office/powerpoint/2010/main" val="1943698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5D8F-30C9-516C-D3F6-9F73FDBA0BF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C40999C-D57D-F641-BA70-40DF1FF7489D}"/>
              </a:ext>
            </a:extLst>
          </p:cNvPr>
          <p:cNvPicPr>
            <a:picLocks noGrp="1" noChangeAspect="1"/>
          </p:cNvPicPr>
          <p:nvPr>
            <p:ph idx="1"/>
          </p:nvPr>
        </p:nvPicPr>
        <p:blipFill>
          <a:blip r:embed="rId2"/>
          <a:stretch>
            <a:fillRect/>
          </a:stretch>
        </p:blipFill>
        <p:spPr>
          <a:xfrm>
            <a:off x="1564774" y="1825625"/>
            <a:ext cx="9062451" cy="4351338"/>
          </a:xfrm>
          <a:prstGeom prst="rect">
            <a:avLst/>
          </a:prstGeom>
        </p:spPr>
      </p:pic>
    </p:spTree>
    <p:extLst>
      <p:ext uri="{BB962C8B-B14F-4D97-AF65-F5344CB8AC3E}">
        <p14:creationId xmlns:p14="http://schemas.microsoft.com/office/powerpoint/2010/main" val="242552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8AAB5-55E2-CD81-05C4-5A28396C384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810FAE8-55B3-E89E-549F-5746ED7D4FDD}"/>
              </a:ext>
            </a:extLst>
          </p:cNvPr>
          <p:cNvPicPr>
            <a:picLocks noGrp="1" noChangeAspect="1"/>
          </p:cNvPicPr>
          <p:nvPr>
            <p:ph idx="1"/>
          </p:nvPr>
        </p:nvPicPr>
        <p:blipFill>
          <a:blip r:embed="rId2"/>
          <a:stretch>
            <a:fillRect/>
          </a:stretch>
        </p:blipFill>
        <p:spPr>
          <a:xfrm>
            <a:off x="892223" y="1825625"/>
            <a:ext cx="10407553" cy="4351338"/>
          </a:xfrm>
          <a:prstGeom prst="rect">
            <a:avLst/>
          </a:prstGeom>
        </p:spPr>
      </p:pic>
    </p:spTree>
    <p:extLst>
      <p:ext uri="{BB962C8B-B14F-4D97-AF65-F5344CB8AC3E}">
        <p14:creationId xmlns:p14="http://schemas.microsoft.com/office/powerpoint/2010/main" val="125363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618B9-811B-E9CD-AC47-AE470A84F5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1C6D5E-EE0A-D55D-5995-EAAEE93C3B1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384C292-2B2A-98E6-C036-344402CC9AA3}"/>
              </a:ext>
            </a:extLst>
          </p:cNvPr>
          <p:cNvPicPr>
            <a:picLocks noChangeAspect="1"/>
          </p:cNvPicPr>
          <p:nvPr/>
        </p:nvPicPr>
        <p:blipFill>
          <a:blip r:embed="rId2"/>
          <a:stretch>
            <a:fillRect/>
          </a:stretch>
        </p:blipFill>
        <p:spPr>
          <a:xfrm>
            <a:off x="0" y="788898"/>
            <a:ext cx="12192000" cy="5280203"/>
          </a:xfrm>
          <a:prstGeom prst="rect">
            <a:avLst/>
          </a:prstGeom>
        </p:spPr>
      </p:pic>
    </p:spTree>
    <p:extLst>
      <p:ext uri="{BB962C8B-B14F-4D97-AF65-F5344CB8AC3E}">
        <p14:creationId xmlns:p14="http://schemas.microsoft.com/office/powerpoint/2010/main" val="4178701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40640"/>
            <a:ext cx="11291454" cy="770948"/>
          </a:xfrm>
        </p:spPr>
        <p:txBody>
          <a:bodyPr/>
          <a:lstStyle/>
          <a:p>
            <a:r>
              <a:rPr lang="en-US" dirty="0"/>
              <a:t>GAN Examples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28</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28</a:t>
            </a:fld>
            <a:endParaRPr lang="en-US"/>
          </a:p>
        </p:txBody>
      </p:sp>
      <p:pic>
        <p:nvPicPr>
          <p:cNvPr id="8" name="Picture 7">
            <a:extLst>
              <a:ext uri="{FF2B5EF4-FFF2-40B4-BE49-F238E27FC236}">
                <a16:creationId xmlns:a16="http://schemas.microsoft.com/office/drawing/2014/main" id="{27B755E2-5BAA-4449-8702-D7308D4B27F7}"/>
              </a:ext>
            </a:extLst>
          </p:cNvPr>
          <p:cNvPicPr>
            <a:picLocks noChangeAspect="1"/>
          </p:cNvPicPr>
          <p:nvPr/>
        </p:nvPicPr>
        <p:blipFill>
          <a:blip r:embed="rId3"/>
          <a:stretch>
            <a:fillRect/>
          </a:stretch>
        </p:blipFill>
        <p:spPr>
          <a:xfrm>
            <a:off x="0" y="961203"/>
            <a:ext cx="12192000" cy="4935594"/>
          </a:xfrm>
          <a:prstGeom prst="rect">
            <a:avLst/>
          </a:prstGeom>
        </p:spPr>
      </p:pic>
    </p:spTree>
    <p:extLst>
      <p:ext uri="{BB962C8B-B14F-4D97-AF65-F5344CB8AC3E}">
        <p14:creationId xmlns:p14="http://schemas.microsoft.com/office/powerpoint/2010/main" val="322184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40640"/>
            <a:ext cx="11291454" cy="770948"/>
          </a:xfrm>
        </p:spPr>
        <p:txBody>
          <a:bodyPr/>
          <a:lstStyle/>
          <a:p>
            <a:r>
              <a:rPr lang="en-US" dirty="0"/>
              <a:t>GAN Examples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29</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29</a:t>
            </a:fld>
            <a:endParaRPr lang="en-US"/>
          </a:p>
        </p:txBody>
      </p:sp>
      <p:pic>
        <p:nvPicPr>
          <p:cNvPr id="6" name="Picture 5">
            <a:extLst>
              <a:ext uri="{FF2B5EF4-FFF2-40B4-BE49-F238E27FC236}">
                <a16:creationId xmlns:a16="http://schemas.microsoft.com/office/drawing/2014/main" id="{AA936659-B174-43D9-A29D-388AA4B42E4E}"/>
              </a:ext>
            </a:extLst>
          </p:cNvPr>
          <p:cNvPicPr>
            <a:picLocks noChangeAspect="1"/>
          </p:cNvPicPr>
          <p:nvPr/>
        </p:nvPicPr>
        <p:blipFill>
          <a:blip r:embed="rId3"/>
          <a:stretch>
            <a:fillRect/>
          </a:stretch>
        </p:blipFill>
        <p:spPr>
          <a:xfrm>
            <a:off x="0" y="1042267"/>
            <a:ext cx="12192000" cy="4773465"/>
          </a:xfrm>
          <a:prstGeom prst="rect">
            <a:avLst/>
          </a:prstGeom>
        </p:spPr>
      </p:pic>
    </p:spTree>
    <p:extLst>
      <p:ext uri="{BB962C8B-B14F-4D97-AF65-F5344CB8AC3E}">
        <p14:creationId xmlns:p14="http://schemas.microsoft.com/office/powerpoint/2010/main" val="1670226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Convolutional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30</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30</a:t>
            </a:fld>
            <a:endParaRPr lang="en-US"/>
          </a:p>
        </p:txBody>
      </p:sp>
      <p:pic>
        <p:nvPicPr>
          <p:cNvPr id="7" name="Picture 6">
            <a:extLst>
              <a:ext uri="{FF2B5EF4-FFF2-40B4-BE49-F238E27FC236}">
                <a16:creationId xmlns:a16="http://schemas.microsoft.com/office/drawing/2014/main" id="{EB18ED1E-CE8A-4321-BEB2-8729998996C1}"/>
              </a:ext>
            </a:extLst>
          </p:cNvPr>
          <p:cNvPicPr>
            <a:picLocks noChangeAspect="1"/>
          </p:cNvPicPr>
          <p:nvPr/>
        </p:nvPicPr>
        <p:blipFill>
          <a:blip r:embed="rId3"/>
          <a:stretch>
            <a:fillRect/>
          </a:stretch>
        </p:blipFill>
        <p:spPr>
          <a:xfrm>
            <a:off x="0" y="879415"/>
            <a:ext cx="12192000" cy="5099170"/>
          </a:xfrm>
          <a:prstGeom prst="rect">
            <a:avLst/>
          </a:prstGeom>
        </p:spPr>
      </p:pic>
    </p:spTree>
    <p:extLst>
      <p:ext uri="{BB962C8B-B14F-4D97-AF65-F5344CB8AC3E}">
        <p14:creationId xmlns:p14="http://schemas.microsoft.com/office/powerpoint/2010/main" val="3677017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Convolutional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31</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31</a:t>
            </a:fld>
            <a:endParaRPr lang="en-US"/>
          </a:p>
        </p:txBody>
      </p:sp>
      <p:pic>
        <p:nvPicPr>
          <p:cNvPr id="6" name="Picture 5">
            <a:extLst>
              <a:ext uri="{FF2B5EF4-FFF2-40B4-BE49-F238E27FC236}">
                <a16:creationId xmlns:a16="http://schemas.microsoft.com/office/drawing/2014/main" id="{021C843F-B869-4ADD-B7C0-292928AD89BE}"/>
              </a:ext>
            </a:extLst>
          </p:cNvPr>
          <p:cNvPicPr>
            <a:picLocks noChangeAspect="1"/>
          </p:cNvPicPr>
          <p:nvPr/>
        </p:nvPicPr>
        <p:blipFill>
          <a:blip r:embed="rId3"/>
          <a:stretch>
            <a:fillRect/>
          </a:stretch>
        </p:blipFill>
        <p:spPr>
          <a:xfrm>
            <a:off x="0" y="660382"/>
            <a:ext cx="12192000" cy="5537235"/>
          </a:xfrm>
          <a:prstGeom prst="rect">
            <a:avLst/>
          </a:prstGeom>
        </p:spPr>
      </p:pic>
    </p:spTree>
    <p:extLst>
      <p:ext uri="{BB962C8B-B14F-4D97-AF65-F5344CB8AC3E}">
        <p14:creationId xmlns:p14="http://schemas.microsoft.com/office/powerpoint/2010/main" val="3804018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Advanced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32</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32</a:t>
            </a:fld>
            <a:endParaRPr lang="en-US"/>
          </a:p>
        </p:txBody>
      </p:sp>
      <p:pic>
        <p:nvPicPr>
          <p:cNvPr id="7" name="Picture 6">
            <a:extLst>
              <a:ext uri="{FF2B5EF4-FFF2-40B4-BE49-F238E27FC236}">
                <a16:creationId xmlns:a16="http://schemas.microsoft.com/office/drawing/2014/main" id="{F5CC1502-5B4B-45E1-AE26-3D3599B83EE3}"/>
              </a:ext>
            </a:extLst>
          </p:cNvPr>
          <p:cNvPicPr>
            <a:picLocks noChangeAspect="1"/>
          </p:cNvPicPr>
          <p:nvPr/>
        </p:nvPicPr>
        <p:blipFill>
          <a:blip r:embed="rId3"/>
          <a:stretch>
            <a:fillRect/>
          </a:stretch>
        </p:blipFill>
        <p:spPr>
          <a:xfrm>
            <a:off x="189576" y="648291"/>
            <a:ext cx="11670607" cy="5671547"/>
          </a:xfrm>
          <a:prstGeom prst="rect">
            <a:avLst/>
          </a:prstGeom>
        </p:spPr>
      </p:pic>
    </p:spTree>
    <p:extLst>
      <p:ext uri="{BB962C8B-B14F-4D97-AF65-F5344CB8AC3E}">
        <p14:creationId xmlns:p14="http://schemas.microsoft.com/office/powerpoint/2010/main" val="2158322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Advanced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33</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33</a:t>
            </a:fld>
            <a:endParaRPr lang="en-US"/>
          </a:p>
        </p:txBody>
      </p:sp>
      <p:pic>
        <p:nvPicPr>
          <p:cNvPr id="6" name="Picture 5">
            <a:extLst>
              <a:ext uri="{FF2B5EF4-FFF2-40B4-BE49-F238E27FC236}">
                <a16:creationId xmlns:a16="http://schemas.microsoft.com/office/drawing/2014/main" id="{8BB265E7-D72C-49D1-B001-5F3206DA8106}"/>
              </a:ext>
            </a:extLst>
          </p:cNvPr>
          <p:cNvPicPr>
            <a:picLocks noChangeAspect="1"/>
          </p:cNvPicPr>
          <p:nvPr/>
        </p:nvPicPr>
        <p:blipFill>
          <a:blip r:embed="rId3"/>
          <a:stretch>
            <a:fillRect/>
          </a:stretch>
        </p:blipFill>
        <p:spPr>
          <a:xfrm>
            <a:off x="1185055" y="770948"/>
            <a:ext cx="9821890" cy="5688631"/>
          </a:xfrm>
          <a:prstGeom prst="rect">
            <a:avLst/>
          </a:prstGeom>
        </p:spPr>
      </p:pic>
    </p:spTree>
    <p:extLst>
      <p:ext uri="{BB962C8B-B14F-4D97-AF65-F5344CB8AC3E}">
        <p14:creationId xmlns:p14="http://schemas.microsoft.com/office/powerpoint/2010/main" val="3066321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379153" y="0"/>
            <a:ext cx="11291454" cy="770948"/>
          </a:xfrm>
        </p:spPr>
        <p:txBody>
          <a:bodyPr/>
          <a:lstStyle/>
          <a:p>
            <a:r>
              <a:rPr lang="en-US" dirty="0"/>
              <a:t>GANs: Advanced Architectures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34</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34</a:t>
            </a:fld>
            <a:endParaRPr lang="en-US"/>
          </a:p>
        </p:txBody>
      </p:sp>
      <p:pic>
        <p:nvPicPr>
          <p:cNvPr id="6" name="Picture 5">
            <a:extLst>
              <a:ext uri="{FF2B5EF4-FFF2-40B4-BE49-F238E27FC236}">
                <a16:creationId xmlns:a16="http://schemas.microsoft.com/office/drawing/2014/main" id="{8C65CE22-8E9A-4562-8B35-0A915F068A0B}"/>
              </a:ext>
            </a:extLst>
          </p:cNvPr>
          <p:cNvPicPr>
            <a:picLocks noChangeAspect="1"/>
          </p:cNvPicPr>
          <p:nvPr/>
        </p:nvPicPr>
        <p:blipFill>
          <a:blip r:embed="rId3"/>
          <a:stretch>
            <a:fillRect/>
          </a:stretch>
        </p:blipFill>
        <p:spPr>
          <a:xfrm>
            <a:off x="1002607" y="863801"/>
            <a:ext cx="10668000" cy="5326673"/>
          </a:xfrm>
          <a:prstGeom prst="rect">
            <a:avLst/>
          </a:prstGeom>
        </p:spPr>
      </p:pic>
    </p:spTree>
    <p:extLst>
      <p:ext uri="{BB962C8B-B14F-4D97-AF65-F5344CB8AC3E}">
        <p14:creationId xmlns:p14="http://schemas.microsoft.com/office/powerpoint/2010/main" val="4223060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2353</Words>
  <Application>Microsoft Office PowerPoint</Application>
  <PresentationFormat>Widescreen</PresentationFormat>
  <Paragraphs>118</Paragraphs>
  <Slides>34</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Source Sans Pro</vt:lpstr>
      <vt:lpstr>Office Theme</vt:lpstr>
      <vt:lpstr>GANS </vt:lpstr>
      <vt:lpstr>GANS</vt:lpstr>
      <vt:lpstr>PowerPoint Presentation</vt:lpstr>
      <vt:lpstr>PowerPoint Presentation</vt:lpstr>
      <vt:lpstr>example</vt:lpstr>
      <vt:lpstr>PowerPoint Presentation</vt:lpstr>
      <vt:lpstr>PowerPoint Presentation</vt:lpstr>
      <vt:lpstr>PowerPoint Presentation</vt:lpstr>
      <vt:lpstr>PowerPoint Presentation</vt:lpstr>
      <vt:lpstr>Training networks</vt:lpstr>
      <vt:lpstr>PowerPoint Presentation</vt:lpstr>
      <vt:lpstr>PowerPoint Presentation</vt:lpstr>
      <vt:lpstr>PowerPoint Presentation</vt:lpstr>
      <vt:lpstr>PowerPoint Presentation</vt:lpstr>
      <vt:lpstr>PowerPoint Presentation</vt:lpstr>
      <vt:lpstr>Training Gans</vt:lpstr>
      <vt:lpstr>PowerPoint Presentation</vt:lpstr>
      <vt:lpstr>PowerPoint Presentation</vt:lpstr>
      <vt:lpstr>Example explanation</vt:lpstr>
      <vt:lpstr>GAN algorithm</vt:lpstr>
      <vt:lpstr>GANs: Convolutional Architectures</vt:lpstr>
      <vt:lpstr>GANs: Convolutional Architectures</vt:lpstr>
      <vt:lpstr>Applications of GANS</vt:lpstr>
      <vt:lpstr>PowerPoint Presentation</vt:lpstr>
      <vt:lpstr>PowerPoint Presentation</vt:lpstr>
      <vt:lpstr>PowerPoint Presentation</vt:lpstr>
      <vt:lpstr>PowerPoint Presentation</vt:lpstr>
      <vt:lpstr>GAN Examples</vt:lpstr>
      <vt:lpstr>GAN Examples</vt:lpstr>
      <vt:lpstr>GANs: Convolutional Architectures</vt:lpstr>
      <vt:lpstr>GANs: Convolutional Architectures</vt:lpstr>
      <vt:lpstr>GANs: Advanced Architectures</vt:lpstr>
      <vt:lpstr>GANs: Advanced Architectures</vt:lpstr>
      <vt:lpstr>GANs: Advanced Architectures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Hanen T. Himdi</dc:creator>
  <cp:lastModifiedBy>OTHMAN SAED MOHAMAD SAED</cp:lastModifiedBy>
  <cp:revision>1</cp:revision>
  <dcterms:created xsi:type="dcterms:W3CDTF">2026-01-28T09:35:06Z</dcterms:created>
  <dcterms:modified xsi:type="dcterms:W3CDTF">2026-04-25T15:17:49Z</dcterms:modified>
</cp:coreProperties>
</file>