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37"/>
  </p:notesMasterIdLst>
  <p:sldIdLst>
    <p:sldId id="532" r:id="rId2"/>
    <p:sldId id="607" r:id="rId3"/>
    <p:sldId id="623" r:id="rId4"/>
    <p:sldId id="624" r:id="rId5"/>
    <p:sldId id="625" r:id="rId6"/>
    <p:sldId id="608" r:id="rId7"/>
    <p:sldId id="507" r:id="rId8"/>
    <p:sldId id="627" r:id="rId9"/>
    <p:sldId id="626" r:id="rId10"/>
    <p:sldId id="628" r:id="rId11"/>
    <p:sldId id="629" r:id="rId12"/>
    <p:sldId id="630" r:id="rId13"/>
    <p:sldId id="631" r:id="rId14"/>
    <p:sldId id="632" r:id="rId15"/>
    <p:sldId id="633" r:id="rId16"/>
    <p:sldId id="634" r:id="rId17"/>
    <p:sldId id="636" r:id="rId18"/>
    <p:sldId id="635" r:id="rId19"/>
    <p:sldId id="637" r:id="rId20"/>
    <p:sldId id="639" r:id="rId21"/>
    <p:sldId id="638" r:id="rId22"/>
    <p:sldId id="640" r:id="rId23"/>
    <p:sldId id="641" r:id="rId24"/>
    <p:sldId id="642" r:id="rId25"/>
    <p:sldId id="643" r:id="rId26"/>
    <p:sldId id="645" r:id="rId27"/>
    <p:sldId id="647" r:id="rId28"/>
    <p:sldId id="648" r:id="rId29"/>
    <p:sldId id="646" r:id="rId30"/>
    <p:sldId id="649" r:id="rId31"/>
    <p:sldId id="650" r:id="rId32"/>
    <p:sldId id="651" r:id="rId33"/>
    <p:sldId id="652" r:id="rId34"/>
    <p:sldId id="653" r:id="rId35"/>
    <p:sldId id="65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82" autoAdjust="0"/>
    <p:restoredTop sz="95501" autoAdjust="0"/>
  </p:normalViewPr>
  <p:slideViewPr>
    <p:cSldViewPr snapToGrid="0">
      <p:cViewPr varScale="1">
        <p:scale>
          <a:sx n="91" d="100"/>
          <a:sy n="91" d="100"/>
        </p:scale>
        <p:origin x="79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THMAN SAED MOHAMAD SAED" userId="74efeeda-7467-4fe6-944b-2051fe18268d" providerId="ADAL" clId="{6FC4511E-9904-49B6-9AD9-C6C10670FDF8}"/>
    <pc:docChg chg="modSld sldOrd">
      <pc:chgData name="OTHMAN SAED MOHAMAD SAED" userId="74efeeda-7467-4fe6-944b-2051fe18268d" providerId="ADAL" clId="{6FC4511E-9904-49B6-9AD9-C6C10670FDF8}" dt="2026-02-22T05:31:39.098" v="7"/>
      <pc:docMkLst>
        <pc:docMk/>
      </pc:docMkLst>
      <pc:sldChg chg="ord">
        <pc:chgData name="OTHMAN SAED MOHAMAD SAED" userId="74efeeda-7467-4fe6-944b-2051fe18268d" providerId="ADAL" clId="{6FC4511E-9904-49B6-9AD9-C6C10670FDF8}" dt="2026-02-22T05:30:24.125" v="1"/>
        <pc:sldMkLst>
          <pc:docMk/>
          <pc:sldMk cId="3628460855" sldId="608"/>
        </pc:sldMkLst>
      </pc:sldChg>
      <pc:sldChg chg="ord">
        <pc:chgData name="OTHMAN SAED MOHAMAD SAED" userId="74efeeda-7467-4fe6-944b-2051fe18268d" providerId="ADAL" clId="{6FC4511E-9904-49B6-9AD9-C6C10670FDF8}" dt="2026-02-22T05:30:30.197" v="3"/>
        <pc:sldMkLst>
          <pc:docMk/>
          <pc:sldMk cId="2036331424" sldId="625"/>
        </pc:sldMkLst>
      </pc:sldChg>
      <pc:sldChg chg="ord">
        <pc:chgData name="OTHMAN SAED MOHAMAD SAED" userId="74efeeda-7467-4fe6-944b-2051fe18268d" providerId="ADAL" clId="{6FC4511E-9904-49B6-9AD9-C6C10670FDF8}" dt="2026-02-22T05:31:39.098" v="7"/>
        <pc:sldMkLst>
          <pc:docMk/>
          <pc:sldMk cId="2125863151" sldId="62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9143-8A79-4207-B28B-5B935E50198F}"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86E464-822A-46D8-9E7A-C764D9CEF4D5}" type="slidenum">
              <a:rPr lang="en-US" smtClean="0"/>
              <a:t>‹#›</a:t>
            </a:fld>
            <a:endParaRPr lang="en-US"/>
          </a:p>
        </p:txBody>
      </p:sp>
    </p:spTree>
    <p:extLst>
      <p:ext uri="{BB962C8B-B14F-4D97-AF65-F5344CB8AC3E}">
        <p14:creationId xmlns:p14="http://schemas.microsoft.com/office/powerpoint/2010/main" val="15760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a:t>
            </a:fld>
            <a:endParaRPr lang="en-US"/>
          </a:p>
        </p:txBody>
      </p:sp>
    </p:spTree>
    <p:extLst>
      <p:ext uri="{BB962C8B-B14F-4D97-AF65-F5344CB8AC3E}">
        <p14:creationId xmlns:p14="http://schemas.microsoft.com/office/powerpoint/2010/main" val="22996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a:t>
            </a:fld>
            <a:endParaRPr lang="en-US"/>
          </a:p>
        </p:txBody>
      </p:sp>
    </p:spTree>
    <p:extLst>
      <p:ext uri="{BB962C8B-B14F-4D97-AF65-F5344CB8AC3E}">
        <p14:creationId xmlns:p14="http://schemas.microsoft.com/office/powerpoint/2010/main" val="1892168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4</a:t>
            </a:fld>
            <a:endParaRPr lang="en-US"/>
          </a:p>
        </p:txBody>
      </p:sp>
    </p:spTree>
    <p:extLst>
      <p:ext uri="{BB962C8B-B14F-4D97-AF65-F5344CB8AC3E}">
        <p14:creationId xmlns:p14="http://schemas.microsoft.com/office/powerpoint/2010/main" val="3549196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5</a:t>
            </a:fld>
            <a:endParaRPr lang="en-US"/>
          </a:p>
        </p:txBody>
      </p:sp>
    </p:spTree>
    <p:extLst>
      <p:ext uri="{BB962C8B-B14F-4D97-AF65-F5344CB8AC3E}">
        <p14:creationId xmlns:p14="http://schemas.microsoft.com/office/powerpoint/2010/main" val="3557938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6</a:t>
            </a:fld>
            <a:endParaRPr lang="en-US"/>
          </a:p>
        </p:txBody>
      </p:sp>
    </p:spTree>
    <p:extLst>
      <p:ext uri="{BB962C8B-B14F-4D97-AF65-F5344CB8AC3E}">
        <p14:creationId xmlns:p14="http://schemas.microsoft.com/office/powerpoint/2010/main" val="1919048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7</a:t>
            </a:fld>
            <a:endParaRPr lang="en-US"/>
          </a:p>
        </p:txBody>
      </p:sp>
    </p:spTree>
    <p:extLst>
      <p:ext uri="{BB962C8B-B14F-4D97-AF65-F5344CB8AC3E}">
        <p14:creationId xmlns:p14="http://schemas.microsoft.com/office/powerpoint/2010/main" val="3652585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8</a:t>
            </a:fld>
            <a:endParaRPr lang="en-US"/>
          </a:p>
        </p:txBody>
      </p:sp>
    </p:spTree>
    <p:extLst>
      <p:ext uri="{BB962C8B-B14F-4D97-AF65-F5344CB8AC3E}">
        <p14:creationId xmlns:p14="http://schemas.microsoft.com/office/powerpoint/2010/main" val="1589871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9</a:t>
            </a:fld>
            <a:endParaRPr lang="en-US"/>
          </a:p>
        </p:txBody>
      </p:sp>
    </p:spTree>
    <p:extLst>
      <p:ext uri="{BB962C8B-B14F-4D97-AF65-F5344CB8AC3E}">
        <p14:creationId xmlns:p14="http://schemas.microsoft.com/office/powerpoint/2010/main" val="1365173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10</a:t>
            </a:fld>
            <a:endParaRPr lang="en-US"/>
          </a:p>
        </p:txBody>
      </p:sp>
    </p:spTree>
    <p:extLst>
      <p:ext uri="{BB962C8B-B14F-4D97-AF65-F5344CB8AC3E}">
        <p14:creationId xmlns:p14="http://schemas.microsoft.com/office/powerpoint/2010/main" val="1148118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11</a:t>
            </a:fld>
            <a:endParaRPr lang="en-US"/>
          </a:p>
        </p:txBody>
      </p:sp>
    </p:spTree>
    <p:extLst>
      <p:ext uri="{BB962C8B-B14F-4D97-AF65-F5344CB8AC3E}">
        <p14:creationId xmlns:p14="http://schemas.microsoft.com/office/powerpoint/2010/main" val="3172341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12</a:t>
            </a:fld>
            <a:endParaRPr lang="en-US"/>
          </a:p>
        </p:txBody>
      </p:sp>
    </p:spTree>
    <p:extLst>
      <p:ext uri="{BB962C8B-B14F-4D97-AF65-F5344CB8AC3E}">
        <p14:creationId xmlns:p14="http://schemas.microsoft.com/office/powerpoint/2010/main" val="2108147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13</a:t>
            </a:fld>
            <a:endParaRPr lang="en-US"/>
          </a:p>
        </p:txBody>
      </p:sp>
    </p:spTree>
    <p:extLst>
      <p:ext uri="{BB962C8B-B14F-4D97-AF65-F5344CB8AC3E}">
        <p14:creationId xmlns:p14="http://schemas.microsoft.com/office/powerpoint/2010/main" val="320943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14</a:t>
            </a:fld>
            <a:endParaRPr lang="en-US"/>
          </a:p>
        </p:txBody>
      </p:sp>
    </p:spTree>
    <p:extLst>
      <p:ext uri="{BB962C8B-B14F-4D97-AF65-F5344CB8AC3E}">
        <p14:creationId xmlns:p14="http://schemas.microsoft.com/office/powerpoint/2010/main" val="162097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15</a:t>
            </a:fld>
            <a:endParaRPr lang="en-US"/>
          </a:p>
        </p:txBody>
      </p:sp>
    </p:spTree>
    <p:extLst>
      <p:ext uri="{BB962C8B-B14F-4D97-AF65-F5344CB8AC3E}">
        <p14:creationId xmlns:p14="http://schemas.microsoft.com/office/powerpoint/2010/main" val="353117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16</a:t>
            </a:fld>
            <a:endParaRPr lang="en-US"/>
          </a:p>
        </p:txBody>
      </p:sp>
    </p:spTree>
    <p:extLst>
      <p:ext uri="{BB962C8B-B14F-4D97-AF65-F5344CB8AC3E}">
        <p14:creationId xmlns:p14="http://schemas.microsoft.com/office/powerpoint/2010/main" val="1898319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17</a:t>
            </a:fld>
            <a:endParaRPr lang="en-US"/>
          </a:p>
        </p:txBody>
      </p:sp>
    </p:spTree>
    <p:extLst>
      <p:ext uri="{BB962C8B-B14F-4D97-AF65-F5344CB8AC3E}">
        <p14:creationId xmlns:p14="http://schemas.microsoft.com/office/powerpoint/2010/main" val="214368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18</a:t>
            </a:fld>
            <a:endParaRPr lang="en-US"/>
          </a:p>
        </p:txBody>
      </p:sp>
    </p:spTree>
    <p:extLst>
      <p:ext uri="{BB962C8B-B14F-4D97-AF65-F5344CB8AC3E}">
        <p14:creationId xmlns:p14="http://schemas.microsoft.com/office/powerpoint/2010/main" val="2922309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19</a:t>
            </a:fld>
            <a:endParaRPr lang="en-US"/>
          </a:p>
        </p:txBody>
      </p:sp>
    </p:spTree>
    <p:extLst>
      <p:ext uri="{BB962C8B-B14F-4D97-AF65-F5344CB8AC3E}">
        <p14:creationId xmlns:p14="http://schemas.microsoft.com/office/powerpoint/2010/main" val="28201310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20</a:t>
            </a:fld>
            <a:endParaRPr lang="en-US"/>
          </a:p>
        </p:txBody>
      </p:sp>
    </p:spTree>
    <p:extLst>
      <p:ext uri="{BB962C8B-B14F-4D97-AF65-F5344CB8AC3E}">
        <p14:creationId xmlns:p14="http://schemas.microsoft.com/office/powerpoint/2010/main" val="1203054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21</a:t>
            </a:fld>
            <a:endParaRPr lang="en-US"/>
          </a:p>
        </p:txBody>
      </p:sp>
    </p:spTree>
    <p:extLst>
      <p:ext uri="{BB962C8B-B14F-4D97-AF65-F5344CB8AC3E}">
        <p14:creationId xmlns:p14="http://schemas.microsoft.com/office/powerpoint/2010/main" val="4150529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22</a:t>
            </a:fld>
            <a:endParaRPr lang="en-US"/>
          </a:p>
        </p:txBody>
      </p:sp>
    </p:spTree>
    <p:extLst>
      <p:ext uri="{BB962C8B-B14F-4D97-AF65-F5344CB8AC3E}">
        <p14:creationId xmlns:p14="http://schemas.microsoft.com/office/powerpoint/2010/main" val="1267590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optimizer</a:t>
            </a:r>
          </a:p>
        </p:txBody>
      </p:sp>
      <p:sp>
        <p:nvSpPr>
          <p:cNvPr id="4" name="Slide Number Placeholder 3"/>
          <p:cNvSpPr>
            <a:spLocks noGrp="1"/>
          </p:cNvSpPr>
          <p:nvPr>
            <p:ph type="sldNum" sz="quarter" idx="5"/>
          </p:nvPr>
        </p:nvSpPr>
        <p:spPr/>
        <p:txBody>
          <a:bodyPr/>
          <a:lstStyle/>
          <a:p>
            <a:fld id="{8086E464-822A-46D8-9E7A-C764D9CEF4D5}" type="slidenum">
              <a:rPr lang="en-US" smtClean="0"/>
              <a:t>23</a:t>
            </a:fld>
            <a:endParaRPr lang="en-US"/>
          </a:p>
        </p:txBody>
      </p:sp>
    </p:spTree>
    <p:extLst>
      <p:ext uri="{BB962C8B-B14F-4D97-AF65-F5344CB8AC3E}">
        <p14:creationId xmlns:p14="http://schemas.microsoft.com/office/powerpoint/2010/main" val="1915685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24</a:t>
            </a:fld>
            <a:endParaRPr lang="en-US"/>
          </a:p>
        </p:txBody>
      </p:sp>
    </p:spTree>
    <p:extLst>
      <p:ext uri="{BB962C8B-B14F-4D97-AF65-F5344CB8AC3E}">
        <p14:creationId xmlns:p14="http://schemas.microsoft.com/office/powerpoint/2010/main" val="3254353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25</a:t>
            </a:fld>
            <a:endParaRPr lang="en-US"/>
          </a:p>
        </p:txBody>
      </p:sp>
    </p:spTree>
    <p:extLst>
      <p:ext uri="{BB962C8B-B14F-4D97-AF65-F5344CB8AC3E}">
        <p14:creationId xmlns:p14="http://schemas.microsoft.com/office/powerpoint/2010/main" val="1706201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26</a:t>
            </a:fld>
            <a:endParaRPr lang="en-US"/>
          </a:p>
        </p:txBody>
      </p:sp>
    </p:spTree>
    <p:extLst>
      <p:ext uri="{BB962C8B-B14F-4D97-AF65-F5344CB8AC3E}">
        <p14:creationId xmlns:p14="http://schemas.microsoft.com/office/powerpoint/2010/main" val="1236544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27</a:t>
            </a:fld>
            <a:endParaRPr lang="en-US"/>
          </a:p>
        </p:txBody>
      </p:sp>
    </p:spTree>
    <p:extLst>
      <p:ext uri="{BB962C8B-B14F-4D97-AF65-F5344CB8AC3E}">
        <p14:creationId xmlns:p14="http://schemas.microsoft.com/office/powerpoint/2010/main" val="38816588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28</a:t>
            </a:fld>
            <a:endParaRPr lang="en-US"/>
          </a:p>
        </p:txBody>
      </p:sp>
    </p:spTree>
    <p:extLst>
      <p:ext uri="{BB962C8B-B14F-4D97-AF65-F5344CB8AC3E}">
        <p14:creationId xmlns:p14="http://schemas.microsoft.com/office/powerpoint/2010/main" val="17809687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29</a:t>
            </a:fld>
            <a:endParaRPr lang="en-US"/>
          </a:p>
        </p:txBody>
      </p:sp>
    </p:spTree>
    <p:extLst>
      <p:ext uri="{BB962C8B-B14F-4D97-AF65-F5344CB8AC3E}">
        <p14:creationId xmlns:p14="http://schemas.microsoft.com/office/powerpoint/2010/main" val="365538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30</a:t>
            </a:fld>
            <a:endParaRPr lang="en-US"/>
          </a:p>
        </p:txBody>
      </p:sp>
    </p:spTree>
    <p:extLst>
      <p:ext uri="{BB962C8B-B14F-4D97-AF65-F5344CB8AC3E}">
        <p14:creationId xmlns:p14="http://schemas.microsoft.com/office/powerpoint/2010/main" val="41942876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31</a:t>
            </a:fld>
            <a:endParaRPr lang="en-US"/>
          </a:p>
        </p:txBody>
      </p:sp>
    </p:spTree>
    <p:extLst>
      <p:ext uri="{BB962C8B-B14F-4D97-AF65-F5344CB8AC3E}">
        <p14:creationId xmlns:p14="http://schemas.microsoft.com/office/powerpoint/2010/main" val="3564726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32</a:t>
            </a:fld>
            <a:endParaRPr lang="en-US"/>
          </a:p>
        </p:txBody>
      </p:sp>
    </p:spTree>
    <p:extLst>
      <p:ext uri="{BB962C8B-B14F-4D97-AF65-F5344CB8AC3E}">
        <p14:creationId xmlns:p14="http://schemas.microsoft.com/office/powerpoint/2010/main" val="1813829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33</a:t>
            </a:fld>
            <a:endParaRPr lang="en-US"/>
          </a:p>
        </p:txBody>
      </p:sp>
    </p:spTree>
    <p:extLst>
      <p:ext uri="{BB962C8B-B14F-4D97-AF65-F5344CB8AC3E}">
        <p14:creationId xmlns:p14="http://schemas.microsoft.com/office/powerpoint/2010/main" val="3623121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34</a:t>
            </a:fld>
            <a:endParaRPr lang="en-US"/>
          </a:p>
        </p:txBody>
      </p:sp>
    </p:spTree>
    <p:extLst>
      <p:ext uri="{BB962C8B-B14F-4D97-AF65-F5344CB8AC3E}">
        <p14:creationId xmlns:p14="http://schemas.microsoft.com/office/powerpoint/2010/main" val="1869306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86E464-822A-46D8-9E7A-C764D9CEF4D5}" type="slidenum">
              <a:rPr lang="en-US" smtClean="0"/>
              <a:t>35</a:t>
            </a:fld>
            <a:endParaRPr lang="en-US"/>
          </a:p>
        </p:txBody>
      </p:sp>
    </p:spTree>
    <p:extLst>
      <p:ext uri="{BB962C8B-B14F-4D97-AF65-F5344CB8AC3E}">
        <p14:creationId xmlns:p14="http://schemas.microsoft.com/office/powerpoint/2010/main" val="16546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FB27-E016-458F-9F60-025A58E2A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173711-3AAE-414D-AAED-9ECCD1FC2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1DE0AF-A68E-48EB-A9EE-2E2E6B3AABB8}"/>
              </a:ext>
            </a:extLst>
          </p:cNvPr>
          <p:cNvSpPr>
            <a:spLocks noGrp="1"/>
          </p:cNvSpPr>
          <p:nvPr>
            <p:ph type="dt" sz="half" idx="10"/>
          </p:nvPr>
        </p:nvSpPr>
        <p:spPr/>
        <p:txBody>
          <a:bodyPr/>
          <a:lstStyle/>
          <a:p>
            <a:fld id="{ED0EBE66-40A0-4CEB-81DB-E01957A408E4}" type="datetime1">
              <a:rPr lang="en-US" smtClean="0"/>
              <a:t>2/22/2026</a:t>
            </a:fld>
            <a:endParaRPr lang="en-US"/>
          </a:p>
        </p:txBody>
      </p:sp>
      <p:sp>
        <p:nvSpPr>
          <p:cNvPr id="5" name="Footer Placeholder 4">
            <a:extLst>
              <a:ext uri="{FF2B5EF4-FFF2-40B4-BE49-F238E27FC236}">
                <a16:creationId xmlns:a16="http://schemas.microsoft.com/office/drawing/2014/main" id="{2730D261-C675-40E6-8936-37ED1187FB1C}"/>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6" name="Slide Number Placeholder 5">
            <a:extLst>
              <a:ext uri="{FF2B5EF4-FFF2-40B4-BE49-F238E27FC236}">
                <a16:creationId xmlns:a16="http://schemas.microsoft.com/office/drawing/2014/main" id="{06D3C69D-7C42-40B9-A32E-034B7823A3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766638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06C1-C256-4399-BD39-09EC1791C4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1DCC20-2ACB-41F5-ABFC-E9A9EE34A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0C27F-344A-412E-B8D2-9E2EF29305D6}"/>
              </a:ext>
            </a:extLst>
          </p:cNvPr>
          <p:cNvSpPr>
            <a:spLocks noGrp="1"/>
          </p:cNvSpPr>
          <p:nvPr>
            <p:ph type="dt" sz="half" idx="10"/>
          </p:nvPr>
        </p:nvSpPr>
        <p:spPr/>
        <p:txBody>
          <a:bodyPr/>
          <a:lstStyle/>
          <a:p>
            <a:fld id="{30AB89E9-DDBC-45FF-BFB2-D6A0BFB4DBFA}" type="datetime1">
              <a:rPr lang="en-US" smtClean="0"/>
              <a:t>2/22/2026</a:t>
            </a:fld>
            <a:endParaRPr lang="en-US"/>
          </a:p>
        </p:txBody>
      </p:sp>
      <p:sp>
        <p:nvSpPr>
          <p:cNvPr id="5" name="Footer Placeholder 4">
            <a:extLst>
              <a:ext uri="{FF2B5EF4-FFF2-40B4-BE49-F238E27FC236}">
                <a16:creationId xmlns:a16="http://schemas.microsoft.com/office/drawing/2014/main" id="{F2B1E371-7302-4D47-999D-D46AE6799600}"/>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6" name="Slide Number Placeholder 5">
            <a:extLst>
              <a:ext uri="{FF2B5EF4-FFF2-40B4-BE49-F238E27FC236}">
                <a16:creationId xmlns:a16="http://schemas.microsoft.com/office/drawing/2014/main" id="{7BA1FFD9-9BC7-4537-A0E9-1E17DA2D7FF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064799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68A9-24FD-4F42-A3F3-01AB616CC5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7457B2-E390-4B21-B756-AD55131D66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E9A3BD-4B71-426B-9AB6-703770E30D40}"/>
              </a:ext>
            </a:extLst>
          </p:cNvPr>
          <p:cNvSpPr>
            <a:spLocks noGrp="1"/>
          </p:cNvSpPr>
          <p:nvPr>
            <p:ph type="dt" sz="half" idx="10"/>
          </p:nvPr>
        </p:nvSpPr>
        <p:spPr/>
        <p:txBody>
          <a:bodyPr/>
          <a:lstStyle/>
          <a:p>
            <a:fld id="{5F36248B-3F86-4D4B-B955-D4637065459D}" type="datetime1">
              <a:rPr lang="en-US" smtClean="0"/>
              <a:t>2/22/2026</a:t>
            </a:fld>
            <a:endParaRPr lang="en-US" dirty="0"/>
          </a:p>
        </p:txBody>
      </p:sp>
      <p:sp>
        <p:nvSpPr>
          <p:cNvPr id="5" name="Footer Placeholder 4">
            <a:extLst>
              <a:ext uri="{FF2B5EF4-FFF2-40B4-BE49-F238E27FC236}">
                <a16:creationId xmlns:a16="http://schemas.microsoft.com/office/drawing/2014/main" id="{09CAD628-CC7F-4805-BB3E-A369748137BC}"/>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6" name="Slide Number Placeholder 5">
            <a:extLst>
              <a:ext uri="{FF2B5EF4-FFF2-40B4-BE49-F238E27FC236}">
                <a16:creationId xmlns:a16="http://schemas.microsoft.com/office/drawing/2014/main" id="{E437E14F-B2C9-4AC9-9239-EC3A6173AA4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50427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19C80-D973-43D1-9C6E-A270605B38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76273C-AC69-43C6-B4E2-E5EBF14826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38CED5-D6B2-4815-AE39-F9822C0C27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8658F0-68D3-4CB8-A02C-B5F902AE24DB}"/>
              </a:ext>
            </a:extLst>
          </p:cNvPr>
          <p:cNvSpPr>
            <a:spLocks noGrp="1"/>
          </p:cNvSpPr>
          <p:nvPr>
            <p:ph type="dt" sz="half" idx="10"/>
          </p:nvPr>
        </p:nvSpPr>
        <p:spPr/>
        <p:txBody>
          <a:bodyPr/>
          <a:lstStyle/>
          <a:p>
            <a:fld id="{948BB2F9-BD15-4D5A-AFA7-6DB7FC73D5F0}" type="datetime1">
              <a:rPr lang="en-US" smtClean="0"/>
              <a:t>2/22/2026</a:t>
            </a:fld>
            <a:endParaRPr lang="en-US"/>
          </a:p>
        </p:txBody>
      </p:sp>
      <p:sp>
        <p:nvSpPr>
          <p:cNvPr id="6" name="Footer Placeholder 5">
            <a:extLst>
              <a:ext uri="{FF2B5EF4-FFF2-40B4-BE49-F238E27FC236}">
                <a16:creationId xmlns:a16="http://schemas.microsoft.com/office/drawing/2014/main" id="{25549A85-1125-461B-950A-ECC37A99D925}"/>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7" name="Slide Number Placeholder 6">
            <a:extLst>
              <a:ext uri="{FF2B5EF4-FFF2-40B4-BE49-F238E27FC236}">
                <a16:creationId xmlns:a16="http://schemas.microsoft.com/office/drawing/2014/main" id="{33AA598A-B1DD-4101-B1DF-BB15EC9AA723}"/>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432884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A7333-38D2-4C05-8A84-A6F383A18C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CD8243-D82A-4CCC-86FB-6CA92622EA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6A3E01-541E-4E8E-BA58-8B0F56183A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3742DC-A0A1-4A9E-A1E1-441E4973C3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6EB09-D505-4CDC-927A-49628F4D0E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EF82D9-441F-4C37-BB86-6617699307D0}"/>
              </a:ext>
            </a:extLst>
          </p:cNvPr>
          <p:cNvSpPr>
            <a:spLocks noGrp="1"/>
          </p:cNvSpPr>
          <p:nvPr>
            <p:ph type="dt" sz="half" idx="10"/>
          </p:nvPr>
        </p:nvSpPr>
        <p:spPr/>
        <p:txBody>
          <a:bodyPr/>
          <a:lstStyle/>
          <a:p>
            <a:fld id="{00A5DBC7-AC5A-48B6-8F1C-DDA64E2A58B7}" type="datetime1">
              <a:rPr lang="en-US" smtClean="0"/>
              <a:t>2/22/2026</a:t>
            </a:fld>
            <a:endParaRPr lang="en-US"/>
          </a:p>
        </p:txBody>
      </p:sp>
      <p:sp>
        <p:nvSpPr>
          <p:cNvPr id="8" name="Footer Placeholder 7">
            <a:extLst>
              <a:ext uri="{FF2B5EF4-FFF2-40B4-BE49-F238E27FC236}">
                <a16:creationId xmlns:a16="http://schemas.microsoft.com/office/drawing/2014/main" id="{C389C4C8-3146-4CFB-8FB5-CBAC0DEC92E7}"/>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9" name="Slide Number Placeholder 8">
            <a:extLst>
              <a:ext uri="{FF2B5EF4-FFF2-40B4-BE49-F238E27FC236}">
                <a16:creationId xmlns:a16="http://schemas.microsoft.com/office/drawing/2014/main" id="{C28EBECC-66FE-43D3-9035-8F4A8803AFE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680987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28A81-05AA-4844-B518-1E69F96EAD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52494B-D3C4-4C4A-97FC-298E761D5C03}"/>
              </a:ext>
            </a:extLst>
          </p:cNvPr>
          <p:cNvSpPr>
            <a:spLocks noGrp="1"/>
          </p:cNvSpPr>
          <p:nvPr>
            <p:ph type="dt" sz="half" idx="10"/>
          </p:nvPr>
        </p:nvSpPr>
        <p:spPr/>
        <p:txBody>
          <a:bodyPr/>
          <a:lstStyle/>
          <a:p>
            <a:fld id="{676F534A-7DE9-4D5A-8E7D-7974AB11C9B8}" type="datetime1">
              <a:rPr lang="en-US" smtClean="0"/>
              <a:t>2/22/2026</a:t>
            </a:fld>
            <a:endParaRPr lang="en-US"/>
          </a:p>
        </p:txBody>
      </p:sp>
      <p:sp>
        <p:nvSpPr>
          <p:cNvPr id="4" name="Footer Placeholder 3">
            <a:extLst>
              <a:ext uri="{FF2B5EF4-FFF2-40B4-BE49-F238E27FC236}">
                <a16:creationId xmlns:a16="http://schemas.microsoft.com/office/drawing/2014/main" id="{ABDFBFE8-8563-42E5-B6FF-B2308BC421EC}"/>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5" name="Slide Number Placeholder 4">
            <a:extLst>
              <a:ext uri="{FF2B5EF4-FFF2-40B4-BE49-F238E27FC236}">
                <a16:creationId xmlns:a16="http://schemas.microsoft.com/office/drawing/2014/main" id="{47C00EC0-9409-4D2E-B95A-0EF4338964AB}"/>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65128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8E50A5-034F-4A27-BDE9-B4BF65A17420}"/>
              </a:ext>
            </a:extLst>
          </p:cNvPr>
          <p:cNvSpPr>
            <a:spLocks noGrp="1"/>
          </p:cNvSpPr>
          <p:nvPr>
            <p:ph type="dt" sz="half" idx="10"/>
          </p:nvPr>
        </p:nvSpPr>
        <p:spPr/>
        <p:txBody>
          <a:bodyPr/>
          <a:lstStyle/>
          <a:p>
            <a:fld id="{9CE6F003-ACB3-4FDA-9ED6-91A26DB37ABA}" type="datetime1">
              <a:rPr lang="en-US" smtClean="0"/>
              <a:t>2/22/2026</a:t>
            </a:fld>
            <a:endParaRPr lang="en-US"/>
          </a:p>
        </p:txBody>
      </p:sp>
      <p:sp>
        <p:nvSpPr>
          <p:cNvPr id="3" name="Footer Placeholder 2">
            <a:extLst>
              <a:ext uri="{FF2B5EF4-FFF2-40B4-BE49-F238E27FC236}">
                <a16:creationId xmlns:a16="http://schemas.microsoft.com/office/drawing/2014/main" id="{AF43E659-1523-46B8-B553-58E78062AC98}"/>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4" name="Slide Number Placeholder 3">
            <a:extLst>
              <a:ext uri="{FF2B5EF4-FFF2-40B4-BE49-F238E27FC236}">
                <a16:creationId xmlns:a16="http://schemas.microsoft.com/office/drawing/2014/main" id="{6D4CC34E-7598-4BF0-BADA-EB988163C4FB}"/>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60901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A8F1E-C3A6-4DFE-A8A4-57967AD58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43BB9B-4A9D-40F0-83E7-4C0BDA01BD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D81AF-720A-4F0B-86F2-57BA7142D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FBACB3-F489-4291-AE6B-7B8BF2474FE7}"/>
              </a:ext>
            </a:extLst>
          </p:cNvPr>
          <p:cNvSpPr>
            <a:spLocks noGrp="1"/>
          </p:cNvSpPr>
          <p:nvPr>
            <p:ph type="dt" sz="half" idx="10"/>
          </p:nvPr>
        </p:nvSpPr>
        <p:spPr/>
        <p:txBody>
          <a:bodyPr/>
          <a:lstStyle/>
          <a:p>
            <a:fld id="{01537007-BD6C-4963-8491-9A4C405C39A5}" type="datetime1">
              <a:rPr lang="en-US" smtClean="0"/>
              <a:t>2/22/2026</a:t>
            </a:fld>
            <a:endParaRPr lang="en-US"/>
          </a:p>
        </p:txBody>
      </p:sp>
      <p:sp>
        <p:nvSpPr>
          <p:cNvPr id="6" name="Footer Placeholder 5">
            <a:extLst>
              <a:ext uri="{FF2B5EF4-FFF2-40B4-BE49-F238E27FC236}">
                <a16:creationId xmlns:a16="http://schemas.microsoft.com/office/drawing/2014/main" id="{518F7393-F926-4514-BD8C-2D0CC69C921F}"/>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7" name="Slide Number Placeholder 6">
            <a:extLst>
              <a:ext uri="{FF2B5EF4-FFF2-40B4-BE49-F238E27FC236}">
                <a16:creationId xmlns:a16="http://schemas.microsoft.com/office/drawing/2014/main" id="{77E1D006-414F-418C-AD35-1AA99983BFF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60154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B9C37-5AD8-4B37-A8BF-F99BA01F6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BCD6E3-A2B3-43A2-84F5-367988C19E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37B568-9441-40E7-9031-26C890D4F8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84A881-B1B9-48CA-B717-663310AF7BD5}"/>
              </a:ext>
            </a:extLst>
          </p:cNvPr>
          <p:cNvSpPr>
            <a:spLocks noGrp="1"/>
          </p:cNvSpPr>
          <p:nvPr>
            <p:ph type="dt" sz="half" idx="10"/>
          </p:nvPr>
        </p:nvSpPr>
        <p:spPr/>
        <p:txBody>
          <a:bodyPr/>
          <a:lstStyle/>
          <a:p>
            <a:fld id="{6CA03A7E-1DED-4535-B995-CEF8142E46BD}" type="datetime1">
              <a:rPr lang="en-US" smtClean="0"/>
              <a:t>2/22/2026</a:t>
            </a:fld>
            <a:endParaRPr lang="en-US"/>
          </a:p>
        </p:txBody>
      </p:sp>
      <p:sp>
        <p:nvSpPr>
          <p:cNvPr id="6" name="Footer Placeholder 5">
            <a:extLst>
              <a:ext uri="{FF2B5EF4-FFF2-40B4-BE49-F238E27FC236}">
                <a16:creationId xmlns:a16="http://schemas.microsoft.com/office/drawing/2014/main" id="{B75D477C-6895-4884-9FEE-B74DEAD07D7D}"/>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7" name="Slide Number Placeholder 6">
            <a:extLst>
              <a:ext uri="{FF2B5EF4-FFF2-40B4-BE49-F238E27FC236}">
                <a16:creationId xmlns:a16="http://schemas.microsoft.com/office/drawing/2014/main" id="{3A08DE34-913B-474E-92A0-0E4A45059C48}"/>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828763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627AF-9B29-4D18-8206-6B6C499E16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CE32A0-17DC-4402-AF46-74812CF19E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C4DDE-2E2D-4B61-89A7-40B29381C23F}"/>
              </a:ext>
            </a:extLst>
          </p:cNvPr>
          <p:cNvSpPr>
            <a:spLocks noGrp="1"/>
          </p:cNvSpPr>
          <p:nvPr>
            <p:ph type="dt" sz="half" idx="10"/>
          </p:nvPr>
        </p:nvSpPr>
        <p:spPr/>
        <p:txBody>
          <a:bodyPr/>
          <a:lstStyle/>
          <a:p>
            <a:fld id="{39BE0BF1-B558-4EB5-9D96-C6DC91F2CBB2}" type="datetime1">
              <a:rPr lang="en-US" smtClean="0"/>
              <a:t>2/22/2026</a:t>
            </a:fld>
            <a:endParaRPr lang="en-US"/>
          </a:p>
        </p:txBody>
      </p:sp>
      <p:sp>
        <p:nvSpPr>
          <p:cNvPr id="5" name="Footer Placeholder 4">
            <a:extLst>
              <a:ext uri="{FF2B5EF4-FFF2-40B4-BE49-F238E27FC236}">
                <a16:creationId xmlns:a16="http://schemas.microsoft.com/office/drawing/2014/main" id="{72443630-7FA6-429F-9B3D-14ABD61416EB}"/>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6" name="Slide Number Placeholder 5">
            <a:extLst>
              <a:ext uri="{FF2B5EF4-FFF2-40B4-BE49-F238E27FC236}">
                <a16:creationId xmlns:a16="http://schemas.microsoft.com/office/drawing/2014/main" id="{452624CC-B5BB-4E18-AC42-5ACD6F9DF1C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864924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14A3AA-EB7B-4CD0-BAF3-8C29A6C859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1F6578-FC20-437B-A763-D13D67DFAB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7A768D-2698-4EEA-B0BD-6ED210A87345}"/>
              </a:ext>
            </a:extLst>
          </p:cNvPr>
          <p:cNvSpPr>
            <a:spLocks noGrp="1"/>
          </p:cNvSpPr>
          <p:nvPr>
            <p:ph type="dt" sz="half" idx="10"/>
          </p:nvPr>
        </p:nvSpPr>
        <p:spPr/>
        <p:txBody>
          <a:bodyPr/>
          <a:lstStyle/>
          <a:p>
            <a:fld id="{7771157F-D051-4944-A385-F19872BDAAC3}" type="datetime1">
              <a:rPr lang="en-US" smtClean="0"/>
              <a:t>2/22/2026</a:t>
            </a:fld>
            <a:endParaRPr lang="en-US" dirty="0"/>
          </a:p>
        </p:txBody>
      </p:sp>
      <p:sp>
        <p:nvSpPr>
          <p:cNvPr id="5" name="Footer Placeholder 4">
            <a:extLst>
              <a:ext uri="{FF2B5EF4-FFF2-40B4-BE49-F238E27FC236}">
                <a16:creationId xmlns:a16="http://schemas.microsoft.com/office/drawing/2014/main" id="{F830C3A3-AB0B-4F93-AD3B-C265AB2A3386}"/>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6" name="Slide Number Placeholder 5">
            <a:extLst>
              <a:ext uri="{FF2B5EF4-FFF2-40B4-BE49-F238E27FC236}">
                <a16:creationId xmlns:a16="http://schemas.microsoft.com/office/drawing/2014/main" id="{2D16ABFD-9053-40A5-846B-D99B94E24E3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942669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661AFD-27B4-4242-A306-1BFCFB98FB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2E1AB4-37AF-418D-A6D0-AE2792A6D6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284F9-150E-49B6-B096-C56875D0B4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125F9-C85E-44A1-85A9-AA9DFDB25483}" type="datetime1">
              <a:rPr lang="en-US" smtClean="0"/>
              <a:t>2/22/2026</a:t>
            </a:fld>
            <a:endParaRPr lang="en-US" dirty="0"/>
          </a:p>
        </p:txBody>
      </p:sp>
      <p:sp>
        <p:nvSpPr>
          <p:cNvPr id="5" name="Footer Placeholder 4">
            <a:extLst>
              <a:ext uri="{FF2B5EF4-FFF2-40B4-BE49-F238E27FC236}">
                <a16:creationId xmlns:a16="http://schemas.microsoft.com/office/drawing/2014/main" id="{D3391573-EA29-413B-8666-D3E4988984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College of Computer Science and Engineering University of Jeddah</a:t>
            </a:r>
            <a:endParaRPr lang="en-US" dirty="0">
              <a:solidFill>
                <a:srgbClr val="FFFFFF"/>
              </a:solidFill>
            </a:endParaRPr>
          </a:p>
        </p:txBody>
      </p:sp>
      <p:sp>
        <p:nvSpPr>
          <p:cNvPr id="6" name="Slide Number Placeholder 5">
            <a:extLst>
              <a:ext uri="{FF2B5EF4-FFF2-40B4-BE49-F238E27FC236}">
                <a16:creationId xmlns:a16="http://schemas.microsoft.com/office/drawing/2014/main" id="{A326D32E-6273-4063-A596-EED5D85FFE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A71338-8BA2-4C79-A6C5-5A8E30081D0C}" type="slidenum">
              <a:rPr lang="en-US" smtClean="0"/>
              <a:pPr/>
              <a:t>‹#›</a:t>
            </a:fld>
            <a:endParaRPr lang="en-US" dirty="0"/>
          </a:p>
        </p:txBody>
      </p:sp>
    </p:spTree>
    <p:extLst>
      <p:ext uri="{BB962C8B-B14F-4D97-AF65-F5344CB8AC3E}">
        <p14:creationId xmlns:p14="http://schemas.microsoft.com/office/powerpoint/2010/main" val="1663499939"/>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A0F4-0C40-4C2F-B00B-AC147B6CBA41}"/>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53DE4AB1-E5FC-4E90-93C6-43814BF64FCD}"/>
              </a:ext>
            </a:extLst>
          </p:cNvPr>
          <p:cNvSpPr>
            <a:spLocks noGrp="1"/>
          </p:cNvSpPr>
          <p:nvPr>
            <p:ph idx="1"/>
          </p:nvPr>
        </p:nvSpPr>
        <p:spPr/>
        <p:txBody>
          <a:bodyPr/>
          <a:lstStyle/>
          <a:p>
            <a:r>
              <a:rPr lang="en-US" dirty="0"/>
              <a:t>Gated Recurrent Unit (GRU)</a:t>
            </a:r>
          </a:p>
          <a:p>
            <a:r>
              <a:rPr lang="en-US" dirty="0"/>
              <a:t>GRU Application</a:t>
            </a:r>
          </a:p>
          <a:p>
            <a:endParaRPr lang="en-US" dirty="0"/>
          </a:p>
        </p:txBody>
      </p:sp>
      <p:sp>
        <p:nvSpPr>
          <p:cNvPr id="4" name="Footer Placeholder 3">
            <a:extLst>
              <a:ext uri="{FF2B5EF4-FFF2-40B4-BE49-F238E27FC236}">
                <a16:creationId xmlns:a16="http://schemas.microsoft.com/office/drawing/2014/main" id="{6BE51A42-17F5-4DF7-932E-60BF54598F8F}"/>
              </a:ext>
            </a:extLst>
          </p:cNvPr>
          <p:cNvSpPr>
            <a:spLocks noGrp="1"/>
          </p:cNvSpPr>
          <p:nvPr>
            <p:ph type="ftr" sz="quarter" idx="11"/>
          </p:nvPr>
        </p:nvSpPr>
        <p:spPr/>
        <p:txBody>
          <a:bodyPr/>
          <a:lstStyle/>
          <a:p>
            <a:r>
              <a:rPr lang="en-GB"/>
              <a:t>College of Computer Science and Engineering University of Jeddah</a:t>
            </a:r>
            <a:endParaRPr lang="en-US"/>
          </a:p>
        </p:txBody>
      </p:sp>
      <p:sp>
        <p:nvSpPr>
          <p:cNvPr id="5" name="Slide Number Placeholder 4">
            <a:extLst>
              <a:ext uri="{FF2B5EF4-FFF2-40B4-BE49-F238E27FC236}">
                <a16:creationId xmlns:a16="http://schemas.microsoft.com/office/drawing/2014/main" id="{CF1A7517-A009-4782-804E-D6F197AF7ACB}"/>
              </a:ext>
            </a:extLst>
          </p:cNvPr>
          <p:cNvSpPr>
            <a:spLocks noGrp="1"/>
          </p:cNvSpPr>
          <p:nvPr>
            <p:ph type="sldNum" sz="quarter" idx="12"/>
          </p:nvPr>
        </p:nvSpPr>
        <p:spPr/>
        <p:txBody>
          <a:bodyPr/>
          <a:lstStyle/>
          <a:p>
            <a:fld id="{11A71338-8BA2-4C79-A6C5-5A8E30081D0C}" type="slidenum">
              <a:rPr lang="en-US" smtClean="0"/>
              <a:t>1</a:t>
            </a:fld>
            <a:endParaRPr lang="en-US"/>
          </a:p>
        </p:txBody>
      </p:sp>
    </p:spTree>
    <p:extLst>
      <p:ext uri="{BB962C8B-B14F-4D97-AF65-F5344CB8AC3E}">
        <p14:creationId xmlns:p14="http://schemas.microsoft.com/office/powerpoint/2010/main" val="283242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Gated Recurrent Unit (GRU)</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Similar to LSTM</a:t>
            </a:r>
          </a:p>
          <a:p>
            <a:r>
              <a:rPr lang="en-US" dirty="0"/>
              <a:t>Gates control the flow of information</a:t>
            </a:r>
          </a:p>
          <a:p>
            <a:r>
              <a:rPr lang="en-US" dirty="0"/>
              <a:t>New as compared to LSTMs</a:t>
            </a:r>
          </a:p>
          <a:p>
            <a:r>
              <a:rPr lang="en-US" dirty="0"/>
              <a:t>Simpler architecture as compared to LSTM</a:t>
            </a:r>
          </a:p>
          <a:p>
            <a:r>
              <a:rPr lang="en-US" dirty="0"/>
              <a:t>Relatively better performance as compared to LSTM</a:t>
            </a:r>
          </a:p>
          <a:p>
            <a:r>
              <a:rPr lang="en-US" dirty="0"/>
              <a:t>They do not have Cell State (C</a:t>
            </a:r>
            <a:r>
              <a:rPr lang="en-US" baseline="-25000" dirty="0"/>
              <a:t>T</a:t>
            </a:r>
            <a:r>
              <a:rPr lang="en-US" dirty="0"/>
              <a:t>) and only have hidden state (</a:t>
            </a:r>
            <a:r>
              <a:rPr lang="en-US" dirty="0" err="1"/>
              <a:t>H</a:t>
            </a:r>
            <a:r>
              <a:rPr lang="en-US" baseline="-25000" dirty="0" err="1"/>
              <a:t>t</a:t>
            </a:r>
            <a:r>
              <a:rPr lang="en-US" dirty="0"/>
              <a:t>)</a:t>
            </a:r>
          </a:p>
          <a:p>
            <a:r>
              <a:rPr lang="en-US" dirty="0"/>
              <a:t>They are faster to train</a:t>
            </a:r>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a:t>
            </a:fld>
            <a:endParaRPr lang="en-US"/>
          </a:p>
        </p:txBody>
      </p:sp>
    </p:spTree>
    <p:extLst>
      <p:ext uri="{BB962C8B-B14F-4D97-AF65-F5344CB8AC3E}">
        <p14:creationId xmlns:p14="http://schemas.microsoft.com/office/powerpoint/2010/main" val="1063348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Gated Recurrent Unit (GRU)</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fontScale="92500" lnSpcReduction="20000"/>
          </a:bodyPr>
          <a:lstStyle/>
          <a:p>
            <a:r>
              <a:rPr lang="en-US" dirty="0"/>
              <a:t>Comparison between GRU and LSTM Block</a:t>
            </a:r>
          </a:p>
          <a:p>
            <a:pPr lvl="1"/>
            <a:r>
              <a:rPr lang="en-US" dirty="0"/>
              <a:t>We can clearly see there is no C</a:t>
            </a:r>
            <a:r>
              <a:rPr lang="en-US" baseline="-25000" dirty="0"/>
              <a:t>T </a:t>
            </a:r>
            <a:r>
              <a:rPr lang="en-US" dirty="0"/>
              <a:t>(Cell memory) in GRU</a:t>
            </a:r>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algn="l"/>
            <a:r>
              <a:rPr lang="en-GB" sz="2400" b="0" i="0" dirty="0">
                <a:solidFill>
                  <a:srgbClr val="222222"/>
                </a:solidFill>
                <a:effectLst/>
              </a:rPr>
              <a:t>At each timestamp t, it takes an input </a:t>
            </a:r>
            <a:r>
              <a:rPr lang="en-GB" sz="2400" b="0" i="0" dirty="0" err="1">
                <a:solidFill>
                  <a:srgbClr val="222222"/>
                </a:solidFill>
                <a:effectLst/>
              </a:rPr>
              <a:t>x</a:t>
            </a:r>
            <a:r>
              <a:rPr lang="en-GB" sz="2400" b="0" i="0" baseline="-25000" dirty="0" err="1">
                <a:solidFill>
                  <a:srgbClr val="222222"/>
                </a:solidFill>
                <a:effectLst/>
              </a:rPr>
              <a:t>t</a:t>
            </a:r>
            <a:r>
              <a:rPr lang="en-GB" sz="2400" b="0" i="0" dirty="0">
                <a:solidFill>
                  <a:srgbClr val="222222"/>
                </a:solidFill>
                <a:effectLst/>
              </a:rPr>
              <a:t> and the hidden state h</a:t>
            </a:r>
            <a:r>
              <a:rPr lang="en-GB" sz="2400" b="0" i="0" baseline="-25000" dirty="0">
                <a:solidFill>
                  <a:srgbClr val="222222"/>
                </a:solidFill>
                <a:effectLst/>
              </a:rPr>
              <a:t>t-1</a:t>
            </a:r>
            <a:r>
              <a:rPr lang="en-GB" sz="2400" b="0" i="0" dirty="0">
                <a:solidFill>
                  <a:srgbClr val="222222"/>
                </a:solidFill>
                <a:effectLst/>
              </a:rPr>
              <a:t> from the previous timestamp t-1. </a:t>
            </a:r>
          </a:p>
          <a:p>
            <a:pPr algn="l"/>
            <a:r>
              <a:rPr lang="en-GB" sz="2400" b="0" i="0" dirty="0">
                <a:solidFill>
                  <a:srgbClr val="222222"/>
                </a:solidFill>
                <a:effectLst/>
              </a:rPr>
              <a:t>It outputs a new hidden state </a:t>
            </a:r>
            <a:r>
              <a:rPr lang="en-GB" sz="2400" b="0" i="0" dirty="0" err="1">
                <a:solidFill>
                  <a:srgbClr val="222222"/>
                </a:solidFill>
                <a:effectLst/>
              </a:rPr>
              <a:t>h</a:t>
            </a:r>
            <a:r>
              <a:rPr lang="en-GB" sz="2400" b="0" i="0" baseline="-25000" dirty="0" err="1">
                <a:solidFill>
                  <a:srgbClr val="222222"/>
                </a:solidFill>
                <a:effectLst/>
              </a:rPr>
              <a:t>t</a:t>
            </a:r>
            <a:r>
              <a:rPr lang="en-GB" sz="2400" b="0" i="0" dirty="0">
                <a:solidFill>
                  <a:srgbClr val="222222"/>
                </a:solidFill>
                <a:effectLst/>
              </a:rPr>
              <a:t> which again passed to the next timestamp.</a:t>
            </a:r>
          </a:p>
          <a:p>
            <a:pPr algn="l"/>
            <a:r>
              <a:rPr lang="en-GB" sz="2400" b="0" i="0" dirty="0">
                <a:solidFill>
                  <a:srgbClr val="222222"/>
                </a:solidFill>
                <a:effectLst/>
              </a:rPr>
              <a:t>There are two gates in a GRU as opposed to three gates in an LSTM cell. The first gate is the Reset gate and the other one is the update gate. In LSTM we have input, forget and update gates.</a:t>
            </a:r>
          </a:p>
          <a:p>
            <a:pPr algn="l"/>
            <a:r>
              <a:rPr lang="en-GB" sz="2400" b="0" i="0" dirty="0">
                <a:solidFill>
                  <a:srgbClr val="222222"/>
                </a:solidFill>
                <a:effectLst/>
              </a:rPr>
              <a:t>In LSTM we have two states Cell state or Long term memory and Hidden state also known as Short term memory. In the case of GRU, there is only one state </a:t>
            </a:r>
            <a:r>
              <a:rPr lang="en-GB" sz="2400" b="0" i="0" dirty="0" err="1">
                <a:solidFill>
                  <a:srgbClr val="222222"/>
                </a:solidFill>
                <a:effectLst/>
              </a:rPr>
              <a:t>i.e</a:t>
            </a:r>
            <a:r>
              <a:rPr lang="en-GB" sz="2400" b="0" i="0" dirty="0">
                <a:solidFill>
                  <a:srgbClr val="222222"/>
                </a:solidFill>
                <a:effectLst/>
              </a:rPr>
              <a:t> Hidden state (</a:t>
            </a:r>
            <a:r>
              <a:rPr lang="en-GB" sz="2400" b="0" i="0" dirty="0" err="1">
                <a:solidFill>
                  <a:srgbClr val="222222"/>
                </a:solidFill>
                <a:effectLst/>
              </a:rPr>
              <a:t>Ht</a:t>
            </a:r>
            <a:r>
              <a:rPr lang="en-GB" sz="2400" b="0" i="0" dirty="0">
                <a:solidFill>
                  <a:srgbClr val="222222"/>
                </a:solidFill>
                <a:effectLst/>
              </a:rPr>
              <a:t>).</a:t>
            </a:r>
          </a:p>
          <a:p>
            <a:pPr algn="l"/>
            <a:endParaRPr lang="en-GB" sz="2400" b="0" i="0" dirty="0">
              <a:solidFill>
                <a:srgbClr val="222222"/>
              </a:solidFill>
              <a:effectLst/>
            </a:endParaRPr>
          </a:p>
          <a:p>
            <a:pPr lvl="1"/>
            <a:endParaRPr lang="en-US" baseline="-25000"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a:t>
            </a:fld>
            <a:endParaRPr lang="en-US"/>
          </a:p>
        </p:txBody>
      </p:sp>
      <p:pic>
        <p:nvPicPr>
          <p:cNvPr id="1026" name="Picture 2" descr="Gated recurrent unit">
            <a:extLst>
              <a:ext uri="{FF2B5EF4-FFF2-40B4-BE49-F238E27FC236}">
                <a16:creationId xmlns:a16="http://schemas.microsoft.com/office/drawing/2014/main" id="{D9F76319-429F-4A48-BA9C-8EA2384C0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091" y="1819910"/>
            <a:ext cx="6089650" cy="1783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268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Reset Gate (Short Term Memory)</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4</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GB" b="0" i="0" dirty="0">
                <a:solidFill>
                  <a:srgbClr val="222222"/>
                </a:solidFill>
                <a:effectLst/>
                <a:latin typeface="Lato" panose="020F0502020204030203" pitchFamily="34" charset="0"/>
              </a:rPr>
              <a:t>The Reset Gate is responsible for the short-term memory of the network </a:t>
            </a:r>
            <a:r>
              <a:rPr lang="en-GB" b="0" i="0" dirty="0" err="1">
                <a:solidFill>
                  <a:srgbClr val="222222"/>
                </a:solidFill>
                <a:effectLst/>
                <a:latin typeface="Lato" panose="020F0502020204030203" pitchFamily="34" charset="0"/>
              </a:rPr>
              <a:t>i.e</a:t>
            </a:r>
            <a:r>
              <a:rPr lang="en-GB" b="0" i="0" dirty="0">
                <a:solidFill>
                  <a:srgbClr val="222222"/>
                </a:solidFill>
                <a:effectLst/>
                <a:latin typeface="Lato" panose="020F0502020204030203" pitchFamily="34" charset="0"/>
              </a:rPr>
              <a:t> the hidden state (</a:t>
            </a:r>
            <a:r>
              <a:rPr lang="en-GB" b="0" i="0" dirty="0" err="1">
                <a:solidFill>
                  <a:srgbClr val="222222"/>
                </a:solidFill>
                <a:effectLst/>
                <a:latin typeface="Lato" panose="020F0502020204030203" pitchFamily="34" charset="0"/>
              </a:rPr>
              <a:t>h</a:t>
            </a:r>
            <a:r>
              <a:rPr lang="en-GB" b="0" i="0" baseline="-25000" dirty="0" err="1">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Here is the equation of the Reset gate.</a:t>
            </a:r>
            <a:endParaRPr lang="en-US" b="0" i="0" baseline="-25000" dirty="0">
              <a:solidFill>
                <a:srgbClr val="222222"/>
              </a:solidFill>
              <a:effectLst/>
              <a:latin typeface="Lato" panose="020F0502020204030203" pitchFamily="34" charset="0"/>
            </a:endParaRPr>
          </a:p>
          <a:p>
            <a:endParaRPr lang="en-US" baseline="-25000" dirty="0">
              <a:solidFill>
                <a:srgbClr val="222222"/>
              </a:solidFill>
              <a:latin typeface="Lato" panose="020F0502020204030203" pitchFamily="34" charset="0"/>
            </a:endParaRPr>
          </a:p>
          <a:p>
            <a:endParaRPr lang="en-US" baseline="-25000" dirty="0">
              <a:solidFill>
                <a:srgbClr val="222222"/>
              </a:solidFill>
              <a:latin typeface="Lato" panose="020F0502020204030203" pitchFamily="34" charset="0"/>
            </a:endParaRPr>
          </a:p>
          <a:p>
            <a:endParaRPr lang="en-US" baseline="-25000" dirty="0">
              <a:solidFill>
                <a:srgbClr val="222222"/>
              </a:solidFill>
              <a:latin typeface="Lato" panose="020F0502020204030203" pitchFamily="34" charset="0"/>
            </a:endParaRPr>
          </a:p>
          <a:p>
            <a:r>
              <a:rPr lang="en-GB" b="0" i="0" dirty="0">
                <a:solidFill>
                  <a:srgbClr val="222222"/>
                </a:solidFill>
                <a:effectLst/>
                <a:latin typeface="Lato" panose="020F0502020204030203" pitchFamily="34" charset="0"/>
              </a:rPr>
              <a:t>If you remember from the LSTM gate equation it is very similar to that. The value of </a:t>
            </a:r>
            <a:r>
              <a:rPr lang="en-GB" b="1" i="0" dirty="0">
                <a:solidFill>
                  <a:srgbClr val="222222"/>
                </a:solidFill>
                <a:effectLst/>
                <a:latin typeface="Lato" panose="020F0502020204030203" pitchFamily="34" charset="0"/>
              </a:rPr>
              <a:t>r</a:t>
            </a:r>
            <a:r>
              <a:rPr lang="en-GB" b="1" i="0" baseline="-25000" dirty="0">
                <a:solidFill>
                  <a:srgbClr val="222222"/>
                </a:solidFill>
                <a:effectLst/>
                <a:latin typeface="Lato" panose="020F0502020204030203" pitchFamily="34" charset="0"/>
              </a:rPr>
              <a:t>t</a:t>
            </a:r>
            <a:r>
              <a:rPr lang="en-GB" b="1" i="0" dirty="0">
                <a:solidFill>
                  <a:srgbClr val="222222"/>
                </a:solidFill>
                <a:effectLst/>
                <a:latin typeface="Lato" panose="020F0502020204030203" pitchFamily="34" charset="0"/>
              </a:rPr>
              <a:t> </a:t>
            </a:r>
            <a:r>
              <a:rPr lang="en-GB" b="0" i="0" dirty="0">
                <a:solidFill>
                  <a:srgbClr val="222222"/>
                </a:solidFill>
                <a:effectLst/>
                <a:latin typeface="Lato" panose="020F0502020204030203" pitchFamily="34" charset="0"/>
              </a:rPr>
              <a:t>will range from 0 to 1 because of the sigmoid function. Here U</a:t>
            </a:r>
            <a:r>
              <a:rPr lang="en-GB" b="0" i="0" baseline="-25000" dirty="0">
                <a:solidFill>
                  <a:srgbClr val="222222"/>
                </a:solidFill>
                <a:effectLst/>
                <a:latin typeface="Lato" panose="020F0502020204030203" pitchFamily="34" charset="0"/>
              </a:rPr>
              <a:t>r</a:t>
            </a:r>
            <a:r>
              <a:rPr lang="en-GB" b="0" i="0" dirty="0">
                <a:solidFill>
                  <a:srgbClr val="222222"/>
                </a:solidFill>
                <a:effectLst/>
                <a:latin typeface="Lato" panose="020F0502020204030203" pitchFamily="34" charset="0"/>
              </a:rPr>
              <a:t> and </a:t>
            </a:r>
            <a:r>
              <a:rPr lang="en-GB" b="0" i="0" dirty="0" err="1">
                <a:solidFill>
                  <a:srgbClr val="222222"/>
                </a:solidFill>
                <a:effectLst/>
                <a:latin typeface="Lato" panose="020F0502020204030203" pitchFamily="34" charset="0"/>
              </a:rPr>
              <a:t>W</a:t>
            </a:r>
            <a:r>
              <a:rPr lang="en-GB" b="0" i="0" baseline="-25000" dirty="0" err="1">
                <a:solidFill>
                  <a:srgbClr val="222222"/>
                </a:solidFill>
                <a:effectLst/>
                <a:latin typeface="Lato" panose="020F0502020204030203" pitchFamily="34" charset="0"/>
              </a:rPr>
              <a:t>r</a:t>
            </a:r>
            <a:r>
              <a:rPr lang="en-GB" b="0" i="0" dirty="0">
                <a:solidFill>
                  <a:srgbClr val="222222"/>
                </a:solidFill>
                <a:effectLst/>
                <a:latin typeface="Lato" panose="020F0502020204030203" pitchFamily="34" charset="0"/>
              </a:rPr>
              <a:t> are weight matrices for the reset gate.</a:t>
            </a:r>
            <a:endParaRPr lang="en-US" baseline="-25000"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4</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F6208E-D414-4AFC-B8CF-2D91E1E9873D}"/>
                  </a:ext>
                </a:extLst>
              </p:cNvPr>
              <p:cNvSpPr txBox="1"/>
              <p:nvPr/>
            </p:nvSpPr>
            <p:spPr>
              <a:xfrm>
                <a:off x="3891281" y="2373967"/>
                <a:ext cx="383032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𝑡</m:t>
                          </m:r>
                        </m:sub>
                      </m:sSub>
                      <m:r>
                        <a:rPr lang="en-US" sz="2400" i="1" smtClean="0">
                          <a:latin typeface="Cambria Math" panose="02040503050406030204" pitchFamily="18" charset="0"/>
                        </a:rPr>
                        <m:t>=</m:t>
                      </m:r>
                      <m:r>
                        <m:rPr>
                          <m:sty m:val="p"/>
                        </m:rPr>
                        <a:rPr lang="el-GR" sz="2400" b="0" i="1" smtClean="0">
                          <a:latin typeface="Cambria Math" panose="02040503050406030204" pitchFamily="18" charset="0"/>
                        </a:rPr>
                        <m:t>σ</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𝐻</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𝑟</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𝑈</m:t>
                          </m:r>
                        </m:e>
                        <m:sub>
                          <m:r>
                            <a:rPr lang="en-US" sz="2400" b="0" i="1" smtClean="0">
                              <a:latin typeface="Cambria Math" panose="02040503050406030204" pitchFamily="18" charset="0"/>
                            </a:rPr>
                            <m:t>𝑟</m:t>
                          </m:r>
                        </m:sub>
                      </m:sSub>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ABF6208E-D414-4AFC-B8CF-2D91E1E9873D}"/>
                  </a:ext>
                </a:extLst>
              </p:cNvPr>
              <p:cNvSpPr txBox="1">
                <a:spLocks noRot="1" noChangeAspect="1" noMove="1" noResize="1" noEditPoints="1" noAdjustHandles="1" noChangeArrowheads="1" noChangeShapeType="1" noTextEdit="1"/>
              </p:cNvSpPr>
              <p:nvPr/>
            </p:nvSpPr>
            <p:spPr>
              <a:xfrm>
                <a:off x="3891281" y="2373967"/>
                <a:ext cx="3830320" cy="369332"/>
              </a:xfrm>
              <a:prstGeom prst="rect">
                <a:avLst/>
              </a:prstGeom>
              <a:blipFill>
                <a:blip r:embed="rId3"/>
                <a:stretch>
                  <a:fillRect r="-159" b="-34426"/>
                </a:stretch>
              </a:blipFill>
            </p:spPr>
            <p:txBody>
              <a:bodyPr/>
              <a:lstStyle/>
              <a:p>
                <a:r>
                  <a:rPr lang="en-US">
                    <a:noFill/>
                  </a:rPr>
                  <a:t> </a:t>
                </a:r>
              </a:p>
            </p:txBody>
          </p:sp>
        </mc:Fallback>
      </mc:AlternateContent>
    </p:spTree>
    <p:extLst>
      <p:ext uri="{BB962C8B-B14F-4D97-AF65-F5344CB8AC3E}">
        <p14:creationId xmlns:p14="http://schemas.microsoft.com/office/powerpoint/2010/main" val="2059943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Update Gate (Long Term Memory)</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5</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GB" b="0" i="0" dirty="0">
                <a:solidFill>
                  <a:srgbClr val="222222"/>
                </a:solidFill>
                <a:effectLst/>
                <a:latin typeface="Lato" panose="020F0502020204030203" pitchFamily="34" charset="0"/>
              </a:rPr>
              <a:t>Similarly, we have an Update gate for long-term memory and the equation of the gate is shown below.</a:t>
            </a:r>
            <a:endParaRPr lang="en-US" b="0" i="0" baseline="-25000" dirty="0">
              <a:solidFill>
                <a:srgbClr val="222222"/>
              </a:solidFill>
              <a:effectLst/>
              <a:latin typeface="Lato" panose="020F0502020204030203" pitchFamily="34" charset="0"/>
            </a:endParaRPr>
          </a:p>
          <a:p>
            <a:endParaRPr lang="en-US" baseline="-25000" dirty="0">
              <a:solidFill>
                <a:srgbClr val="222222"/>
              </a:solidFill>
              <a:latin typeface="Lato" panose="020F0502020204030203" pitchFamily="34" charset="0"/>
            </a:endParaRPr>
          </a:p>
          <a:p>
            <a:endParaRPr lang="en-US" baseline="-25000" dirty="0">
              <a:solidFill>
                <a:srgbClr val="222222"/>
              </a:solidFill>
              <a:latin typeface="Lato" panose="020F0502020204030203" pitchFamily="34" charset="0"/>
            </a:endParaRPr>
          </a:p>
          <a:p>
            <a:endParaRPr lang="en-US" baseline="-25000" dirty="0">
              <a:solidFill>
                <a:srgbClr val="222222"/>
              </a:solidFill>
              <a:latin typeface="Lato" panose="020F0502020204030203" pitchFamily="34" charset="0"/>
            </a:endParaRPr>
          </a:p>
          <a:p>
            <a:r>
              <a:rPr lang="en-GB" b="0" i="0" dirty="0">
                <a:solidFill>
                  <a:srgbClr val="222222"/>
                </a:solidFill>
                <a:effectLst/>
                <a:latin typeface="Lato" panose="020F0502020204030203" pitchFamily="34" charset="0"/>
              </a:rPr>
              <a:t>The value of </a:t>
            </a:r>
            <a:r>
              <a:rPr lang="en-GB" b="1" i="0" dirty="0" err="1">
                <a:solidFill>
                  <a:srgbClr val="222222"/>
                </a:solidFill>
                <a:effectLst/>
                <a:latin typeface="Lato" panose="020F0502020204030203" pitchFamily="34" charset="0"/>
              </a:rPr>
              <a:t>u</a:t>
            </a:r>
            <a:r>
              <a:rPr lang="en-GB" b="1" i="0" baseline="-25000" dirty="0" err="1">
                <a:solidFill>
                  <a:srgbClr val="222222"/>
                </a:solidFill>
                <a:effectLst/>
                <a:latin typeface="Lato" panose="020F0502020204030203" pitchFamily="34" charset="0"/>
              </a:rPr>
              <a:t>t</a:t>
            </a:r>
            <a:r>
              <a:rPr lang="en-GB" b="1" i="0" dirty="0">
                <a:solidFill>
                  <a:srgbClr val="222222"/>
                </a:solidFill>
                <a:effectLst/>
                <a:latin typeface="Lato" panose="020F0502020204030203" pitchFamily="34" charset="0"/>
              </a:rPr>
              <a:t> </a:t>
            </a:r>
            <a:r>
              <a:rPr lang="en-GB" b="0" i="0" dirty="0">
                <a:solidFill>
                  <a:srgbClr val="222222"/>
                </a:solidFill>
                <a:effectLst/>
                <a:latin typeface="Lato" panose="020F0502020204030203" pitchFamily="34" charset="0"/>
              </a:rPr>
              <a:t>will range from 0 to 1 because of the sigmoid function. Here W</a:t>
            </a:r>
            <a:r>
              <a:rPr lang="en-GB" b="0" i="0" baseline="-25000" dirty="0">
                <a:solidFill>
                  <a:srgbClr val="222222"/>
                </a:solidFill>
                <a:effectLst/>
                <a:latin typeface="Lato" panose="020F0502020204030203" pitchFamily="34" charset="0"/>
              </a:rPr>
              <a:t>u</a:t>
            </a:r>
            <a:r>
              <a:rPr lang="en-GB" b="0" i="0" dirty="0">
                <a:solidFill>
                  <a:srgbClr val="222222"/>
                </a:solidFill>
                <a:effectLst/>
                <a:latin typeface="Lato" panose="020F0502020204030203" pitchFamily="34" charset="0"/>
              </a:rPr>
              <a:t> and </a:t>
            </a:r>
            <a:r>
              <a:rPr lang="en-GB" b="0" i="0" dirty="0" err="1">
                <a:solidFill>
                  <a:srgbClr val="222222"/>
                </a:solidFill>
                <a:effectLst/>
                <a:latin typeface="Lato" panose="020F0502020204030203" pitchFamily="34" charset="0"/>
              </a:rPr>
              <a:t>U</a:t>
            </a:r>
            <a:r>
              <a:rPr lang="en-GB" b="0" i="0" baseline="-25000" dirty="0" err="1">
                <a:solidFill>
                  <a:srgbClr val="222222"/>
                </a:solidFill>
                <a:effectLst/>
                <a:latin typeface="Lato" panose="020F0502020204030203" pitchFamily="34" charset="0"/>
              </a:rPr>
              <a:t>u</a:t>
            </a:r>
            <a:r>
              <a:rPr lang="en-GB" b="0" i="0" dirty="0">
                <a:solidFill>
                  <a:srgbClr val="222222"/>
                </a:solidFill>
                <a:effectLst/>
                <a:latin typeface="Lato" panose="020F0502020204030203" pitchFamily="34" charset="0"/>
              </a:rPr>
              <a:t> are weight matrices for the update gate.</a:t>
            </a:r>
            <a:endParaRPr lang="en-US" baseline="-25000"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5</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BF6208E-D414-4AFC-B8CF-2D91E1E9873D}"/>
                  </a:ext>
                </a:extLst>
              </p:cNvPr>
              <p:cNvSpPr txBox="1"/>
              <p:nvPr/>
            </p:nvSpPr>
            <p:spPr>
              <a:xfrm>
                <a:off x="3891281" y="2373967"/>
                <a:ext cx="383032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𝑡</m:t>
                          </m:r>
                        </m:sub>
                      </m:sSub>
                      <m:r>
                        <a:rPr lang="en-US" sz="2400" i="1" smtClean="0">
                          <a:latin typeface="Cambria Math" panose="02040503050406030204" pitchFamily="18" charset="0"/>
                        </a:rPr>
                        <m:t>=</m:t>
                      </m:r>
                      <m:r>
                        <m:rPr>
                          <m:sty m:val="p"/>
                        </m:rPr>
                        <a:rPr lang="el-GR" sz="2400" b="0" i="1" smtClean="0">
                          <a:latin typeface="Cambria Math" panose="02040503050406030204" pitchFamily="18" charset="0"/>
                        </a:rPr>
                        <m:t>σ</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𝐻</m:t>
                              </m:r>
                            </m:e>
                            <m:sub>
                              <m:r>
                                <a:rPr lang="en-US" sz="2400" i="1">
                                  <a:latin typeface="Cambria Math" panose="02040503050406030204" pitchFamily="18" charset="0"/>
                                </a:rPr>
                                <m:t>𝑡</m:t>
                              </m:r>
                              <m:r>
                                <a:rPr lang="en-US" sz="2400" i="1">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𝑊</m:t>
                          </m:r>
                        </m:e>
                        <m:sub>
                          <m:r>
                            <a:rPr lang="en-US" sz="2400" b="0" i="1" smtClean="0">
                              <a:latin typeface="Cambria Math" panose="02040503050406030204" pitchFamily="18" charset="0"/>
                            </a:rPr>
                            <m:t>𝑢</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𝑈</m:t>
                          </m:r>
                        </m:e>
                        <m:sub>
                          <m:r>
                            <a:rPr lang="en-US" sz="2400" b="0" i="1" smtClean="0">
                              <a:latin typeface="Cambria Math" panose="02040503050406030204" pitchFamily="18" charset="0"/>
                            </a:rPr>
                            <m:t>𝑢</m:t>
                          </m:r>
                        </m:sub>
                      </m:sSub>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ABF6208E-D414-4AFC-B8CF-2D91E1E9873D}"/>
                  </a:ext>
                </a:extLst>
              </p:cNvPr>
              <p:cNvSpPr txBox="1">
                <a:spLocks noRot="1" noChangeAspect="1" noMove="1" noResize="1" noEditPoints="1" noAdjustHandles="1" noChangeArrowheads="1" noChangeShapeType="1" noTextEdit="1"/>
              </p:cNvSpPr>
              <p:nvPr/>
            </p:nvSpPr>
            <p:spPr>
              <a:xfrm>
                <a:off x="3891281" y="2373967"/>
                <a:ext cx="3830320" cy="369332"/>
              </a:xfrm>
              <a:prstGeom prst="rect">
                <a:avLst/>
              </a:prstGeom>
              <a:blipFill>
                <a:blip r:embed="rId3"/>
                <a:stretch>
                  <a:fillRect r="-1590" b="-34426"/>
                </a:stretch>
              </a:blipFill>
            </p:spPr>
            <p:txBody>
              <a:bodyPr/>
              <a:lstStyle/>
              <a:p>
                <a:r>
                  <a:rPr lang="en-US">
                    <a:noFill/>
                  </a:rPr>
                  <a:t> </a:t>
                </a:r>
              </a:p>
            </p:txBody>
          </p:sp>
        </mc:Fallback>
      </mc:AlternateContent>
    </p:spTree>
    <p:extLst>
      <p:ext uri="{BB962C8B-B14F-4D97-AF65-F5344CB8AC3E}">
        <p14:creationId xmlns:p14="http://schemas.microsoft.com/office/powerpoint/2010/main" val="2036331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Gated Recurrent Unit (GRU)</a:t>
            </a:r>
            <a:endParaRPr lang="en-US" dirty="0">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84BFEC9-2ABC-4B3D-9E96-A2375D8E2535}"/>
                  </a:ext>
                </a:extLst>
              </p:cNvPr>
              <p:cNvSpPr txBox="1"/>
              <p:nvPr/>
            </p:nvSpPr>
            <p:spPr>
              <a:xfrm>
                <a:off x="7219093" y="2558832"/>
                <a:ext cx="418537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𝑡</m:t>
                          </m:r>
                        </m:sub>
                      </m:sSub>
                      <m:r>
                        <a:rPr lang="en-US" sz="2400" i="1" smtClean="0">
                          <a:latin typeface="Cambria Math" panose="02040503050406030204" pitchFamily="18" charset="0"/>
                        </a:rPr>
                        <m:t>=</m:t>
                      </m:r>
                      <m:r>
                        <m:rPr>
                          <m:sty m:val="p"/>
                        </m:rPr>
                        <a:rPr lang="el-GR" sz="2400" b="0" i="1" smtClean="0">
                          <a:latin typeface="Cambria Math" panose="02040503050406030204" pitchFamily="18" charset="0"/>
                        </a:rPr>
                        <m:t>σ</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h𝑟</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𝑥𝑟</m:t>
                          </m:r>
                        </m:sub>
                      </m:s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𝑟</m:t>
                          </m:r>
                        </m:sub>
                      </m:sSub>
                      <m:r>
                        <a:rPr lang="en-US" sz="2400" b="0" i="1" smtClean="0">
                          <a:latin typeface="Cambria Math" panose="02040503050406030204" pitchFamily="18" charset="0"/>
                        </a:rPr>
                        <m:t>)</m:t>
                      </m:r>
                    </m:oMath>
                  </m:oMathPara>
                </a14:m>
                <a:endParaRPr lang="en-US" sz="2400" dirty="0"/>
              </a:p>
            </p:txBody>
          </p:sp>
        </mc:Choice>
        <mc:Fallback xmlns="">
          <p:sp>
            <p:nvSpPr>
              <p:cNvPr id="18" name="TextBox 17">
                <a:extLst>
                  <a:ext uri="{FF2B5EF4-FFF2-40B4-BE49-F238E27FC236}">
                    <a16:creationId xmlns:a16="http://schemas.microsoft.com/office/drawing/2014/main" id="{584BFEC9-2ABC-4B3D-9E96-A2375D8E2535}"/>
                  </a:ext>
                </a:extLst>
              </p:cNvPr>
              <p:cNvSpPr txBox="1">
                <a:spLocks noRot="1" noChangeAspect="1" noMove="1" noResize="1" noEditPoints="1" noAdjustHandles="1" noChangeArrowheads="1" noChangeShapeType="1" noTextEdit="1"/>
              </p:cNvSpPr>
              <p:nvPr/>
            </p:nvSpPr>
            <p:spPr>
              <a:xfrm>
                <a:off x="7219093" y="2558832"/>
                <a:ext cx="4185377" cy="369332"/>
              </a:xfrm>
              <a:prstGeom prst="rect">
                <a:avLst/>
              </a:prstGeom>
              <a:blipFill>
                <a:blip r:embed="rId3"/>
                <a:stretch>
                  <a:fillRect l="-1164" r="-2183" b="-3500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EBF5B97-8496-4E51-9E68-B3E27C572724}"/>
              </a:ext>
            </a:extLst>
          </p:cNvPr>
          <p:cNvPicPr>
            <a:picLocks noChangeAspect="1"/>
          </p:cNvPicPr>
          <p:nvPr/>
        </p:nvPicPr>
        <p:blipFill>
          <a:blip r:embed="rId4"/>
          <a:stretch>
            <a:fillRect/>
          </a:stretch>
        </p:blipFill>
        <p:spPr>
          <a:xfrm>
            <a:off x="1448752" y="1869757"/>
            <a:ext cx="4905375" cy="336232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91500F-18A9-4A65-8B39-95627B60DA5F}"/>
                  </a:ext>
                </a:extLst>
              </p:cNvPr>
              <p:cNvSpPr txBox="1"/>
              <p:nvPr/>
            </p:nvSpPr>
            <p:spPr>
              <a:xfrm>
                <a:off x="7219093" y="3066832"/>
                <a:ext cx="416223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𝑡</m:t>
                          </m:r>
                        </m:sub>
                      </m:sSub>
                      <m:r>
                        <a:rPr lang="en-US" sz="2400" i="1" smtClean="0">
                          <a:latin typeface="Cambria Math" panose="02040503050406030204" pitchFamily="18" charset="0"/>
                        </a:rPr>
                        <m:t>=</m:t>
                      </m:r>
                      <m:r>
                        <m:rPr>
                          <m:sty m:val="p"/>
                        </m:rPr>
                        <a:rPr lang="el-GR" sz="2400" b="0" i="1" smtClean="0">
                          <a:latin typeface="Cambria Math" panose="02040503050406030204" pitchFamily="18" charset="0"/>
                        </a:rPr>
                        <m:t>σ</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h𝑧</m:t>
                          </m:r>
                        </m:sub>
                      </m:sSub>
                      <m:sSub>
                        <m:sSubPr>
                          <m:ctrlPr>
                            <a:rPr lang="en-US" sz="2400" i="1">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𝑥𝑧</m:t>
                          </m:r>
                        </m:sub>
                      </m:s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7291500F-18A9-4A65-8B39-95627B60DA5F}"/>
                  </a:ext>
                </a:extLst>
              </p:cNvPr>
              <p:cNvSpPr txBox="1">
                <a:spLocks noRot="1" noChangeAspect="1" noMove="1" noResize="1" noEditPoints="1" noAdjustHandles="1" noChangeArrowheads="1" noChangeShapeType="1" noTextEdit="1"/>
              </p:cNvSpPr>
              <p:nvPr/>
            </p:nvSpPr>
            <p:spPr>
              <a:xfrm>
                <a:off x="7219093" y="3066832"/>
                <a:ext cx="4162230" cy="369332"/>
              </a:xfrm>
              <a:prstGeom prst="rect">
                <a:avLst/>
              </a:prstGeom>
              <a:blipFill>
                <a:blip r:embed="rId5"/>
                <a:stretch>
                  <a:fillRect l="-1171" r="-2196" b="-34426"/>
                </a:stretch>
              </a:blipFill>
            </p:spPr>
            <p:txBody>
              <a:bodyPr/>
              <a:lstStyle/>
              <a:p>
                <a:r>
                  <a:rPr lang="en-US">
                    <a:noFill/>
                  </a:rPr>
                  <a:t> </a:t>
                </a:r>
              </a:p>
            </p:txBody>
          </p:sp>
        </mc:Fallback>
      </mc:AlternateContent>
    </p:spTree>
    <p:extLst>
      <p:ext uri="{BB962C8B-B14F-4D97-AF65-F5344CB8AC3E}">
        <p14:creationId xmlns:p14="http://schemas.microsoft.com/office/powerpoint/2010/main" val="3628460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How GRU works?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7</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7</a:t>
            </a:fld>
            <a:endParaRPr lang="en-US"/>
          </a:p>
        </p:txBody>
      </p:sp>
      <mc:AlternateContent xmlns:mc="http://schemas.openxmlformats.org/markup-compatibility/2006" xmlns:a14="http://schemas.microsoft.com/office/drawing/2010/main">
        <mc:Choice Requires="a14">
          <p:sp>
            <p:nvSpPr>
              <p:cNvPr id="33" name="Content Placeholder 32">
                <a:extLst>
                  <a:ext uri="{FF2B5EF4-FFF2-40B4-BE49-F238E27FC236}">
                    <a16:creationId xmlns:a16="http://schemas.microsoft.com/office/drawing/2014/main" id="{465D80DC-0A40-488B-BCED-6C2D2F4097F1}"/>
                  </a:ext>
                </a:extLst>
              </p:cNvPr>
              <p:cNvSpPr>
                <a:spLocks noGrp="1"/>
              </p:cNvSpPr>
              <p:nvPr>
                <p:ph idx="1"/>
              </p:nvPr>
            </p:nvSpPr>
            <p:spPr>
              <a:xfrm>
                <a:off x="568498" y="1161634"/>
                <a:ext cx="10515600" cy="4710846"/>
              </a:xfrm>
            </p:spPr>
            <p:txBody>
              <a:bodyPr>
                <a:normAutofit lnSpcReduction="10000"/>
              </a:bodyPr>
              <a:lstStyle/>
              <a:p>
                <a:r>
                  <a:rPr lang="en-GB" b="0" i="0" dirty="0">
                    <a:solidFill>
                      <a:srgbClr val="222222"/>
                    </a:solidFill>
                    <a:effectLst/>
                    <a:latin typeface="Lato" panose="020F0502020204030203" pitchFamily="34" charset="0"/>
                  </a:rPr>
                  <a:t>Finding Hidden state </a:t>
                </a:r>
                <a:r>
                  <a:rPr lang="en-GB" b="0" i="0" dirty="0" err="1">
                    <a:solidFill>
                      <a:srgbClr val="222222"/>
                    </a:solidFill>
                    <a:effectLst/>
                    <a:latin typeface="Lato" panose="020F0502020204030203" pitchFamily="34" charset="0"/>
                  </a:rPr>
                  <a:t>h</a:t>
                </a:r>
                <a:r>
                  <a:rPr lang="en-GB" b="0" i="0" baseline="-25000" dirty="0" err="1">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in GRU is a two-step process. </a:t>
                </a:r>
              </a:p>
              <a:p>
                <a:r>
                  <a:rPr lang="en-GB" b="0" i="0" dirty="0">
                    <a:solidFill>
                      <a:srgbClr val="222222"/>
                    </a:solidFill>
                    <a:effectLst/>
                    <a:latin typeface="Lato" panose="020F0502020204030203" pitchFamily="34" charset="0"/>
                  </a:rPr>
                  <a:t>First step is to generate what is known as the </a:t>
                </a:r>
                <a:r>
                  <a:rPr lang="en-GB" b="0" i="0" dirty="0">
                    <a:solidFill>
                      <a:srgbClr val="FF0000"/>
                    </a:solidFill>
                    <a:effectLst/>
                    <a:latin typeface="Lato" panose="020F0502020204030203" pitchFamily="34" charset="0"/>
                  </a:rPr>
                  <a:t>candidate hidden state</a:t>
                </a:r>
                <a:r>
                  <a:rPr lang="en-GB" b="0" i="0" dirty="0">
                    <a:solidFill>
                      <a:srgbClr val="222222"/>
                    </a:solidFill>
                    <a:effectLst/>
                    <a:latin typeface="Lato" panose="020F0502020204030203" pitchFamily="34" charset="0"/>
                  </a:rPr>
                  <a:t>. As shown below</a:t>
                </a:r>
              </a:p>
              <a:p>
                <a:pPr lvl="1"/>
                <a14:m>
                  <m:oMath xmlns:m="http://schemas.openxmlformats.org/officeDocument/2006/math">
                    <m:sSub>
                      <m:sSubPr>
                        <m:ctrlPr>
                          <a:rPr lang="en-GB" i="1" smtClean="0">
                            <a:solidFill>
                              <a:srgbClr val="FF0000"/>
                            </a:solidFill>
                            <a:latin typeface="Cambria Math" panose="02040503050406030204" pitchFamily="18" charset="0"/>
                          </a:rPr>
                        </m:ctrlPr>
                      </m:sSubPr>
                      <m:e>
                        <m:acc>
                          <m:accPr>
                            <m:chr m:val="̂"/>
                            <m:ctrlPr>
                              <a:rPr lang="en-GB"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𝐻</m:t>
                            </m:r>
                          </m:e>
                        </m:acc>
                      </m:e>
                      <m:sub>
                        <m:r>
                          <a:rPr lang="en-US" b="0" i="1" smtClean="0">
                            <a:solidFill>
                              <a:srgbClr val="FF0000"/>
                            </a:solidFill>
                            <a:latin typeface="Cambria Math" panose="02040503050406030204" pitchFamily="18" charset="0"/>
                          </a:rPr>
                          <m:t>𝑡</m:t>
                        </m:r>
                      </m:sub>
                    </m:sSub>
                    <m:r>
                      <a:rPr lang="en-GB" i="1" smtClean="0">
                        <a:solidFill>
                          <a:srgbClr val="222222"/>
                        </a:solidFill>
                        <a:latin typeface="Cambria Math" panose="02040503050406030204" pitchFamily="18" charset="0"/>
                      </a:rPr>
                      <m:t>=</m:t>
                    </m:r>
                    <m:func>
                      <m:funcPr>
                        <m:ctrlPr>
                          <a:rPr lang="en-GB" i="1" smtClean="0">
                            <a:solidFill>
                              <a:srgbClr val="222222"/>
                            </a:solidFill>
                            <a:latin typeface="Cambria Math" panose="02040503050406030204" pitchFamily="18" charset="0"/>
                          </a:rPr>
                        </m:ctrlPr>
                      </m:funcPr>
                      <m:fName>
                        <m:r>
                          <m:rPr>
                            <m:sty m:val="p"/>
                          </m:rPr>
                          <a:rPr lang="en-GB" i="0" smtClean="0">
                            <a:solidFill>
                              <a:srgbClr val="222222"/>
                            </a:solidFill>
                            <a:latin typeface="Cambria Math" panose="02040503050406030204" pitchFamily="18" charset="0"/>
                          </a:rPr>
                          <m:t>tanh</m:t>
                        </m:r>
                      </m:fName>
                      <m:e>
                        <m:r>
                          <a:rPr lang="en-US" b="0" i="1" smtClean="0">
                            <a:solidFill>
                              <a:srgbClr val="222222"/>
                            </a:solidFill>
                            <a:latin typeface="Cambria Math" panose="02040503050406030204" pitchFamily="18" charset="0"/>
                          </a:rPr>
                          <m:t>(</m:t>
                        </m:r>
                        <m:sSub>
                          <m:sSubPr>
                            <m:ctrlPr>
                              <a:rPr lang="en-US" b="0" i="1" smtClean="0">
                                <a:solidFill>
                                  <a:srgbClr val="222222"/>
                                </a:solidFill>
                                <a:latin typeface="Cambria Math" panose="02040503050406030204" pitchFamily="18" charset="0"/>
                              </a:rPr>
                            </m:ctrlPr>
                          </m:sSubPr>
                          <m:e>
                            <m:r>
                              <a:rPr lang="en-US" b="0" i="1" smtClean="0">
                                <a:solidFill>
                                  <a:srgbClr val="222222"/>
                                </a:solidFill>
                                <a:latin typeface="Cambria Math" panose="02040503050406030204" pitchFamily="18" charset="0"/>
                              </a:rPr>
                              <m:t>𝑥</m:t>
                            </m:r>
                          </m:e>
                          <m:sub>
                            <m:r>
                              <a:rPr lang="en-US" b="0" i="1" smtClean="0">
                                <a:solidFill>
                                  <a:srgbClr val="222222"/>
                                </a:solidFill>
                                <a:latin typeface="Cambria Math" panose="02040503050406030204" pitchFamily="18" charset="0"/>
                              </a:rPr>
                              <m:t>𝑡</m:t>
                            </m:r>
                          </m:sub>
                        </m:sSub>
                        <m:r>
                          <a:rPr lang="en-US" b="0" i="1" smtClean="0">
                            <a:solidFill>
                              <a:srgbClr val="222222"/>
                            </a:solidFill>
                            <a:latin typeface="Cambria Math" panose="02040503050406030204" pitchFamily="18" charset="0"/>
                          </a:rPr>
                          <m:t>∗</m:t>
                        </m:r>
                        <m:sSub>
                          <m:sSubPr>
                            <m:ctrlPr>
                              <a:rPr lang="en-US" b="0" i="1" smtClean="0">
                                <a:solidFill>
                                  <a:srgbClr val="222222"/>
                                </a:solidFill>
                                <a:latin typeface="Cambria Math" panose="02040503050406030204" pitchFamily="18" charset="0"/>
                              </a:rPr>
                            </m:ctrlPr>
                          </m:sSubPr>
                          <m:e>
                            <m:r>
                              <a:rPr lang="en-US" b="0" i="1" smtClean="0">
                                <a:solidFill>
                                  <a:srgbClr val="222222"/>
                                </a:solidFill>
                                <a:latin typeface="Cambria Math" panose="02040503050406030204" pitchFamily="18" charset="0"/>
                              </a:rPr>
                              <m:t>𝑈</m:t>
                            </m:r>
                          </m:e>
                          <m:sub>
                            <m:r>
                              <a:rPr lang="en-US" b="0" i="1" smtClean="0">
                                <a:solidFill>
                                  <a:srgbClr val="222222"/>
                                </a:solidFill>
                                <a:latin typeface="Cambria Math" panose="02040503050406030204" pitchFamily="18" charset="0"/>
                              </a:rPr>
                              <m:t>𝑔</m:t>
                            </m:r>
                          </m:sub>
                        </m:sSub>
                        <m:r>
                          <a:rPr lang="en-US" b="0" i="1" smtClean="0">
                            <a:solidFill>
                              <a:srgbClr val="222222"/>
                            </a:solidFill>
                            <a:latin typeface="Cambria Math" panose="02040503050406030204" pitchFamily="18" charset="0"/>
                          </a:rPr>
                          <m:t>+</m:t>
                        </m:r>
                        <m:d>
                          <m:dPr>
                            <m:ctrlPr>
                              <a:rPr lang="en-US" b="0" i="1" smtClean="0">
                                <a:solidFill>
                                  <a:srgbClr val="222222"/>
                                </a:solidFill>
                                <a:latin typeface="Cambria Math" panose="02040503050406030204" pitchFamily="18" charset="0"/>
                              </a:rPr>
                            </m:ctrlPr>
                          </m:dPr>
                          <m:e>
                            <m:sSub>
                              <m:sSubPr>
                                <m:ctrlPr>
                                  <a:rPr lang="en-US" b="0" i="1" smtClean="0">
                                    <a:solidFill>
                                      <a:srgbClr val="222222"/>
                                    </a:solidFill>
                                    <a:latin typeface="Cambria Math" panose="02040503050406030204" pitchFamily="18" charset="0"/>
                                  </a:rPr>
                                </m:ctrlPr>
                              </m:sSubPr>
                              <m:e>
                                <m:r>
                                  <a:rPr lang="en-US" b="0" i="1" smtClean="0">
                                    <a:solidFill>
                                      <a:srgbClr val="222222"/>
                                    </a:solidFill>
                                    <a:latin typeface="Cambria Math" panose="02040503050406030204" pitchFamily="18" charset="0"/>
                                  </a:rPr>
                                  <m:t>𝑟</m:t>
                                </m:r>
                              </m:e>
                              <m:sub>
                                <m:r>
                                  <a:rPr lang="en-US" b="0" i="1" smtClean="0">
                                    <a:solidFill>
                                      <a:srgbClr val="222222"/>
                                    </a:solidFill>
                                    <a:latin typeface="Cambria Math" panose="02040503050406030204" pitchFamily="18" charset="0"/>
                                  </a:rPr>
                                  <m:t>𝑡</m:t>
                                </m:r>
                              </m:sub>
                            </m:sSub>
                            <m:sSub>
                              <m:sSubPr>
                                <m:ctrlPr>
                                  <a:rPr lang="en-US" b="0" i="1" smtClean="0">
                                    <a:solidFill>
                                      <a:srgbClr val="222222"/>
                                    </a:solidFill>
                                    <a:latin typeface="Cambria Math" panose="02040503050406030204" pitchFamily="18" charset="0"/>
                                  </a:rPr>
                                </m:ctrlPr>
                              </m:sSubPr>
                              <m:e>
                                <m:r>
                                  <a:rPr lang="en-US" i="1">
                                    <a:solidFill>
                                      <a:srgbClr val="222222"/>
                                    </a:solidFill>
                                    <a:latin typeface="Cambria Math" panose="02040503050406030204" pitchFamily="18" charset="0"/>
                                    <a:ea typeface="Cambria Math" panose="02040503050406030204" pitchFamily="18" charset="0"/>
                                  </a:rPr>
                                  <m:t>∙</m:t>
                                </m:r>
                                <m:r>
                                  <a:rPr lang="en-US" b="0" i="1" smtClean="0">
                                    <a:solidFill>
                                      <a:srgbClr val="222222"/>
                                    </a:solidFill>
                                    <a:latin typeface="Cambria Math" panose="02040503050406030204" pitchFamily="18" charset="0"/>
                                  </a:rPr>
                                  <m:t>𝐻</m:t>
                                </m:r>
                              </m:e>
                              <m:sub>
                                <m:r>
                                  <a:rPr lang="en-US" b="0" i="1" smtClean="0">
                                    <a:solidFill>
                                      <a:srgbClr val="222222"/>
                                    </a:solidFill>
                                    <a:latin typeface="Cambria Math" panose="02040503050406030204" pitchFamily="18" charset="0"/>
                                  </a:rPr>
                                  <m:t>𝑡</m:t>
                                </m:r>
                                <m:r>
                                  <a:rPr lang="en-US" b="0" i="1" smtClean="0">
                                    <a:solidFill>
                                      <a:srgbClr val="222222"/>
                                    </a:solidFill>
                                    <a:latin typeface="Cambria Math" panose="02040503050406030204" pitchFamily="18" charset="0"/>
                                  </a:rPr>
                                  <m:t>−1</m:t>
                                </m:r>
                              </m:sub>
                            </m:sSub>
                          </m:e>
                        </m:d>
                        <m:r>
                          <a:rPr lang="en-US" b="0" i="1" smtClean="0">
                            <a:solidFill>
                              <a:srgbClr val="222222"/>
                            </a:solidFill>
                            <a:latin typeface="Cambria Math" panose="02040503050406030204" pitchFamily="18" charset="0"/>
                          </a:rPr>
                          <m:t>∗</m:t>
                        </m:r>
                        <m:sSub>
                          <m:sSubPr>
                            <m:ctrlPr>
                              <a:rPr lang="en-US" b="0" i="1" smtClean="0">
                                <a:solidFill>
                                  <a:srgbClr val="222222"/>
                                </a:solidFill>
                                <a:latin typeface="Cambria Math" panose="02040503050406030204" pitchFamily="18" charset="0"/>
                              </a:rPr>
                            </m:ctrlPr>
                          </m:sSubPr>
                          <m:e>
                            <m:r>
                              <a:rPr lang="en-US" b="0" i="1" smtClean="0">
                                <a:solidFill>
                                  <a:srgbClr val="222222"/>
                                </a:solidFill>
                                <a:latin typeface="Cambria Math" panose="02040503050406030204" pitchFamily="18" charset="0"/>
                              </a:rPr>
                              <m:t>𝑊</m:t>
                            </m:r>
                          </m:e>
                          <m:sub>
                            <m:r>
                              <a:rPr lang="en-US" b="0" i="1" smtClean="0">
                                <a:solidFill>
                                  <a:srgbClr val="222222"/>
                                </a:solidFill>
                                <a:latin typeface="Cambria Math" panose="02040503050406030204" pitchFamily="18" charset="0"/>
                              </a:rPr>
                              <m:t>𝑔</m:t>
                            </m:r>
                            <m:r>
                              <a:rPr lang="en-US" b="0" i="1" smtClean="0">
                                <a:solidFill>
                                  <a:srgbClr val="222222"/>
                                </a:solidFill>
                                <a:latin typeface="Cambria Math" panose="02040503050406030204" pitchFamily="18" charset="0"/>
                              </a:rPr>
                              <m:t> </m:t>
                            </m:r>
                          </m:sub>
                        </m:sSub>
                        <m:r>
                          <a:rPr lang="en-US" b="0" i="1" smtClean="0">
                            <a:solidFill>
                              <a:srgbClr val="222222"/>
                            </a:solidFill>
                            <a:latin typeface="Cambria Math" panose="02040503050406030204" pitchFamily="18" charset="0"/>
                          </a:rPr>
                          <m:t>)</m:t>
                        </m:r>
                      </m:e>
                    </m:func>
                  </m:oMath>
                </a14:m>
                <a:endParaRPr lang="en-GB" dirty="0">
                  <a:solidFill>
                    <a:srgbClr val="222222"/>
                  </a:solidFill>
                  <a:latin typeface="Lato" panose="020F0502020204030203" pitchFamily="34" charset="0"/>
                </a:endParaRPr>
              </a:p>
              <a:p>
                <a:r>
                  <a:rPr lang="en-GB" b="0" i="0" dirty="0">
                    <a:solidFill>
                      <a:srgbClr val="222222"/>
                    </a:solidFill>
                    <a:effectLst/>
                    <a:latin typeface="Lato" panose="020F0502020204030203" pitchFamily="34" charset="0"/>
                  </a:rPr>
                  <a:t>Takes in the input the hidden state from the previous timestamp t-1 which is multiplied by the reset gate output r</a:t>
                </a:r>
                <a:r>
                  <a:rPr lang="en-GB" b="0" i="0" baseline="-25000" dirty="0">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a:t>
                </a:r>
              </a:p>
              <a:p>
                <a:r>
                  <a:rPr lang="en-GB" b="0" i="0" dirty="0">
                    <a:solidFill>
                      <a:srgbClr val="222222"/>
                    </a:solidFill>
                    <a:effectLst/>
                    <a:latin typeface="Lato" panose="020F0502020204030203" pitchFamily="34" charset="0"/>
                  </a:rPr>
                  <a:t>Later passed this entire information to the tanh function, the resultant value is the candidate’s hidden state.</a:t>
                </a:r>
              </a:p>
              <a:p>
                <a:pPr lvl="1"/>
                <a:r>
                  <a:rPr lang="en-GB" b="0" i="0" dirty="0">
                    <a:solidFill>
                      <a:srgbClr val="222222"/>
                    </a:solidFill>
                    <a:effectLst/>
                    <a:latin typeface="Lato" panose="020F0502020204030203" pitchFamily="34" charset="0"/>
                  </a:rPr>
                  <a:t>If r</a:t>
                </a:r>
                <a:r>
                  <a:rPr lang="en-GB" b="0" i="0" baseline="-25000" dirty="0">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 1 then entire information from the previous hidden state h</a:t>
                </a:r>
                <a:r>
                  <a:rPr lang="en-GB" b="0" i="0" baseline="-25000" dirty="0">
                    <a:solidFill>
                      <a:srgbClr val="222222"/>
                    </a:solidFill>
                    <a:effectLst/>
                    <a:latin typeface="Lato" panose="020F0502020204030203" pitchFamily="34" charset="0"/>
                  </a:rPr>
                  <a:t>t-1</a:t>
                </a:r>
                <a:r>
                  <a:rPr lang="en-GB" b="0" i="0" dirty="0">
                    <a:solidFill>
                      <a:srgbClr val="222222"/>
                    </a:solidFill>
                    <a:effectLst/>
                    <a:latin typeface="Lato" panose="020F0502020204030203" pitchFamily="34" charset="0"/>
                  </a:rPr>
                  <a:t> is being considered.</a:t>
                </a:r>
              </a:p>
              <a:p>
                <a:pPr lvl="1"/>
                <a:r>
                  <a:rPr lang="en-GB" b="0" i="0" dirty="0">
                    <a:solidFill>
                      <a:srgbClr val="222222"/>
                    </a:solidFill>
                    <a:effectLst/>
                    <a:latin typeface="Lato" panose="020F0502020204030203" pitchFamily="34" charset="0"/>
                  </a:rPr>
                  <a:t>If r</a:t>
                </a:r>
                <a:r>
                  <a:rPr lang="en-GB" b="0" i="0" baseline="-25000" dirty="0">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 0 then entire information from the previous hidden state h</a:t>
                </a:r>
                <a:r>
                  <a:rPr lang="en-GB" b="0" i="0" baseline="-25000" dirty="0">
                    <a:solidFill>
                      <a:srgbClr val="222222"/>
                    </a:solidFill>
                    <a:effectLst/>
                    <a:latin typeface="Lato" panose="020F0502020204030203" pitchFamily="34" charset="0"/>
                  </a:rPr>
                  <a:t>t-1</a:t>
                </a:r>
                <a:r>
                  <a:rPr lang="en-GB" b="0" i="0" dirty="0">
                    <a:solidFill>
                      <a:srgbClr val="222222"/>
                    </a:solidFill>
                    <a:effectLst/>
                    <a:latin typeface="Lato" panose="020F0502020204030203" pitchFamily="34" charset="0"/>
                  </a:rPr>
                  <a:t> is being ignored. </a:t>
                </a:r>
              </a:p>
            </p:txBody>
          </p:sp>
        </mc:Choice>
        <mc:Fallback xmlns="">
          <p:sp>
            <p:nvSpPr>
              <p:cNvPr id="33" name="Content Placeholder 32">
                <a:extLst>
                  <a:ext uri="{FF2B5EF4-FFF2-40B4-BE49-F238E27FC236}">
                    <a16:creationId xmlns:a16="http://schemas.microsoft.com/office/drawing/2014/main" id="{465D80DC-0A40-488B-BCED-6C2D2F4097F1}"/>
                  </a:ext>
                </a:extLst>
              </p:cNvPr>
              <p:cNvSpPr>
                <a:spLocks noGrp="1" noRot="1" noChangeAspect="1" noMove="1" noResize="1" noEditPoints="1" noAdjustHandles="1" noChangeArrowheads="1" noChangeShapeType="1" noTextEdit="1"/>
              </p:cNvSpPr>
              <p:nvPr>
                <p:ph idx="1"/>
              </p:nvPr>
            </p:nvSpPr>
            <p:spPr>
              <a:xfrm>
                <a:off x="568498" y="1161634"/>
                <a:ext cx="10515600" cy="4710846"/>
              </a:xfrm>
              <a:blipFill>
                <a:blip r:embed="rId3"/>
                <a:stretch>
                  <a:fillRect l="-1043" t="-3238" r="-1275" b="-648"/>
                </a:stretch>
              </a:blipFill>
            </p:spPr>
            <p:txBody>
              <a:bodyPr/>
              <a:lstStyle/>
              <a:p>
                <a:r>
                  <a:rPr lang="en-US">
                    <a:noFill/>
                  </a:rPr>
                  <a:t> </a:t>
                </a:r>
              </a:p>
            </p:txBody>
          </p:sp>
        </mc:Fallback>
      </mc:AlternateContent>
    </p:spTree>
    <p:extLst>
      <p:ext uri="{BB962C8B-B14F-4D97-AF65-F5344CB8AC3E}">
        <p14:creationId xmlns:p14="http://schemas.microsoft.com/office/powerpoint/2010/main" val="231422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Candidate Hidden State</a:t>
            </a:r>
            <a:endParaRPr lang="en-US" dirty="0">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84BFEC9-2ABC-4B3D-9E96-A2375D8E2535}"/>
                  </a:ext>
                </a:extLst>
              </p:cNvPr>
              <p:cNvSpPr txBox="1"/>
              <p:nvPr/>
            </p:nvSpPr>
            <p:spPr>
              <a:xfrm>
                <a:off x="6426613" y="1817152"/>
                <a:ext cx="5513304" cy="378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𝑡</m:t>
                              </m:r>
                            </m:sub>
                          </m:sSub>
                        </m:e>
                      </m:acc>
                      <m:r>
                        <a:rPr lang="en-US" sz="2400" i="1" smtClean="0">
                          <a:latin typeface="Cambria Math" panose="02040503050406030204" pitchFamily="18" charset="0"/>
                        </a:rPr>
                        <m:t>=</m:t>
                      </m:r>
                      <m:r>
                        <a:rPr lang="en-US" sz="2400" b="0" i="1" smtClean="0">
                          <a:latin typeface="Cambria Math" panose="02040503050406030204" pitchFamily="18" charset="0"/>
                        </a:rPr>
                        <m:t>𝑡𝑎𝑛h</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hh</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𝑡</m:t>
                              </m:r>
                            </m:sub>
                          </m:sSub>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𝐻</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𝑥h</m:t>
                          </m:r>
                        </m:sub>
                      </m:s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sub>
                      </m:sSub>
                      <m:r>
                        <a:rPr lang="en-US" sz="2400" b="0" i="1" smtClean="0">
                          <a:latin typeface="Cambria Math" panose="02040503050406030204" pitchFamily="18" charset="0"/>
                        </a:rPr>
                        <m:t>)</m:t>
                      </m:r>
                    </m:oMath>
                  </m:oMathPara>
                </a14:m>
                <a:endParaRPr lang="en-US" sz="2400" dirty="0"/>
              </a:p>
            </p:txBody>
          </p:sp>
        </mc:Choice>
        <mc:Fallback xmlns="">
          <p:sp>
            <p:nvSpPr>
              <p:cNvPr id="18" name="TextBox 17">
                <a:extLst>
                  <a:ext uri="{FF2B5EF4-FFF2-40B4-BE49-F238E27FC236}">
                    <a16:creationId xmlns:a16="http://schemas.microsoft.com/office/drawing/2014/main" id="{584BFEC9-2ABC-4B3D-9E96-A2375D8E2535}"/>
                  </a:ext>
                </a:extLst>
              </p:cNvPr>
              <p:cNvSpPr txBox="1">
                <a:spLocks noRot="1" noChangeAspect="1" noMove="1" noResize="1" noEditPoints="1" noAdjustHandles="1" noChangeArrowheads="1" noChangeShapeType="1" noTextEdit="1"/>
              </p:cNvSpPr>
              <p:nvPr/>
            </p:nvSpPr>
            <p:spPr>
              <a:xfrm>
                <a:off x="6426613" y="1817152"/>
                <a:ext cx="5513304" cy="378950"/>
              </a:xfrm>
              <a:prstGeom prst="rect">
                <a:avLst/>
              </a:prstGeom>
              <a:blipFill>
                <a:blip r:embed="rId3"/>
                <a:stretch>
                  <a:fillRect l="-1105" t="-17742" r="-1768" b="-3548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16DA7A7D-BCEE-4E75-BDA0-751651AB4CB1}"/>
              </a:ext>
            </a:extLst>
          </p:cNvPr>
          <p:cNvPicPr>
            <a:picLocks noChangeAspect="1"/>
          </p:cNvPicPr>
          <p:nvPr/>
        </p:nvPicPr>
        <p:blipFill>
          <a:blip r:embed="rId4"/>
          <a:stretch>
            <a:fillRect/>
          </a:stretch>
        </p:blipFill>
        <p:spPr>
          <a:xfrm>
            <a:off x="681672" y="1117768"/>
            <a:ext cx="6581775" cy="3362325"/>
          </a:xfrm>
          <a:prstGeom prst="rect">
            <a:avLst/>
          </a:prstGeom>
        </p:spPr>
      </p:pic>
      <p:sp>
        <p:nvSpPr>
          <p:cNvPr id="5" name="TextBox 4">
            <a:extLst>
              <a:ext uri="{FF2B5EF4-FFF2-40B4-BE49-F238E27FC236}">
                <a16:creationId xmlns:a16="http://schemas.microsoft.com/office/drawing/2014/main" id="{89BFA638-5842-4D50-A821-2F1D9DDA02EB}"/>
              </a:ext>
            </a:extLst>
          </p:cNvPr>
          <p:cNvSpPr txBox="1"/>
          <p:nvPr/>
        </p:nvSpPr>
        <p:spPr>
          <a:xfrm>
            <a:off x="450273" y="4754880"/>
            <a:ext cx="184731" cy="369332"/>
          </a:xfrm>
          <a:prstGeom prst="rect">
            <a:avLst/>
          </a:prstGeom>
          <a:noFill/>
        </p:spPr>
        <p:txBody>
          <a:bodyPr wrap="none" rtlCol="0">
            <a:spAutoFit/>
          </a:bodyPr>
          <a:lstStyle/>
          <a:p>
            <a:endParaRPr lang="en-US" dirty="0"/>
          </a:p>
        </p:txBody>
      </p:sp>
      <p:sp>
        <p:nvSpPr>
          <p:cNvPr id="8" name="Rectangle 3">
            <a:extLst>
              <a:ext uri="{FF2B5EF4-FFF2-40B4-BE49-F238E27FC236}">
                <a16:creationId xmlns:a16="http://schemas.microsoft.com/office/drawing/2014/main" id="{751C81CA-08F0-4804-89E4-C46A3C3773E6}"/>
              </a:ext>
            </a:extLst>
          </p:cNvPr>
          <p:cNvSpPr>
            <a:spLocks noChangeArrowheads="1"/>
          </p:cNvSpPr>
          <p:nvPr/>
        </p:nvSpPr>
        <p:spPr bwMode="auto">
          <a:xfrm>
            <a:off x="314960" y="4871700"/>
            <a:ext cx="95097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Roboto" panose="02000000000000000000" pitchFamily="2" charset="0"/>
              </a:rPr>
              <a:t>Here we use a nonlinearity in the form of tanh to ensure that the values in the candidate hidden state remain in the interval </a:t>
            </a:r>
            <a:r>
              <a:rPr kumimoji="0" lang="en-US" altLang="en-US" sz="1400" b="0" i="0" u="none" strike="noStrike" cap="none" normalizeH="0" baseline="0" dirty="0">
                <a:ln>
                  <a:noFill/>
                </a:ln>
                <a:solidFill>
                  <a:schemeClr val="tx1"/>
                </a:solidFill>
                <a:effectLst/>
                <a:latin typeface="MathJax_Main"/>
              </a:rPr>
              <a:t>(−1,1)</a:t>
            </a:r>
            <a:r>
              <a:rPr kumimoji="0" lang="en-US" altLang="en-US" sz="1200" b="0" i="0" u="none" strike="noStrike" cap="none" normalizeH="0" baseline="0" dirty="0">
                <a:ln>
                  <a:noFill/>
                </a:ln>
                <a:solidFill>
                  <a:schemeClr val="tx1"/>
                </a:solidFill>
                <a:effectLst/>
                <a:latin typeface="Roboto" panose="02000000000000000000" pitchFamily="2" charset="0"/>
              </a:rPr>
              <a:t>(−1,1).</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5863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How GRU works?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9</a:t>
            </a:fld>
            <a:endParaRPr lang="en-US" dirty="0">
              <a:solidFill>
                <a:schemeClr val="tx1"/>
              </a:solidFill>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9</a:t>
            </a:fld>
            <a:endParaRPr lang="en-US"/>
          </a:p>
        </p:txBody>
      </p:sp>
      <mc:AlternateContent xmlns:mc="http://schemas.openxmlformats.org/markup-compatibility/2006" xmlns:a14="http://schemas.microsoft.com/office/drawing/2010/main">
        <mc:Choice Requires="a14">
          <p:sp>
            <p:nvSpPr>
              <p:cNvPr id="33" name="Content Placeholder 32">
                <a:extLst>
                  <a:ext uri="{FF2B5EF4-FFF2-40B4-BE49-F238E27FC236}">
                    <a16:creationId xmlns:a16="http://schemas.microsoft.com/office/drawing/2014/main" id="{465D80DC-0A40-488B-BCED-6C2D2F4097F1}"/>
                  </a:ext>
                </a:extLst>
              </p:cNvPr>
              <p:cNvSpPr>
                <a:spLocks noGrp="1"/>
              </p:cNvSpPr>
              <p:nvPr>
                <p:ph idx="1"/>
              </p:nvPr>
            </p:nvSpPr>
            <p:spPr>
              <a:xfrm>
                <a:off x="568498" y="1161634"/>
                <a:ext cx="10785302" cy="4710846"/>
              </a:xfrm>
            </p:spPr>
            <p:txBody>
              <a:bodyPr>
                <a:normAutofit/>
              </a:bodyPr>
              <a:lstStyle/>
              <a:p>
                <a:r>
                  <a:rPr lang="en-GB" b="0" i="0" dirty="0">
                    <a:solidFill>
                      <a:srgbClr val="222222"/>
                    </a:solidFill>
                    <a:effectLst/>
                    <a:latin typeface="Lato" panose="020F0502020204030203" pitchFamily="34" charset="0"/>
                  </a:rPr>
                  <a:t>Generate the Hidden state </a:t>
                </a:r>
                <a:r>
                  <a:rPr lang="en-GB" b="0" i="0" dirty="0" err="1">
                    <a:solidFill>
                      <a:srgbClr val="222222"/>
                    </a:solidFill>
                    <a:effectLst/>
                    <a:latin typeface="Lato" panose="020F0502020204030203" pitchFamily="34" charset="0"/>
                  </a:rPr>
                  <a:t>h</a:t>
                </a:r>
                <a:r>
                  <a:rPr lang="en-GB" b="0" i="0" baseline="-25000" dirty="0" err="1">
                    <a:solidFill>
                      <a:srgbClr val="222222"/>
                    </a:solidFill>
                    <a:effectLst/>
                    <a:latin typeface="Lato" panose="020F0502020204030203" pitchFamily="34" charset="0"/>
                  </a:rPr>
                  <a:t>t</a:t>
                </a:r>
                <a:r>
                  <a:rPr lang="en-GB" baseline="-25000" dirty="0">
                    <a:solidFill>
                      <a:srgbClr val="222222"/>
                    </a:solidFill>
                    <a:latin typeface="Lato" panose="020F0502020204030203" pitchFamily="34" charset="0"/>
                  </a:rPr>
                  <a:t> </a:t>
                </a:r>
                <a:r>
                  <a:rPr lang="en-GB" dirty="0">
                    <a:solidFill>
                      <a:srgbClr val="222222"/>
                    </a:solidFill>
                    <a:latin typeface="Lato" panose="020F0502020204030203" pitchFamily="34" charset="0"/>
                  </a:rPr>
                  <a:t>using the update gate.</a:t>
                </a:r>
              </a:p>
              <a:p>
                <a:r>
                  <a:rPr lang="en-GB" b="0" i="0" dirty="0">
                    <a:solidFill>
                      <a:srgbClr val="222222"/>
                    </a:solidFill>
                    <a:effectLst/>
                    <a:latin typeface="Lato" panose="020F0502020204030203" pitchFamily="34" charset="0"/>
                  </a:rPr>
                  <a:t>Instead of using a separate gate like LSTM there is a single update gate.</a:t>
                </a:r>
              </a:p>
              <a:p>
                <a:pPr lvl="1"/>
                <a14:m>
                  <m:oMath xmlns:m="http://schemas.openxmlformats.org/officeDocument/2006/math">
                    <m:sSub>
                      <m:sSubPr>
                        <m:ctrlPr>
                          <a:rPr lang="en-GB" i="1" smtClean="0">
                            <a:solidFill>
                              <a:srgbClr val="222222"/>
                            </a:solidFill>
                            <a:latin typeface="Cambria Math" panose="02040503050406030204" pitchFamily="18" charset="0"/>
                          </a:rPr>
                        </m:ctrlPr>
                      </m:sSubPr>
                      <m:e>
                        <m:r>
                          <a:rPr lang="en-US" i="1" smtClean="0">
                            <a:solidFill>
                              <a:srgbClr val="222222"/>
                            </a:solidFill>
                            <a:latin typeface="Cambria Math" panose="02040503050406030204" pitchFamily="18" charset="0"/>
                          </a:rPr>
                          <m:t>𝐻</m:t>
                        </m:r>
                      </m:e>
                      <m:sub>
                        <m:r>
                          <a:rPr lang="en-US" b="0" i="1" smtClean="0">
                            <a:solidFill>
                              <a:srgbClr val="222222"/>
                            </a:solidFill>
                            <a:latin typeface="Cambria Math" panose="02040503050406030204" pitchFamily="18" charset="0"/>
                          </a:rPr>
                          <m:t>𝑡</m:t>
                        </m:r>
                      </m:sub>
                    </m:sSub>
                    <m:r>
                      <a:rPr lang="en-GB" i="1" smtClean="0">
                        <a:solidFill>
                          <a:srgbClr val="222222"/>
                        </a:solidFill>
                        <a:latin typeface="Cambria Math" panose="02040503050406030204" pitchFamily="18" charset="0"/>
                      </a:rPr>
                      <m:t>=</m:t>
                    </m:r>
                  </m:oMath>
                </a14:m>
                <a:r>
                  <a:rPr lang="en-GB" dirty="0">
                    <a:solidFill>
                      <a:srgbClr val="222222"/>
                    </a:solidFill>
                    <a:latin typeface="Lato" panose="020F0502020204030203" pitchFamily="34" charset="0"/>
                  </a:rPr>
                  <a:t> </a:t>
                </a:r>
                <a14:m>
                  <m:oMath xmlns:m="http://schemas.openxmlformats.org/officeDocument/2006/math">
                    <m:sSub>
                      <m:sSubPr>
                        <m:ctrlPr>
                          <a:rPr lang="en-GB" i="1" dirty="0" smtClean="0">
                            <a:solidFill>
                              <a:srgbClr val="222222"/>
                            </a:solidFill>
                            <a:latin typeface="Cambria Math" panose="02040503050406030204" pitchFamily="18" charset="0"/>
                          </a:rPr>
                        </m:ctrlPr>
                      </m:sSubPr>
                      <m:e>
                        <m:r>
                          <a:rPr lang="en-US" b="0" i="1" dirty="0" smtClean="0">
                            <a:solidFill>
                              <a:srgbClr val="222222"/>
                            </a:solidFill>
                            <a:latin typeface="Cambria Math" panose="02040503050406030204" pitchFamily="18" charset="0"/>
                          </a:rPr>
                          <m:t>𝑢</m:t>
                        </m:r>
                      </m:e>
                      <m:sub>
                        <m:r>
                          <a:rPr lang="en-US" b="0" i="1" dirty="0" smtClean="0">
                            <a:solidFill>
                              <a:srgbClr val="222222"/>
                            </a:solidFill>
                            <a:latin typeface="Cambria Math" panose="02040503050406030204" pitchFamily="18" charset="0"/>
                          </a:rPr>
                          <m:t>𝑡</m:t>
                        </m:r>
                      </m:sub>
                    </m:sSub>
                    <m:sSub>
                      <m:sSubPr>
                        <m:ctrlPr>
                          <a:rPr lang="en-GB" i="1" dirty="0" smtClean="0">
                            <a:solidFill>
                              <a:srgbClr val="222222"/>
                            </a:solidFill>
                            <a:latin typeface="Cambria Math" panose="02040503050406030204" pitchFamily="18" charset="0"/>
                          </a:rPr>
                        </m:ctrlPr>
                      </m:sSubPr>
                      <m:e>
                        <m:r>
                          <a:rPr lang="en-US" i="1">
                            <a:solidFill>
                              <a:srgbClr val="222222"/>
                            </a:solidFill>
                            <a:latin typeface="Cambria Math" panose="02040503050406030204" pitchFamily="18" charset="0"/>
                            <a:ea typeface="Cambria Math" panose="02040503050406030204" pitchFamily="18" charset="0"/>
                          </a:rPr>
                          <m:t>∙</m:t>
                        </m:r>
                        <m:r>
                          <a:rPr lang="en-US" b="0" i="1" dirty="0" smtClean="0">
                            <a:solidFill>
                              <a:srgbClr val="222222"/>
                            </a:solidFill>
                            <a:latin typeface="Cambria Math" panose="02040503050406030204" pitchFamily="18" charset="0"/>
                          </a:rPr>
                          <m:t>𝐻</m:t>
                        </m:r>
                      </m:e>
                      <m:sub>
                        <m:r>
                          <a:rPr lang="en-US" b="0" i="1" dirty="0" smtClean="0">
                            <a:solidFill>
                              <a:srgbClr val="222222"/>
                            </a:solidFill>
                            <a:latin typeface="Cambria Math" panose="02040503050406030204" pitchFamily="18" charset="0"/>
                          </a:rPr>
                          <m:t>𝑡</m:t>
                        </m:r>
                        <m:r>
                          <a:rPr lang="en-US" b="0" i="1" dirty="0" smtClean="0">
                            <a:solidFill>
                              <a:srgbClr val="222222"/>
                            </a:solidFill>
                            <a:latin typeface="Cambria Math" panose="02040503050406030204" pitchFamily="18" charset="0"/>
                          </a:rPr>
                          <m:t>−1</m:t>
                        </m:r>
                      </m:sub>
                    </m:sSub>
                    <m:r>
                      <a:rPr lang="en-US" b="0" i="1" dirty="0" smtClean="0">
                        <a:solidFill>
                          <a:srgbClr val="222222"/>
                        </a:solidFill>
                        <a:latin typeface="Cambria Math" panose="02040503050406030204" pitchFamily="18" charset="0"/>
                      </a:rPr>
                      <m:t>+(1−</m:t>
                    </m:r>
                    <m:sSub>
                      <m:sSubPr>
                        <m:ctrlPr>
                          <a:rPr lang="en-US" b="0" i="1" dirty="0" smtClean="0">
                            <a:solidFill>
                              <a:srgbClr val="222222"/>
                            </a:solidFill>
                            <a:latin typeface="Cambria Math" panose="02040503050406030204" pitchFamily="18" charset="0"/>
                          </a:rPr>
                        </m:ctrlPr>
                      </m:sSubPr>
                      <m:e>
                        <m:r>
                          <a:rPr lang="en-US" b="0" i="1" dirty="0" smtClean="0">
                            <a:solidFill>
                              <a:srgbClr val="222222"/>
                            </a:solidFill>
                            <a:latin typeface="Cambria Math" panose="02040503050406030204" pitchFamily="18" charset="0"/>
                          </a:rPr>
                          <m:t>𝑢</m:t>
                        </m:r>
                      </m:e>
                      <m:sub>
                        <m:r>
                          <a:rPr lang="en-US" b="0" i="1" dirty="0" smtClean="0">
                            <a:solidFill>
                              <a:srgbClr val="222222"/>
                            </a:solidFill>
                            <a:latin typeface="Cambria Math" panose="02040503050406030204" pitchFamily="18" charset="0"/>
                          </a:rPr>
                          <m:t>𝑡</m:t>
                        </m:r>
                      </m:sub>
                    </m:sSub>
                    <m:r>
                      <a:rPr lang="en-US" b="0" i="1" dirty="0" smtClean="0">
                        <a:solidFill>
                          <a:srgbClr val="222222"/>
                        </a:solidFill>
                        <a:latin typeface="Cambria Math" panose="02040503050406030204" pitchFamily="18" charset="0"/>
                      </a:rPr>
                      <m:t>)</m:t>
                    </m:r>
                  </m:oMath>
                </a14:m>
                <a:r>
                  <a:rPr lang="en-US" dirty="0">
                    <a:solidFill>
                      <a:srgbClr val="222222"/>
                    </a:solidFill>
                    <a:ea typeface="Cambria Math" panose="02040503050406030204" pitchFamily="18" charset="0"/>
                  </a:rPr>
                  <a:t> </a:t>
                </a:r>
                <a14:m>
                  <m:oMath xmlns:m="http://schemas.openxmlformats.org/officeDocument/2006/math">
                    <m:r>
                      <a:rPr lang="en-US" i="1">
                        <a:solidFill>
                          <a:srgbClr val="222222"/>
                        </a:solidFill>
                        <a:latin typeface="Cambria Math" panose="02040503050406030204" pitchFamily="18" charset="0"/>
                        <a:ea typeface="Cambria Math" panose="02040503050406030204" pitchFamily="18" charset="0"/>
                      </a:rPr>
                      <m:t>∙</m:t>
                    </m:r>
                  </m:oMath>
                </a14:m>
                <a:r>
                  <a:rPr lang="en-GB" dirty="0">
                    <a:solidFill>
                      <a:srgbClr val="FF0000"/>
                    </a:solidFill>
                  </a:rPr>
                  <a:t> </a:t>
                </a:r>
                <a14:m>
                  <m:oMath xmlns:m="http://schemas.openxmlformats.org/officeDocument/2006/math">
                    <m:sSub>
                      <m:sSubPr>
                        <m:ctrlPr>
                          <a:rPr lang="en-GB" i="1" smtClean="0">
                            <a:solidFill>
                              <a:schemeClr val="tx1"/>
                            </a:solidFill>
                            <a:latin typeface="Cambria Math" panose="02040503050406030204" pitchFamily="18" charset="0"/>
                          </a:rPr>
                        </m:ctrlPr>
                      </m:sSubPr>
                      <m:e>
                        <m:acc>
                          <m:accPr>
                            <m:chr m:val="̂"/>
                            <m:ctrlPr>
                              <a:rPr lang="en-GB"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𝐻</m:t>
                            </m:r>
                          </m:e>
                        </m:acc>
                      </m:e>
                      <m:sub>
                        <m:r>
                          <a:rPr lang="en-US" i="1">
                            <a:solidFill>
                              <a:schemeClr val="tx1"/>
                            </a:solidFill>
                            <a:latin typeface="Cambria Math" panose="02040503050406030204" pitchFamily="18" charset="0"/>
                          </a:rPr>
                          <m:t>𝑡</m:t>
                        </m:r>
                      </m:sub>
                    </m:sSub>
                  </m:oMath>
                </a14:m>
                <a:endParaRPr lang="en-GB" dirty="0">
                  <a:solidFill>
                    <a:srgbClr val="222222"/>
                  </a:solidFill>
                  <a:latin typeface="Lato" panose="020F0502020204030203" pitchFamily="34" charset="0"/>
                </a:endParaRPr>
              </a:p>
              <a:p>
                <a:pPr lvl="1"/>
                <a:r>
                  <a:rPr lang="en-GB" b="0" i="0" dirty="0">
                    <a:solidFill>
                      <a:srgbClr val="222222"/>
                    </a:solidFill>
                    <a:effectLst/>
                    <a:latin typeface="Lato" panose="020F0502020204030203" pitchFamily="34" charset="0"/>
                  </a:rPr>
                  <a:t>If </a:t>
                </a:r>
                <a:r>
                  <a:rPr lang="en-GB" b="0" i="0" dirty="0" err="1">
                    <a:solidFill>
                      <a:srgbClr val="222222"/>
                    </a:solidFill>
                    <a:effectLst/>
                    <a:latin typeface="Lato" panose="020F0502020204030203" pitchFamily="34" charset="0"/>
                  </a:rPr>
                  <a:t>u</a:t>
                </a:r>
                <a:r>
                  <a:rPr lang="en-GB" b="0" i="0" baseline="-25000" dirty="0" err="1">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 </a:t>
                </a:r>
                <a:r>
                  <a:rPr lang="en-GB" dirty="0">
                    <a:solidFill>
                      <a:srgbClr val="222222"/>
                    </a:solidFill>
                    <a:latin typeface="Lato" panose="020F0502020204030203" pitchFamily="34" charset="0"/>
                  </a:rPr>
                  <a:t>1</a:t>
                </a:r>
                <a:r>
                  <a:rPr lang="en-GB" b="0" i="0" dirty="0">
                    <a:solidFill>
                      <a:srgbClr val="222222"/>
                    </a:solidFill>
                    <a:effectLst/>
                    <a:latin typeface="Lato" panose="020F0502020204030203" pitchFamily="34" charset="0"/>
                  </a:rPr>
                  <a:t> then second term in equation is zero i.e. new hidden state will have all information from previous hidden state and no information from candidate state.</a:t>
                </a:r>
              </a:p>
              <a:p>
                <a:pPr lvl="1"/>
                <a:r>
                  <a:rPr lang="en-GB" b="0" i="0" dirty="0">
                    <a:solidFill>
                      <a:srgbClr val="222222"/>
                    </a:solidFill>
                    <a:effectLst/>
                    <a:latin typeface="Lato" panose="020F0502020204030203" pitchFamily="34" charset="0"/>
                  </a:rPr>
                  <a:t>If </a:t>
                </a:r>
                <a:r>
                  <a:rPr lang="en-GB" b="0" i="0" dirty="0" err="1">
                    <a:solidFill>
                      <a:srgbClr val="222222"/>
                    </a:solidFill>
                    <a:effectLst/>
                    <a:latin typeface="Lato" panose="020F0502020204030203" pitchFamily="34" charset="0"/>
                  </a:rPr>
                  <a:t>u</a:t>
                </a:r>
                <a:r>
                  <a:rPr lang="en-GB" b="0" i="0" baseline="-25000" dirty="0" err="1">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 0 then first term in equation is zero i.e. new hidden state will not have any information from previous hidden state and all informatio</a:t>
                </a:r>
                <a:r>
                  <a:rPr lang="en-GB" dirty="0">
                    <a:solidFill>
                      <a:srgbClr val="222222"/>
                    </a:solidFill>
                    <a:latin typeface="Lato" panose="020F0502020204030203" pitchFamily="34" charset="0"/>
                  </a:rPr>
                  <a:t>n is from candidate state.</a:t>
                </a:r>
              </a:p>
              <a:p>
                <a:r>
                  <a:rPr lang="en-GB" b="0" i="0" dirty="0" err="1">
                    <a:solidFill>
                      <a:srgbClr val="222222"/>
                    </a:solidFill>
                    <a:effectLst/>
                    <a:latin typeface="Lato" panose="020F0502020204030203" pitchFamily="34" charset="0"/>
                  </a:rPr>
                  <a:t>u</a:t>
                </a:r>
                <a:r>
                  <a:rPr lang="en-GB" b="0" i="0" baseline="-25000" dirty="0" err="1">
                    <a:solidFill>
                      <a:srgbClr val="222222"/>
                    </a:solidFill>
                    <a:effectLst/>
                    <a:latin typeface="Lato" panose="020F0502020204030203" pitchFamily="34" charset="0"/>
                  </a:rPr>
                  <a:t>t</a:t>
                </a:r>
                <a:r>
                  <a:rPr lang="en-GB" b="0" i="0" dirty="0">
                    <a:solidFill>
                      <a:srgbClr val="222222"/>
                    </a:solidFill>
                    <a:effectLst/>
                    <a:latin typeface="Lato" panose="020F0502020204030203" pitchFamily="34" charset="0"/>
                  </a:rPr>
                  <a:t> has range 0 to 1. </a:t>
                </a:r>
              </a:p>
            </p:txBody>
          </p:sp>
        </mc:Choice>
        <mc:Fallback xmlns="">
          <p:sp>
            <p:nvSpPr>
              <p:cNvPr id="33" name="Content Placeholder 32">
                <a:extLst>
                  <a:ext uri="{FF2B5EF4-FFF2-40B4-BE49-F238E27FC236}">
                    <a16:creationId xmlns:a16="http://schemas.microsoft.com/office/drawing/2014/main" id="{465D80DC-0A40-488B-BCED-6C2D2F4097F1}"/>
                  </a:ext>
                </a:extLst>
              </p:cNvPr>
              <p:cNvSpPr>
                <a:spLocks noGrp="1" noRot="1" noChangeAspect="1" noMove="1" noResize="1" noEditPoints="1" noAdjustHandles="1" noChangeArrowheads="1" noChangeShapeType="1" noTextEdit="1"/>
              </p:cNvSpPr>
              <p:nvPr>
                <p:ph idx="1"/>
              </p:nvPr>
            </p:nvSpPr>
            <p:spPr>
              <a:xfrm>
                <a:off x="568498" y="1161634"/>
                <a:ext cx="10785302" cy="4710846"/>
              </a:xfrm>
              <a:blipFill>
                <a:blip r:embed="rId3"/>
                <a:stretch>
                  <a:fillRect l="-1017" t="-2332" r="-847"/>
                </a:stretch>
              </a:blipFill>
            </p:spPr>
            <p:txBody>
              <a:bodyPr/>
              <a:lstStyle/>
              <a:p>
                <a:r>
                  <a:rPr lang="en-US">
                    <a:noFill/>
                  </a:rPr>
                  <a:t> </a:t>
                </a:r>
              </a:p>
            </p:txBody>
          </p:sp>
        </mc:Fallback>
      </mc:AlternateContent>
    </p:spTree>
    <p:extLst>
      <p:ext uri="{BB962C8B-B14F-4D97-AF65-F5344CB8AC3E}">
        <p14:creationId xmlns:p14="http://schemas.microsoft.com/office/powerpoint/2010/main" val="3324505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Hidden State</a:t>
            </a:r>
            <a:endParaRPr lang="en-US" dirty="0">
              <a:solidFill>
                <a:schemeClr val="tx1"/>
              </a:solidFill>
            </a:endParaRPr>
          </a:p>
        </p:txBody>
      </p:sp>
      <p:pic>
        <p:nvPicPr>
          <p:cNvPr id="3" name="Picture 2">
            <a:extLst>
              <a:ext uri="{FF2B5EF4-FFF2-40B4-BE49-F238E27FC236}">
                <a16:creationId xmlns:a16="http://schemas.microsoft.com/office/drawing/2014/main" id="{5A34F1EC-240B-461A-A7D7-F0330A1B22C2}"/>
              </a:ext>
            </a:extLst>
          </p:cNvPr>
          <p:cNvPicPr>
            <a:picLocks noChangeAspect="1"/>
          </p:cNvPicPr>
          <p:nvPr/>
        </p:nvPicPr>
        <p:blipFill>
          <a:blip r:embed="rId3"/>
          <a:stretch>
            <a:fillRect/>
          </a:stretch>
        </p:blipFill>
        <p:spPr>
          <a:xfrm>
            <a:off x="275272" y="1691243"/>
            <a:ext cx="6581775" cy="330517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C0F626-E69D-4149-AEDB-6A23030C45D1}"/>
                  </a:ext>
                </a:extLst>
              </p:cNvPr>
              <p:cNvSpPr txBox="1"/>
              <p:nvPr/>
            </p:nvSpPr>
            <p:spPr>
              <a:xfrm>
                <a:off x="6228423" y="1827312"/>
                <a:ext cx="4162806" cy="4285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𝑡</m:t>
                          </m:r>
                        </m:sub>
                      </m:sSub>
                      <m:r>
                        <a:rPr lang="en-US" sz="240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𝑡</m:t>
                              </m:r>
                            </m:sub>
                          </m:sSub>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𝐻</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b="0" i="1" smtClean="0">
                                  <a:latin typeface="Cambria Math" panose="02040503050406030204" pitchFamily="18" charset="0"/>
                                </a:rPr>
                                <m:t>(1−</m:t>
                              </m:r>
                              <m:r>
                                <a:rPr lang="en-US" sz="2400" i="1">
                                  <a:latin typeface="Cambria Math" panose="02040503050406030204" pitchFamily="18" charset="0"/>
                                </a:rPr>
                                <m:t>𝑍</m:t>
                              </m:r>
                            </m:e>
                            <m:sub>
                              <m:r>
                                <a:rPr lang="en-US" sz="2400" i="1">
                                  <a:latin typeface="Cambria Math" panose="02040503050406030204" pitchFamily="18" charset="0"/>
                                </a:rPr>
                                <m:t>𝑡</m:t>
                              </m:r>
                            </m:sub>
                          </m:sSub>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sSub>
                            </m:e>
                          </m:acc>
                        </m:e>
                        <m:sub>
                          <m:r>
                            <a:rPr lang="en-US" sz="2400" i="1">
                              <a:latin typeface="Cambria Math" panose="02040503050406030204" pitchFamily="18" charset="0"/>
                            </a:rPr>
                            <m:t>𝑡</m:t>
                          </m:r>
                        </m:sub>
                      </m:sSub>
                    </m:oMath>
                  </m:oMathPara>
                </a14:m>
                <a:endParaRPr lang="en-US" sz="2400" dirty="0"/>
              </a:p>
            </p:txBody>
          </p:sp>
        </mc:Choice>
        <mc:Fallback xmlns="">
          <p:sp>
            <p:nvSpPr>
              <p:cNvPr id="7" name="TextBox 6">
                <a:extLst>
                  <a:ext uri="{FF2B5EF4-FFF2-40B4-BE49-F238E27FC236}">
                    <a16:creationId xmlns:a16="http://schemas.microsoft.com/office/drawing/2014/main" id="{26C0F626-E69D-4149-AEDB-6A23030C45D1}"/>
                  </a:ext>
                </a:extLst>
              </p:cNvPr>
              <p:cNvSpPr txBox="1">
                <a:spLocks noRot="1" noChangeAspect="1" noMove="1" noResize="1" noEditPoints="1" noAdjustHandles="1" noChangeArrowheads="1" noChangeShapeType="1" noTextEdit="1"/>
              </p:cNvSpPr>
              <p:nvPr/>
            </p:nvSpPr>
            <p:spPr>
              <a:xfrm>
                <a:off x="6228423" y="1827312"/>
                <a:ext cx="4162806" cy="42851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83995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Implementation</a:t>
            </a:r>
            <a:endParaRPr lang="en-US" dirty="0">
              <a:solidFill>
                <a:schemeClr val="tx1"/>
              </a:solidFill>
            </a:endParaRPr>
          </a:p>
        </p:txBody>
      </p:sp>
      <p:sp>
        <p:nvSpPr>
          <p:cNvPr id="4" name="TextBox 3">
            <a:extLst>
              <a:ext uri="{FF2B5EF4-FFF2-40B4-BE49-F238E27FC236}">
                <a16:creationId xmlns:a16="http://schemas.microsoft.com/office/drawing/2014/main" id="{0A5D3F52-48A4-4A40-AA8E-B31B95F93DED}"/>
              </a:ext>
            </a:extLst>
          </p:cNvPr>
          <p:cNvSpPr txBox="1"/>
          <p:nvPr/>
        </p:nvSpPr>
        <p:spPr>
          <a:xfrm>
            <a:off x="701040" y="1554480"/>
            <a:ext cx="10607040" cy="3293209"/>
          </a:xfrm>
          <a:prstGeom prst="rect">
            <a:avLst/>
          </a:prstGeom>
          <a:noFill/>
        </p:spPr>
        <p:txBody>
          <a:bodyPr wrap="square" rtlCol="0">
            <a:spAutoFit/>
          </a:bodyPr>
          <a:lstStyle/>
          <a:p>
            <a:r>
              <a:rPr lang="en-US" sz="2800" dirty="0"/>
              <a:t>Read time machine data set using </a:t>
            </a:r>
            <a:r>
              <a:rPr lang="en-US" sz="2800" dirty="0" err="1"/>
              <a:t>pytorch</a:t>
            </a:r>
            <a:endParaRPr lang="en-US" sz="2800" dirty="0"/>
          </a:p>
          <a:p>
            <a:endParaRPr lang="en-US" dirty="0"/>
          </a:p>
          <a:p>
            <a:endParaRPr lang="en-GB" dirty="0"/>
          </a:p>
          <a:p>
            <a:r>
              <a:rPr lang="en-GB" dirty="0"/>
              <a:t>import torch</a:t>
            </a:r>
          </a:p>
          <a:p>
            <a:r>
              <a:rPr lang="en-GB" dirty="0"/>
              <a:t>from torch import </a:t>
            </a:r>
            <a:r>
              <a:rPr lang="en-GB" dirty="0" err="1"/>
              <a:t>nn</a:t>
            </a:r>
            <a:endParaRPr lang="en-GB" dirty="0"/>
          </a:p>
          <a:p>
            <a:r>
              <a:rPr lang="en-GB" dirty="0"/>
              <a:t>from d2l import torch as d2l</a:t>
            </a:r>
          </a:p>
          <a:p>
            <a:endParaRPr lang="en-GB" dirty="0"/>
          </a:p>
          <a:p>
            <a:r>
              <a:rPr lang="en-GB" dirty="0" err="1"/>
              <a:t>batch_size</a:t>
            </a:r>
            <a:r>
              <a:rPr lang="en-GB" dirty="0"/>
              <a:t>, </a:t>
            </a:r>
            <a:r>
              <a:rPr lang="en-GB" dirty="0" err="1"/>
              <a:t>num_steps</a:t>
            </a:r>
            <a:r>
              <a:rPr lang="en-GB" dirty="0"/>
              <a:t> = 32, 35</a:t>
            </a:r>
          </a:p>
          <a:p>
            <a:r>
              <a:rPr lang="en-GB" dirty="0" err="1"/>
              <a:t>train_iter</a:t>
            </a:r>
            <a:r>
              <a:rPr lang="en-GB" dirty="0"/>
              <a:t>, vocab = d2l.load_data_time_machine(</a:t>
            </a:r>
            <a:r>
              <a:rPr lang="en-GB" dirty="0" err="1"/>
              <a:t>batch_size</a:t>
            </a:r>
            <a:r>
              <a:rPr lang="en-GB" dirty="0"/>
              <a:t>, </a:t>
            </a:r>
            <a:r>
              <a:rPr lang="en-GB" dirty="0" err="1"/>
              <a:t>num_steps</a:t>
            </a:r>
            <a:r>
              <a:rPr lang="en-GB" dirty="0"/>
              <a:t>)</a:t>
            </a:r>
            <a:endParaRPr lang="en-US" dirty="0"/>
          </a:p>
          <a:p>
            <a:endParaRPr lang="en-US" dirty="0"/>
          </a:p>
          <a:p>
            <a:endParaRPr lang="en-US" dirty="0"/>
          </a:p>
        </p:txBody>
      </p:sp>
    </p:spTree>
    <p:extLst>
      <p:ext uri="{BB962C8B-B14F-4D97-AF65-F5344CB8AC3E}">
        <p14:creationId xmlns:p14="http://schemas.microsoft.com/office/powerpoint/2010/main" val="586217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0"/>
            <a:ext cx="11291454" cy="770948"/>
          </a:xfrm>
        </p:spPr>
        <p:txBody>
          <a:bodyPr/>
          <a:lstStyle/>
          <a:p>
            <a:r>
              <a:rPr lang="en-US" dirty="0"/>
              <a:t>Implementation (Initializing Model Parameters)</a:t>
            </a:r>
            <a:endParaRPr lang="en-US" dirty="0">
              <a:solidFill>
                <a:schemeClr val="tx1"/>
              </a:solidFill>
            </a:endParaRPr>
          </a:p>
        </p:txBody>
      </p:sp>
      <p:sp>
        <p:nvSpPr>
          <p:cNvPr id="4" name="TextBox 3">
            <a:extLst>
              <a:ext uri="{FF2B5EF4-FFF2-40B4-BE49-F238E27FC236}">
                <a16:creationId xmlns:a16="http://schemas.microsoft.com/office/drawing/2014/main" id="{0A5D3F52-48A4-4A40-AA8E-B31B95F93DED}"/>
              </a:ext>
            </a:extLst>
          </p:cNvPr>
          <p:cNvSpPr txBox="1"/>
          <p:nvPr/>
        </p:nvSpPr>
        <p:spPr>
          <a:xfrm>
            <a:off x="450273" y="671691"/>
            <a:ext cx="10607040" cy="6186309"/>
          </a:xfrm>
          <a:prstGeom prst="rect">
            <a:avLst/>
          </a:prstGeom>
          <a:noFill/>
        </p:spPr>
        <p:txBody>
          <a:bodyPr wrap="square" rtlCol="0">
            <a:spAutoFit/>
          </a:bodyPr>
          <a:lstStyle/>
          <a:p>
            <a:r>
              <a:rPr lang="en-GB" dirty="0"/>
              <a:t>def </a:t>
            </a:r>
            <a:r>
              <a:rPr lang="en-GB" dirty="0" err="1"/>
              <a:t>get_params</a:t>
            </a:r>
            <a:r>
              <a:rPr lang="en-GB" dirty="0"/>
              <a:t>(</a:t>
            </a:r>
            <a:r>
              <a:rPr lang="en-GB" dirty="0" err="1"/>
              <a:t>vocab_size</a:t>
            </a:r>
            <a:r>
              <a:rPr lang="en-GB" dirty="0"/>
              <a:t>, </a:t>
            </a:r>
            <a:r>
              <a:rPr lang="en-GB" dirty="0" err="1"/>
              <a:t>num_hiddens</a:t>
            </a:r>
            <a:r>
              <a:rPr lang="en-GB" dirty="0"/>
              <a:t>, device):</a:t>
            </a:r>
          </a:p>
          <a:p>
            <a:r>
              <a:rPr lang="en-GB" dirty="0"/>
              <a:t>    </a:t>
            </a:r>
            <a:r>
              <a:rPr lang="en-GB" dirty="0" err="1"/>
              <a:t>num_inputs</a:t>
            </a:r>
            <a:r>
              <a:rPr lang="en-GB" dirty="0"/>
              <a:t> = </a:t>
            </a:r>
            <a:r>
              <a:rPr lang="en-GB" dirty="0" err="1"/>
              <a:t>num_outputs</a:t>
            </a:r>
            <a:r>
              <a:rPr lang="en-GB" dirty="0"/>
              <a:t> = </a:t>
            </a:r>
            <a:r>
              <a:rPr lang="en-GB" dirty="0" err="1"/>
              <a:t>vocab_size</a:t>
            </a:r>
            <a:endParaRPr lang="en-GB" dirty="0"/>
          </a:p>
          <a:p>
            <a:endParaRPr lang="en-GB" dirty="0"/>
          </a:p>
          <a:p>
            <a:r>
              <a:rPr lang="en-GB" dirty="0"/>
              <a:t>    def normal(shape):</a:t>
            </a:r>
          </a:p>
          <a:p>
            <a:r>
              <a:rPr lang="en-GB" dirty="0"/>
              <a:t>        return </a:t>
            </a:r>
            <a:r>
              <a:rPr lang="en-GB" dirty="0" err="1"/>
              <a:t>torch.randn</a:t>
            </a:r>
            <a:r>
              <a:rPr lang="en-GB" dirty="0"/>
              <a:t>(size=shape, device=device) * 0.01</a:t>
            </a:r>
          </a:p>
          <a:p>
            <a:endParaRPr lang="en-GB" dirty="0"/>
          </a:p>
          <a:p>
            <a:r>
              <a:rPr lang="en-GB" dirty="0"/>
              <a:t>    def three():</a:t>
            </a:r>
          </a:p>
          <a:p>
            <a:r>
              <a:rPr lang="en-GB" dirty="0"/>
              <a:t>        return (normal(</a:t>
            </a:r>
          </a:p>
          <a:p>
            <a:r>
              <a:rPr lang="en-GB" dirty="0"/>
              <a:t>            (</a:t>
            </a:r>
            <a:r>
              <a:rPr lang="en-GB" dirty="0" err="1"/>
              <a:t>num_inputs</a:t>
            </a:r>
            <a:r>
              <a:rPr lang="en-GB" dirty="0"/>
              <a:t>, </a:t>
            </a:r>
            <a:r>
              <a:rPr lang="en-GB" dirty="0" err="1"/>
              <a:t>num_hiddens</a:t>
            </a:r>
            <a:r>
              <a:rPr lang="en-GB" dirty="0"/>
              <a:t>)), normal((</a:t>
            </a:r>
            <a:r>
              <a:rPr lang="en-GB" dirty="0" err="1"/>
              <a:t>num_hiddens</a:t>
            </a:r>
            <a:r>
              <a:rPr lang="en-GB" dirty="0"/>
              <a:t>, </a:t>
            </a:r>
            <a:r>
              <a:rPr lang="en-GB" dirty="0" err="1"/>
              <a:t>num_hiddens</a:t>
            </a:r>
            <a:r>
              <a:rPr lang="en-GB" dirty="0"/>
              <a:t>)),</a:t>
            </a:r>
          </a:p>
          <a:p>
            <a:r>
              <a:rPr lang="en-GB" dirty="0"/>
              <a:t>                </a:t>
            </a:r>
            <a:r>
              <a:rPr lang="en-GB" dirty="0" err="1"/>
              <a:t>torch.zeros</a:t>
            </a:r>
            <a:r>
              <a:rPr lang="en-GB" dirty="0"/>
              <a:t>(</a:t>
            </a:r>
            <a:r>
              <a:rPr lang="en-GB" dirty="0" err="1"/>
              <a:t>num_hiddens</a:t>
            </a:r>
            <a:r>
              <a:rPr lang="en-GB" dirty="0"/>
              <a:t>, device=device))</a:t>
            </a:r>
          </a:p>
          <a:p>
            <a:endParaRPr lang="en-GB" dirty="0"/>
          </a:p>
          <a:p>
            <a:r>
              <a:rPr lang="en-GB" dirty="0"/>
              <a:t>    </a:t>
            </a:r>
            <a:r>
              <a:rPr lang="en-GB" dirty="0" err="1"/>
              <a:t>W_xz</a:t>
            </a:r>
            <a:r>
              <a:rPr lang="en-GB" dirty="0"/>
              <a:t>, </a:t>
            </a:r>
            <a:r>
              <a:rPr lang="en-GB" dirty="0" err="1"/>
              <a:t>W_hz</a:t>
            </a:r>
            <a:r>
              <a:rPr lang="en-GB" dirty="0"/>
              <a:t>, </a:t>
            </a:r>
            <a:r>
              <a:rPr lang="en-GB" dirty="0" err="1"/>
              <a:t>b_z</a:t>
            </a:r>
            <a:r>
              <a:rPr lang="en-GB" dirty="0"/>
              <a:t> = three()  # Update gate parameters</a:t>
            </a:r>
          </a:p>
          <a:p>
            <a:r>
              <a:rPr lang="en-GB" dirty="0"/>
              <a:t>    </a:t>
            </a:r>
            <a:r>
              <a:rPr lang="en-GB" dirty="0" err="1"/>
              <a:t>W_xr</a:t>
            </a:r>
            <a:r>
              <a:rPr lang="en-GB" dirty="0"/>
              <a:t>, </a:t>
            </a:r>
            <a:r>
              <a:rPr lang="en-GB" dirty="0" err="1"/>
              <a:t>W_hr</a:t>
            </a:r>
            <a:r>
              <a:rPr lang="en-GB" dirty="0"/>
              <a:t>, </a:t>
            </a:r>
            <a:r>
              <a:rPr lang="en-GB" dirty="0" err="1"/>
              <a:t>b_r</a:t>
            </a:r>
            <a:r>
              <a:rPr lang="en-GB" dirty="0"/>
              <a:t> = three()  # Reset gate parameters</a:t>
            </a:r>
          </a:p>
          <a:p>
            <a:r>
              <a:rPr lang="en-GB" dirty="0"/>
              <a:t>    </a:t>
            </a:r>
            <a:r>
              <a:rPr lang="en-GB" dirty="0" err="1"/>
              <a:t>W_xh</a:t>
            </a:r>
            <a:r>
              <a:rPr lang="en-GB" dirty="0"/>
              <a:t>, </a:t>
            </a:r>
            <a:r>
              <a:rPr lang="en-GB" dirty="0" err="1"/>
              <a:t>W_hh</a:t>
            </a:r>
            <a:r>
              <a:rPr lang="en-GB" dirty="0"/>
              <a:t>, </a:t>
            </a:r>
            <a:r>
              <a:rPr lang="en-GB" dirty="0" err="1"/>
              <a:t>b_h</a:t>
            </a:r>
            <a:r>
              <a:rPr lang="en-GB" dirty="0"/>
              <a:t> = three()  # Candidate hidden state parameters</a:t>
            </a:r>
          </a:p>
          <a:p>
            <a:r>
              <a:rPr lang="en-GB" dirty="0"/>
              <a:t>    # Output layer parameters</a:t>
            </a:r>
          </a:p>
          <a:p>
            <a:r>
              <a:rPr lang="en-GB" dirty="0"/>
              <a:t>    </a:t>
            </a:r>
            <a:r>
              <a:rPr lang="en-GB" dirty="0" err="1"/>
              <a:t>W_hq</a:t>
            </a:r>
            <a:r>
              <a:rPr lang="en-GB" dirty="0"/>
              <a:t> = normal((</a:t>
            </a:r>
            <a:r>
              <a:rPr lang="en-GB" dirty="0" err="1"/>
              <a:t>num_hiddens</a:t>
            </a:r>
            <a:r>
              <a:rPr lang="en-GB" dirty="0"/>
              <a:t>, </a:t>
            </a:r>
            <a:r>
              <a:rPr lang="en-GB" dirty="0" err="1"/>
              <a:t>num_outputs</a:t>
            </a:r>
            <a:r>
              <a:rPr lang="en-GB" dirty="0"/>
              <a:t>))</a:t>
            </a:r>
          </a:p>
          <a:p>
            <a:r>
              <a:rPr lang="en-GB" dirty="0"/>
              <a:t>    </a:t>
            </a:r>
            <a:r>
              <a:rPr lang="en-GB" dirty="0" err="1"/>
              <a:t>b_q</a:t>
            </a:r>
            <a:r>
              <a:rPr lang="en-GB" dirty="0"/>
              <a:t> = </a:t>
            </a:r>
            <a:r>
              <a:rPr lang="en-GB" dirty="0" err="1"/>
              <a:t>torch.zeros</a:t>
            </a:r>
            <a:r>
              <a:rPr lang="en-GB" dirty="0"/>
              <a:t>(</a:t>
            </a:r>
            <a:r>
              <a:rPr lang="en-GB" dirty="0" err="1"/>
              <a:t>num_outputs</a:t>
            </a:r>
            <a:r>
              <a:rPr lang="en-GB" dirty="0"/>
              <a:t>, device=device)</a:t>
            </a:r>
          </a:p>
          <a:p>
            <a:r>
              <a:rPr lang="en-GB" dirty="0"/>
              <a:t>    # Attach gradients</a:t>
            </a:r>
          </a:p>
          <a:p>
            <a:r>
              <a:rPr lang="en-GB" dirty="0"/>
              <a:t>    params = [</a:t>
            </a:r>
            <a:r>
              <a:rPr lang="en-GB" dirty="0" err="1"/>
              <a:t>W_xz</a:t>
            </a:r>
            <a:r>
              <a:rPr lang="en-GB" dirty="0"/>
              <a:t>, </a:t>
            </a:r>
            <a:r>
              <a:rPr lang="en-GB" dirty="0" err="1"/>
              <a:t>W_hz</a:t>
            </a:r>
            <a:r>
              <a:rPr lang="en-GB" dirty="0"/>
              <a:t>, </a:t>
            </a:r>
            <a:r>
              <a:rPr lang="en-GB" dirty="0" err="1"/>
              <a:t>b_z</a:t>
            </a:r>
            <a:r>
              <a:rPr lang="en-GB" dirty="0"/>
              <a:t>, </a:t>
            </a:r>
            <a:r>
              <a:rPr lang="en-GB" dirty="0" err="1"/>
              <a:t>W_xr</a:t>
            </a:r>
            <a:r>
              <a:rPr lang="en-GB" dirty="0"/>
              <a:t>, </a:t>
            </a:r>
            <a:r>
              <a:rPr lang="en-GB" dirty="0" err="1"/>
              <a:t>W_hr</a:t>
            </a:r>
            <a:r>
              <a:rPr lang="en-GB" dirty="0"/>
              <a:t>, </a:t>
            </a:r>
            <a:r>
              <a:rPr lang="en-GB" dirty="0" err="1"/>
              <a:t>b_r</a:t>
            </a:r>
            <a:r>
              <a:rPr lang="en-GB" dirty="0"/>
              <a:t>, </a:t>
            </a:r>
            <a:r>
              <a:rPr lang="en-GB" dirty="0" err="1"/>
              <a:t>W_xh</a:t>
            </a:r>
            <a:r>
              <a:rPr lang="en-GB" dirty="0"/>
              <a:t>, </a:t>
            </a:r>
            <a:r>
              <a:rPr lang="en-GB" dirty="0" err="1"/>
              <a:t>W_hh</a:t>
            </a:r>
            <a:r>
              <a:rPr lang="en-GB" dirty="0"/>
              <a:t>, </a:t>
            </a:r>
            <a:r>
              <a:rPr lang="en-GB" dirty="0" err="1"/>
              <a:t>b_h</a:t>
            </a:r>
            <a:r>
              <a:rPr lang="en-GB" dirty="0"/>
              <a:t>, </a:t>
            </a:r>
            <a:r>
              <a:rPr lang="en-GB" dirty="0" err="1"/>
              <a:t>W_hq</a:t>
            </a:r>
            <a:r>
              <a:rPr lang="en-GB" dirty="0"/>
              <a:t>, </a:t>
            </a:r>
            <a:r>
              <a:rPr lang="en-GB" dirty="0" err="1"/>
              <a:t>b_q</a:t>
            </a:r>
            <a:r>
              <a:rPr lang="en-GB" dirty="0"/>
              <a:t>]</a:t>
            </a:r>
          </a:p>
          <a:p>
            <a:r>
              <a:rPr lang="en-GB" dirty="0"/>
              <a:t>    for param in params:</a:t>
            </a:r>
          </a:p>
          <a:p>
            <a:r>
              <a:rPr lang="en-GB" dirty="0"/>
              <a:t>        </a:t>
            </a:r>
            <a:r>
              <a:rPr lang="en-GB" dirty="0" err="1"/>
              <a:t>param.requires_grad</a:t>
            </a:r>
            <a:r>
              <a:rPr lang="en-GB" dirty="0"/>
              <a:t>_(True)</a:t>
            </a:r>
          </a:p>
          <a:p>
            <a:r>
              <a:rPr lang="en-GB" dirty="0"/>
              <a:t>    return params</a:t>
            </a:r>
          </a:p>
        </p:txBody>
      </p:sp>
    </p:spTree>
    <p:extLst>
      <p:ext uri="{BB962C8B-B14F-4D97-AF65-F5344CB8AC3E}">
        <p14:creationId xmlns:p14="http://schemas.microsoft.com/office/powerpoint/2010/main" val="334590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0"/>
            <a:ext cx="11291454" cy="770948"/>
          </a:xfrm>
        </p:spPr>
        <p:txBody>
          <a:bodyPr/>
          <a:lstStyle/>
          <a:p>
            <a:r>
              <a:rPr lang="en-US" dirty="0"/>
              <a:t>Implementation (Defining the Model)</a:t>
            </a:r>
            <a:endParaRPr lang="en-US" dirty="0">
              <a:solidFill>
                <a:schemeClr val="tx1"/>
              </a:solidFill>
            </a:endParaRPr>
          </a:p>
        </p:txBody>
      </p:sp>
      <p:sp>
        <p:nvSpPr>
          <p:cNvPr id="4" name="TextBox 3">
            <a:extLst>
              <a:ext uri="{FF2B5EF4-FFF2-40B4-BE49-F238E27FC236}">
                <a16:creationId xmlns:a16="http://schemas.microsoft.com/office/drawing/2014/main" id="{0A5D3F52-48A4-4A40-AA8E-B31B95F93DED}"/>
              </a:ext>
            </a:extLst>
          </p:cNvPr>
          <p:cNvSpPr txBox="1"/>
          <p:nvPr/>
        </p:nvSpPr>
        <p:spPr>
          <a:xfrm>
            <a:off x="450273" y="770948"/>
            <a:ext cx="10607040" cy="4524315"/>
          </a:xfrm>
          <a:prstGeom prst="rect">
            <a:avLst/>
          </a:prstGeom>
          <a:noFill/>
        </p:spPr>
        <p:txBody>
          <a:bodyPr wrap="square" rtlCol="0">
            <a:spAutoFit/>
          </a:bodyPr>
          <a:lstStyle/>
          <a:p>
            <a:r>
              <a:rPr lang="en-GB" dirty="0"/>
              <a:t>def </a:t>
            </a:r>
            <a:r>
              <a:rPr lang="en-GB" dirty="0" err="1"/>
              <a:t>init_gru_state</a:t>
            </a:r>
            <a:r>
              <a:rPr lang="en-GB" dirty="0"/>
              <a:t>(</a:t>
            </a:r>
            <a:r>
              <a:rPr lang="en-GB" dirty="0" err="1"/>
              <a:t>batch_size</a:t>
            </a:r>
            <a:r>
              <a:rPr lang="en-GB" dirty="0"/>
              <a:t>, </a:t>
            </a:r>
            <a:r>
              <a:rPr lang="en-GB" dirty="0" err="1"/>
              <a:t>num_hiddens</a:t>
            </a:r>
            <a:r>
              <a:rPr lang="en-GB" dirty="0"/>
              <a:t>, device):</a:t>
            </a:r>
          </a:p>
          <a:p>
            <a:r>
              <a:rPr lang="en-GB" dirty="0"/>
              <a:t>    return (</a:t>
            </a:r>
            <a:r>
              <a:rPr lang="en-GB" dirty="0" err="1"/>
              <a:t>torch.zeros</a:t>
            </a:r>
            <a:r>
              <a:rPr lang="en-GB" dirty="0"/>
              <a:t>((</a:t>
            </a:r>
            <a:r>
              <a:rPr lang="en-GB" dirty="0" err="1"/>
              <a:t>batch_size</a:t>
            </a:r>
            <a:r>
              <a:rPr lang="en-GB" dirty="0"/>
              <a:t>, </a:t>
            </a:r>
            <a:r>
              <a:rPr lang="en-GB" dirty="0" err="1"/>
              <a:t>num_hiddens</a:t>
            </a:r>
            <a:r>
              <a:rPr lang="en-GB" dirty="0"/>
              <a:t>), device=device),)</a:t>
            </a:r>
          </a:p>
          <a:p>
            <a:endParaRPr lang="en-GB" dirty="0"/>
          </a:p>
          <a:p>
            <a:endParaRPr lang="en-GB" dirty="0"/>
          </a:p>
          <a:p>
            <a:r>
              <a:rPr lang="en-GB" dirty="0"/>
              <a:t>def </a:t>
            </a:r>
            <a:r>
              <a:rPr lang="en-GB" dirty="0" err="1"/>
              <a:t>gru</a:t>
            </a:r>
            <a:r>
              <a:rPr lang="en-GB" dirty="0"/>
              <a:t>(inputs, state, params):</a:t>
            </a:r>
          </a:p>
          <a:p>
            <a:r>
              <a:rPr lang="en-GB" dirty="0"/>
              <a:t>    </a:t>
            </a:r>
            <a:r>
              <a:rPr lang="en-GB" dirty="0" err="1"/>
              <a:t>W_xz</a:t>
            </a:r>
            <a:r>
              <a:rPr lang="en-GB" dirty="0"/>
              <a:t>, </a:t>
            </a:r>
            <a:r>
              <a:rPr lang="en-GB" dirty="0" err="1"/>
              <a:t>W_hz</a:t>
            </a:r>
            <a:r>
              <a:rPr lang="en-GB" dirty="0"/>
              <a:t>, </a:t>
            </a:r>
            <a:r>
              <a:rPr lang="en-GB" dirty="0" err="1"/>
              <a:t>b_z</a:t>
            </a:r>
            <a:r>
              <a:rPr lang="en-GB" dirty="0"/>
              <a:t>, </a:t>
            </a:r>
            <a:r>
              <a:rPr lang="en-GB" dirty="0" err="1"/>
              <a:t>W_xr</a:t>
            </a:r>
            <a:r>
              <a:rPr lang="en-GB" dirty="0"/>
              <a:t>, </a:t>
            </a:r>
            <a:r>
              <a:rPr lang="en-GB" dirty="0" err="1"/>
              <a:t>W_hr</a:t>
            </a:r>
            <a:r>
              <a:rPr lang="en-GB" dirty="0"/>
              <a:t>, </a:t>
            </a:r>
            <a:r>
              <a:rPr lang="en-GB" dirty="0" err="1"/>
              <a:t>b_r</a:t>
            </a:r>
            <a:r>
              <a:rPr lang="en-GB" dirty="0"/>
              <a:t>, </a:t>
            </a:r>
            <a:r>
              <a:rPr lang="en-GB" dirty="0" err="1"/>
              <a:t>W_xh</a:t>
            </a:r>
            <a:r>
              <a:rPr lang="en-GB" dirty="0"/>
              <a:t>, </a:t>
            </a:r>
            <a:r>
              <a:rPr lang="en-GB" dirty="0" err="1"/>
              <a:t>W_hh</a:t>
            </a:r>
            <a:r>
              <a:rPr lang="en-GB" dirty="0"/>
              <a:t>, </a:t>
            </a:r>
            <a:r>
              <a:rPr lang="en-GB" dirty="0" err="1"/>
              <a:t>b_h</a:t>
            </a:r>
            <a:r>
              <a:rPr lang="en-GB" dirty="0"/>
              <a:t>, </a:t>
            </a:r>
            <a:r>
              <a:rPr lang="en-GB" dirty="0" err="1"/>
              <a:t>W_hq</a:t>
            </a:r>
            <a:r>
              <a:rPr lang="en-GB" dirty="0"/>
              <a:t>, </a:t>
            </a:r>
            <a:r>
              <a:rPr lang="en-GB" dirty="0" err="1"/>
              <a:t>b_q</a:t>
            </a:r>
            <a:r>
              <a:rPr lang="en-GB" dirty="0"/>
              <a:t> = params</a:t>
            </a:r>
          </a:p>
          <a:p>
            <a:r>
              <a:rPr lang="en-GB" dirty="0"/>
              <a:t>    H, = state</a:t>
            </a:r>
          </a:p>
          <a:p>
            <a:r>
              <a:rPr lang="en-GB" dirty="0"/>
              <a:t>    outputs = []</a:t>
            </a:r>
          </a:p>
          <a:p>
            <a:r>
              <a:rPr lang="en-GB" dirty="0"/>
              <a:t>    for X in inputs:</a:t>
            </a:r>
          </a:p>
          <a:p>
            <a:r>
              <a:rPr lang="en-GB" dirty="0"/>
              <a:t>        Z = </a:t>
            </a:r>
            <a:r>
              <a:rPr lang="en-GB" dirty="0" err="1"/>
              <a:t>torch.sigmoid</a:t>
            </a:r>
            <a:r>
              <a:rPr lang="en-GB" dirty="0"/>
              <a:t>((X @ </a:t>
            </a:r>
            <a:r>
              <a:rPr lang="en-GB" dirty="0" err="1"/>
              <a:t>W_xz</a:t>
            </a:r>
            <a:r>
              <a:rPr lang="en-GB" dirty="0"/>
              <a:t>) + (H @ </a:t>
            </a:r>
            <a:r>
              <a:rPr lang="en-GB" dirty="0" err="1"/>
              <a:t>W_hz</a:t>
            </a:r>
            <a:r>
              <a:rPr lang="en-GB" dirty="0"/>
              <a:t>) + </a:t>
            </a:r>
            <a:r>
              <a:rPr lang="en-GB" dirty="0" err="1"/>
              <a:t>b_z</a:t>
            </a:r>
            <a:r>
              <a:rPr lang="en-GB" dirty="0"/>
              <a:t>)</a:t>
            </a:r>
          </a:p>
          <a:p>
            <a:r>
              <a:rPr lang="en-GB" dirty="0"/>
              <a:t>        R = </a:t>
            </a:r>
            <a:r>
              <a:rPr lang="en-GB" dirty="0" err="1"/>
              <a:t>torch.sigmoid</a:t>
            </a:r>
            <a:r>
              <a:rPr lang="en-GB" dirty="0"/>
              <a:t>((X @ </a:t>
            </a:r>
            <a:r>
              <a:rPr lang="en-GB" dirty="0" err="1"/>
              <a:t>W_xr</a:t>
            </a:r>
            <a:r>
              <a:rPr lang="en-GB" dirty="0"/>
              <a:t>) + (H @ </a:t>
            </a:r>
            <a:r>
              <a:rPr lang="en-GB" dirty="0" err="1"/>
              <a:t>W_hr</a:t>
            </a:r>
            <a:r>
              <a:rPr lang="en-GB" dirty="0"/>
              <a:t>) + </a:t>
            </a:r>
            <a:r>
              <a:rPr lang="en-GB" dirty="0" err="1"/>
              <a:t>b_r</a:t>
            </a:r>
            <a:r>
              <a:rPr lang="en-GB" dirty="0"/>
              <a:t>)</a:t>
            </a:r>
          </a:p>
          <a:p>
            <a:r>
              <a:rPr lang="en-GB" dirty="0"/>
              <a:t>        </a:t>
            </a:r>
            <a:r>
              <a:rPr lang="en-GB" dirty="0" err="1"/>
              <a:t>H_tilda</a:t>
            </a:r>
            <a:r>
              <a:rPr lang="en-GB" dirty="0"/>
              <a:t> = </a:t>
            </a:r>
            <a:r>
              <a:rPr lang="en-GB" dirty="0" err="1"/>
              <a:t>torch.tanh</a:t>
            </a:r>
            <a:r>
              <a:rPr lang="en-GB" dirty="0"/>
              <a:t>((X @ </a:t>
            </a:r>
            <a:r>
              <a:rPr lang="en-GB" dirty="0" err="1"/>
              <a:t>W_xh</a:t>
            </a:r>
            <a:r>
              <a:rPr lang="en-GB" dirty="0"/>
              <a:t>) + ((R * H) @ </a:t>
            </a:r>
            <a:r>
              <a:rPr lang="en-GB" dirty="0" err="1"/>
              <a:t>W_hh</a:t>
            </a:r>
            <a:r>
              <a:rPr lang="en-GB" dirty="0"/>
              <a:t>) + </a:t>
            </a:r>
            <a:r>
              <a:rPr lang="en-GB" dirty="0" err="1"/>
              <a:t>b_h</a:t>
            </a:r>
            <a:r>
              <a:rPr lang="en-GB" dirty="0"/>
              <a:t>)</a:t>
            </a:r>
          </a:p>
          <a:p>
            <a:r>
              <a:rPr lang="en-GB" dirty="0"/>
              <a:t>        H = Z * H + (1 - Z) * </a:t>
            </a:r>
            <a:r>
              <a:rPr lang="en-GB" dirty="0" err="1"/>
              <a:t>H_tilda</a:t>
            </a:r>
            <a:endParaRPr lang="en-GB" dirty="0"/>
          </a:p>
          <a:p>
            <a:r>
              <a:rPr lang="en-GB" dirty="0"/>
              <a:t>        Y = H @ </a:t>
            </a:r>
            <a:r>
              <a:rPr lang="en-GB" dirty="0" err="1"/>
              <a:t>W_hq</a:t>
            </a:r>
            <a:r>
              <a:rPr lang="en-GB" dirty="0"/>
              <a:t> + </a:t>
            </a:r>
            <a:r>
              <a:rPr lang="en-GB" dirty="0" err="1"/>
              <a:t>b_q</a:t>
            </a:r>
            <a:endParaRPr lang="en-GB" dirty="0"/>
          </a:p>
          <a:p>
            <a:r>
              <a:rPr lang="en-GB" dirty="0"/>
              <a:t>        </a:t>
            </a:r>
            <a:r>
              <a:rPr lang="en-GB" dirty="0" err="1"/>
              <a:t>outputs.append</a:t>
            </a:r>
            <a:r>
              <a:rPr lang="en-GB" dirty="0"/>
              <a:t>(Y)</a:t>
            </a:r>
          </a:p>
          <a:p>
            <a:r>
              <a:rPr lang="en-GB" dirty="0"/>
              <a:t>    return torch.cat(outputs, dim=0), (H,)</a:t>
            </a:r>
          </a:p>
        </p:txBody>
      </p:sp>
    </p:spTree>
    <p:extLst>
      <p:ext uri="{BB962C8B-B14F-4D97-AF65-F5344CB8AC3E}">
        <p14:creationId xmlns:p14="http://schemas.microsoft.com/office/powerpoint/2010/main" val="2249342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0"/>
            <a:ext cx="11291454" cy="770948"/>
          </a:xfrm>
        </p:spPr>
        <p:txBody>
          <a:bodyPr/>
          <a:lstStyle/>
          <a:p>
            <a:r>
              <a:rPr lang="en-US" dirty="0"/>
              <a:t>Implementation (Training and Predicting)</a:t>
            </a:r>
            <a:endParaRPr lang="en-US" dirty="0">
              <a:solidFill>
                <a:schemeClr val="tx1"/>
              </a:solidFill>
            </a:endParaRPr>
          </a:p>
        </p:txBody>
      </p:sp>
      <p:sp>
        <p:nvSpPr>
          <p:cNvPr id="4" name="TextBox 3">
            <a:extLst>
              <a:ext uri="{FF2B5EF4-FFF2-40B4-BE49-F238E27FC236}">
                <a16:creationId xmlns:a16="http://schemas.microsoft.com/office/drawing/2014/main" id="{0A5D3F52-48A4-4A40-AA8E-B31B95F93DED}"/>
              </a:ext>
            </a:extLst>
          </p:cNvPr>
          <p:cNvSpPr txBox="1"/>
          <p:nvPr/>
        </p:nvSpPr>
        <p:spPr>
          <a:xfrm>
            <a:off x="450273" y="770948"/>
            <a:ext cx="10607040" cy="1477328"/>
          </a:xfrm>
          <a:prstGeom prst="rect">
            <a:avLst/>
          </a:prstGeom>
          <a:noFill/>
        </p:spPr>
        <p:txBody>
          <a:bodyPr wrap="square" rtlCol="0">
            <a:spAutoFit/>
          </a:bodyPr>
          <a:lstStyle/>
          <a:p>
            <a:r>
              <a:rPr lang="en-GB" dirty="0" err="1"/>
              <a:t>vocab_size</a:t>
            </a:r>
            <a:r>
              <a:rPr lang="en-GB" dirty="0"/>
              <a:t>, </a:t>
            </a:r>
            <a:r>
              <a:rPr lang="en-GB" dirty="0" err="1"/>
              <a:t>num_hiddens</a:t>
            </a:r>
            <a:r>
              <a:rPr lang="en-GB" dirty="0"/>
              <a:t>, device = </a:t>
            </a:r>
            <a:r>
              <a:rPr lang="en-GB" dirty="0" err="1"/>
              <a:t>len</a:t>
            </a:r>
            <a:r>
              <a:rPr lang="en-GB" dirty="0"/>
              <a:t>(vocab), 256, d2l.try_gpu()</a:t>
            </a:r>
          </a:p>
          <a:p>
            <a:r>
              <a:rPr lang="en-GB" dirty="0" err="1"/>
              <a:t>num_epochs</a:t>
            </a:r>
            <a:r>
              <a:rPr lang="en-GB" dirty="0"/>
              <a:t>, </a:t>
            </a:r>
            <a:r>
              <a:rPr lang="en-GB" dirty="0" err="1"/>
              <a:t>lr</a:t>
            </a:r>
            <a:r>
              <a:rPr lang="en-GB" dirty="0"/>
              <a:t> = 500, 1</a:t>
            </a:r>
          </a:p>
          <a:p>
            <a:r>
              <a:rPr lang="en-GB" dirty="0"/>
              <a:t>model = d2l.RNNModelScratch(</a:t>
            </a:r>
            <a:r>
              <a:rPr lang="en-GB" dirty="0" err="1"/>
              <a:t>len</a:t>
            </a:r>
            <a:r>
              <a:rPr lang="en-GB" dirty="0"/>
              <a:t>(vocab), </a:t>
            </a:r>
            <a:r>
              <a:rPr lang="en-GB" dirty="0" err="1"/>
              <a:t>num_hiddens</a:t>
            </a:r>
            <a:r>
              <a:rPr lang="en-GB" dirty="0"/>
              <a:t>, device, </a:t>
            </a:r>
            <a:r>
              <a:rPr lang="en-GB" dirty="0" err="1"/>
              <a:t>get_params</a:t>
            </a:r>
            <a:r>
              <a:rPr lang="en-GB" dirty="0"/>
              <a:t>,</a:t>
            </a:r>
          </a:p>
          <a:p>
            <a:r>
              <a:rPr lang="en-GB" dirty="0"/>
              <a:t>                            </a:t>
            </a:r>
            <a:r>
              <a:rPr lang="en-GB" dirty="0" err="1"/>
              <a:t>init_gru_state</a:t>
            </a:r>
            <a:r>
              <a:rPr lang="en-GB" dirty="0"/>
              <a:t>, </a:t>
            </a:r>
            <a:r>
              <a:rPr lang="en-GB" dirty="0" err="1"/>
              <a:t>gru</a:t>
            </a:r>
            <a:r>
              <a:rPr lang="en-GB" dirty="0"/>
              <a:t>)</a:t>
            </a:r>
          </a:p>
          <a:p>
            <a:r>
              <a:rPr lang="en-GB" dirty="0"/>
              <a:t>d2l.train_ch8(model, </a:t>
            </a:r>
            <a:r>
              <a:rPr lang="en-GB" dirty="0" err="1"/>
              <a:t>train_iter</a:t>
            </a:r>
            <a:r>
              <a:rPr lang="en-GB" dirty="0"/>
              <a:t>, vocab, </a:t>
            </a:r>
            <a:r>
              <a:rPr lang="en-GB" dirty="0" err="1"/>
              <a:t>lr</a:t>
            </a:r>
            <a:r>
              <a:rPr lang="en-GB" dirty="0"/>
              <a:t>, </a:t>
            </a:r>
            <a:r>
              <a:rPr lang="en-GB" dirty="0" err="1"/>
              <a:t>num_epochs</a:t>
            </a:r>
            <a:r>
              <a:rPr lang="en-GB" dirty="0"/>
              <a:t>, device)</a:t>
            </a:r>
          </a:p>
        </p:txBody>
      </p:sp>
    </p:spTree>
    <p:extLst>
      <p:ext uri="{BB962C8B-B14F-4D97-AF65-F5344CB8AC3E}">
        <p14:creationId xmlns:p14="http://schemas.microsoft.com/office/powerpoint/2010/main" val="2832312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GRU Application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15</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Sentiment Analysis using GRU</a:t>
            </a:r>
          </a:p>
          <a:p>
            <a:pPr lvl="1"/>
            <a:r>
              <a:rPr lang="en-US" dirty="0"/>
              <a:t>Goal is to classify a movie review as positive or negative</a:t>
            </a:r>
          </a:p>
          <a:p>
            <a:pPr lvl="1"/>
            <a:endParaRPr lang="en-US" dirty="0"/>
          </a:p>
          <a:p>
            <a:pPr lvl="1"/>
            <a:r>
              <a:rPr lang="en-US" dirty="0"/>
              <a:t>Consider the challenges related to the task</a:t>
            </a:r>
          </a:p>
          <a:p>
            <a:pPr lvl="2"/>
            <a:r>
              <a:rPr lang="en-US" dirty="0"/>
              <a:t>“This movie was not very good”. Very good is positive, however, (not) before very good makes the comment negative.</a:t>
            </a:r>
          </a:p>
          <a:p>
            <a:pPr lvl="2"/>
            <a:r>
              <a:rPr lang="en-US" dirty="0"/>
              <a:t>Neural Networks process numbers for triggering and not text.</a:t>
            </a:r>
          </a:p>
          <a:p>
            <a:pPr lvl="2"/>
            <a:r>
              <a:rPr lang="en-US" dirty="0"/>
              <a:t>In images, the size of image is fixed. Text can be of varying length.</a:t>
            </a:r>
          </a:p>
          <a:p>
            <a:pPr lvl="1"/>
            <a:endParaRPr lang="en-US" dirty="0"/>
          </a:p>
          <a:p>
            <a:pPr lvl="1"/>
            <a:r>
              <a:rPr lang="en-US" dirty="0"/>
              <a:t>All these challenges fall need to be addressed for Natural Language Processing</a:t>
            </a:r>
          </a:p>
          <a:p>
            <a:pPr lvl="1"/>
            <a:endParaRPr lang="en-US" dirty="0"/>
          </a:p>
          <a:p>
            <a:pPr lvl="1"/>
            <a:r>
              <a:rPr lang="en-US" dirty="0"/>
              <a:t>We shall use GRU to solve the problem of sentiment analysis</a:t>
            </a:r>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15</a:t>
            </a:fld>
            <a:endParaRPr lang="en-US"/>
          </a:p>
        </p:txBody>
      </p:sp>
      <p:sp>
        <p:nvSpPr>
          <p:cNvPr id="3" name="TextBox 2">
            <a:extLst>
              <a:ext uri="{FF2B5EF4-FFF2-40B4-BE49-F238E27FC236}">
                <a16:creationId xmlns:a16="http://schemas.microsoft.com/office/drawing/2014/main" id="{A8DEE64F-9F97-4EAD-B2EB-72FF7C0134CF}"/>
              </a:ext>
            </a:extLst>
          </p:cNvPr>
          <p:cNvSpPr txBox="1"/>
          <p:nvPr/>
        </p:nvSpPr>
        <p:spPr>
          <a:xfrm>
            <a:off x="1087595" y="5869801"/>
            <a:ext cx="9736833" cy="276999"/>
          </a:xfrm>
          <a:prstGeom prst="rect">
            <a:avLst/>
          </a:prstGeom>
          <a:noFill/>
        </p:spPr>
        <p:txBody>
          <a:bodyPr wrap="none" rtlCol="0">
            <a:spAutoFit/>
          </a:bodyPr>
          <a:lstStyle/>
          <a:p>
            <a:r>
              <a:rPr lang="en-US" sz="1200" dirty="0"/>
              <a:t>https://colab.research.google.com/github/Hvass-Labs/TensorFlow-Tutorials/blob/master/20_Natural_Language_Processing.ipynb#scrollTo=Y7oFtizmvRl3</a:t>
            </a:r>
          </a:p>
        </p:txBody>
      </p:sp>
    </p:spTree>
    <p:extLst>
      <p:ext uri="{BB962C8B-B14F-4D97-AF65-F5344CB8AC3E}">
        <p14:creationId xmlns:p14="http://schemas.microsoft.com/office/powerpoint/2010/main" val="84608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Step1- Tokenization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16</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Convert raw text into tokens</a:t>
            </a:r>
          </a:p>
          <a:p>
            <a:pPr lvl="1"/>
            <a:r>
              <a:rPr lang="en-US" dirty="0"/>
              <a:t>Tokens are integer values</a:t>
            </a:r>
          </a:p>
          <a:p>
            <a:pPr lvl="1"/>
            <a:r>
              <a:rPr lang="en-US" dirty="0"/>
              <a:t>Indices into a list of entire vocabulary</a:t>
            </a:r>
          </a:p>
          <a:p>
            <a:pPr lvl="1"/>
            <a:r>
              <a:rPr lang="en-GB" b="0" i="0" dirty="0">
                <a:solidFill>
                  <a:srgbClr val="222222"/>
                </a:solidFill>
                <a:effectLst/>
              </a:rPr>
              <a:t>Tokenization is a way of separating a piece of text into smaller units called tokens.</a:t>
            </a:r>
          </a:p>
          <a:p>
            <a:pPr lvl="1"/>
            <a:r>
              <a:rPr lang="en-GB" b="0" i="0" dirty="0">
                <a:solidFill>
                  <a:srgbClr val="222222"/>
                </a:solidFill>
                <a:effectLst/>
              </a:rPr>
              <a:t>Tokens can be either based upon words, characters, or </a:t>
            </a:r>
            <a:r>
              <a:rPr lang="en-GB" b="0" i="0" dirty="0" err="1">
                <a:solidFill>
                  <a:srgbClr val="222222"/>
                </a:solidFill>
                <a:effectLst/>
              </a:rPr>
              <a:t>subwords</a:t>
            </a:r>
            <a:r>
              <a:rPr lang="en-GB" b="0" i="0" dirty="0">
                <a:solidFill>
                  <a:srgbClr val="222222"/>
                </a:solidFill>
                <a:effectLst/>
              </a:rPr>
              <a:t>. </a:t>
            </a:r>
          </a:p>
          <a:p>
            <a:pPr lvl="1"/>
            <a:r>
              <a:rPr lang="en-GB" b="0" i="0" dirty="0">
                <a:solidFill>
                  <a:srgbClr val="222222"/>
                </a:solidFill>
                <a:effectLst/>
              </a:rPr>
              <a:t>Generally, most popular tokenization is word level.</a:t>
            </a:r>
          </a:p>
          <a:p>
            <a:pPr lvl="1"/>
            <a:r>
              <a:rPr lang="en-GB" b="0" i="0" dirty="0">
                <a:solidFill>
                  <a:srgbClr val="222222"/>
                </a:solidFill>
                <a:effectLst/>
              </a:rPr>
              <a:t>For example, consider the sentence: “Never give up”.</a:t>
            </a:r>
            <a:endParaRPr lang="en-GB" dirty="0">
              <a:solidFill>
                <a:srgbClr val="222222"/>
              </a:solidFill>
            </a:endParaRPr>
          </a:p>
          <a:p>
            <a:pPr lvl="1"/>
            <a:r>
              <a:rPr lang="en-GB" dirty="0">
                <a:solidFill>
                  <a:srgbClr val="222222"/>
                </a:solidFill>
              </a:rPr>
              <a:t>T</a:t>
            </a:r>
            <a:r>
              <a:rPr lang="en-GB" b="0" i="0" dirty="0">
                <a:solidFill>
                  <a:srgbClr val="222222"/>
                </a:solidFill>
                <a:effectLst/>
              </a:rPr>
              <a:t>okenization of the sentence results in 3 tokens – Never-give-up. As each token is a word, it becomes an example of Word tokenization.</a:t>
            </a:r>
          </a:p>
          <a:p>
            <a:pPr lvl="1"/>
            <a:r>
              <a:rPr lang="en-GB" dirty="0">
                <a:solidFill>
                  <a:srgbClr val="222222"/>
                </a:solidFill>
              </a:rPr>
              <a:t>It can be thought of like assigning a number to each word</a:t>
            </a:r>
            <a:endParaRPr lang="en-US" dirty="0"/>
          </a:p>
          <a:p>
            <a:endParaRPr lang="en-US"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16</a:t>
            </a:fld>
            <a:endParaRPr lang="en-US"/>
          </a:p>
        </p:txBody>
      </p:sp>
      <p:sp>
        <p:nvSpPr>
          <p:cNvPr id="3" name="TextBox 2">
            <a:extLst>
              <a:ext uri="{FF2B5EF4-FFF2-40B4-BE49-F238E27FC236}">
                <a16:creationId xmlns:a16="http://schemas.microsoft.com/office/drawing/2014/main" id="{A8DEE64F-9F97-4EAD-B2EB-72FF7C0134CF}"/>
              </a:ext>
            </a:extLst>
          </p:cNvPr>
          <p:cNvSpPr txBox="1"/>
          <p:nvPr/>
        </p:nvSpPr>
        <p:spPr>
          <a:xfrm>
            <a:off x="3734893" y="5869801"/>
            <a:ext cx="4836452" cy="276999"/>
          </a:xfrm>
          <a:prstGeom prst="rect">
            <a:avLst/>
          </a:prstGeom>
          <a:noFill/>
        </p:spPr>
        <p:txBody>
          <a:bodyPr wrap="none" rtlCol="0">
            <a:spAutoFit/>
          </a:bodyPr>
          <a:lstStyle/>
          <a:p>
            <a:r>
              <a:rPr lang="en-US" sz="1200" dirty="0"/>
              <a:t>https://www.analyticsvidhya.com/blog/2020/05/what-is-tokenization-nlp/</a:t>
            </a:r>
          </a:p>
        </p:txBody>
      </p:sp>
    </p:spTree>
    <p:extLst>
      <p:ext uri="{BB962C8B-B14F-4D97-AF65-F5344CB8AC3E}">
        <p14:creationId xmlns:p14="http://schemas.microsoft.com/office/powerpoint/2010/main" val="4044334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Step2- Word Embeddings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17</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Convert integer tokens into word embeddings</a:t>
            </a:r>
          </a:p>
          <a:p>
            <a:pPr lvl="1"/>
            <a:r>
              <a:rPr lang="en-GB" i="0" dirty="0">
                <a:solidFill>
                  <a:srgbClr val="202122"/>
                </a:solidFill>
                <a:effectLst/>
              </a:rPr>
              <a:t>They</a:t>
            </a:r>
            <a:r>
              <a:rPr lang="en-GB" b="0" i="0" dirty="0">
                <a:solidFill>
                  <a:srgbClr val="202122"/>
                </a:solidFill>
                <a:effectLst/>
              </a:rPr>
              <a:t> are used for representation of words for text analysis</a:t>
            </a:r>
          </a:p>
          <a:p>
            <a:pPr lvl="1"/>
            <a:r>
              <a:rPr lang="en-GB" b="0" i="0" dirty="0">
                <a:solidFill>
                  <a:srgbClr val="202122"/>
                </a:solidFill>
                <a:effectLst/>
              </a:rPr>
              <a:t>Typically, in form of real-valued vector that encodes the meaning of the word</a:t>
            </a:r>
          </a:p>
          <a:p>
            <a:pPr lvl="1"/>
            <a:r>
              <a:rPr lang="en-GB" dirty="0">
                <a:solidFill>
                  <a:srgbClr val="202122"/>
                </a:solidFill>
              </a:rPr>
              <a:t>Encoding is</a:t>
            </a:r>
            <a:r>
              <a:rPr lang="en-GB" b="0" i="0" dirty="0">
                <a:solidFill>
                  <a:srgbClr val="202122"/>
                </a:solidFill>
                <a:effectLst/>
              </a:rPr>
              <a:t> such that, words with similar meaning are closer in vector space</a:t>
            </a:r>
          </a:p>
          <a:p>
            <a:pPr lvl="1"/>
            <a:r>
              <a:rPr lang="en-GB" dirty="0">
                <a:solidFill>
                  <a:srgbClr val="202122"/>
                </a:solidFill>
              </a:rPr>
              <a:t>Popular methods for word embedding</a:t>
            </a:r>
          </a:p>
          <a:p>
            <a:pPr lvl="2"/>
            <a:r>
              <a:rPr lang="en-GB" dirty="0">
                <a:solidFill>
                  <a:srgbClr val="202122"/>
                </a:solidFill>
              </a:rPr>
              <a:t>Embedding Layer</a:t>
            </a:r>
          </a:p>
          <a:p>
            <a:pPr lvl="2"/>
            <a:r>
              <a:rPr lang="en-GB" dirty="0">
                <a:solidFill>
                  <a:srgbClr val="202122"/>
                </a:solidFill>
              </a:rPr>
              <a:t>Word2vec</a:t>
            </a:r>
          </a:p>
          <a:p>
            <a:pPr lvl="2"/>
            <a:r>
              <a:rPr lang="en-GB" dirty="0" err="1">
                <a:solidFill>
                  <a:srgbClr val="202122"/>
                </a:solidFill>
              </a:rPr>
              <a:t>GloVe</a:t>
            </a:r>
            <a:endParaRPr lang="en-GB" dirty="0">
              <a:solidFill>
                <a:srgbClr val="202122"/>
              </a:solidFill>
            </a:endParaRPr>
          </a:p>
          <a:p>
            <a:pPr lvl="1"/>
            <a:endParaRPr lang="en-GB" b="0" i="0" dirty="0">
              <a:solidFill>
                <a:srgbClr val="202122"/>
              </a:solidFill>
              <a:effectLst/>
            </a:endParaRPr>
          </a:p>
          <a:p>
            <a:endParaRPr lang="en-US"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17</a:t>
            </a:fld>
            <a:endParaRPr lang="en-US"/>
          </a:p>
        </p:txBody>
      </p:sp>
      <p:sp>
        <p:nvSpPr>
          <p:cNvPr id="3" name="TextBox 2">
            <a:extLst>
              <a:ext uri="{FF2B5EF4-FFF2-40B4-BE49-F238E27FC236}">
                <a16:creationId xmlns:a16="http://schemas.microsoft.com/office/drawing/2014/main" id="{A8DEE64F-9F97-4EAD-B2EB-72FF7C0134CF}"/>
              </a:ext>
            </a:extLst>
          </p:cNvPr>
          <p:cNvSpPr txBox="1"/>
          <p:nvPr/>
        </p:nvSpPr>
        <p:spPr>
          <a:xfrm>
            <a:off x="3910017" y="5869801"/>
            <a:ext cx="4371966" cy="276999"/>
          </a:xfrm>
          <a:prstGeom prst="rect">
            <a:avLst/>
          </a:prstGeom>
          <a:noFill/>
        </p:spPr>
        <p:txBody>
          <a:bodyPr wrap="none" rtlCol="0">
            <a:spAutoFit/>
          </a:bodyPr>
          <a:lstStyle/>
          <a:p>
            <a:r>
              <a:rPr lang="en-US" sz="1200" dirty="0"/>
              <a:t>https://machinelearningmastery.com/what-are-word-embeddings/</a:t>
            </a:r>
          </a:p>
        </p:txBody>
      </p:sp>
      <p:pic>
        <p:nvPicPr>
          <p:cNvPr id="1026" name="Picture 2" descr="See the source image">
            <a:extLst>
              <a:ext uri="{FF2B5EF4-FFF2-40B4-BE49-F238E27FC236}">
                <a16:creationId xmlns:a16="http://schemas.microsoft.com/office/drawing/2014/main" id="{6A250E58-73DD-49E6-8436-AE9FC4350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2635" y="2995930"/>
            <a:ext cx="4761859" cy="2287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953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Step2- Word Embeddings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18</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Word Embeddings – Embedding Layer</a:t>
            </a:r>
          </a:p>
          <a:p>
            <a:pPr algn="l" fontAlgn="base"/>
            <a:r>
              <a:rPr lang="en-GB" sz="2400" b="0" i="0" dirty="0">
                <a:effectLst/>
              </a:rPr>
              <a:t>Requires that document text be cleaned and prepared such that each word is one-hot encoded. </a:t>
            </a:r>
          </a:p>
          <a:p>
            <a:pPr algn="l" fontAlgn="base"/>
            <a:r>
              <a:rPr lang="en-GB" sz="2400" b="0" i="0" dirty="0">
                <a:effectLst/>
              </a:rPr>
              <a:t>Size of vector space is specified as part of the model, such as 50, 100, or 300 dimensions. </a:t>
            </a:r>
          </a:p>
          <a:p>
            <a:pPr algn="l" fontAlgn="base"/>
            <a:r>
              <a:rPr lang="en-GB" sz="2400" dirty="0"/>
              <a:t>V</a:t>
            </a:r>
            <a:r>
              <a:rPr lang="en-GB" sz="2400" b="0" i="0" dirty="0">
                <a:effectLst/>
              </a:rPr>
              <a:t>ectors are initialized with small random numbers. </a:t>
            </a:r>
          </a:p>
          <a:p>
            <a:pPr algn="l" fontAlgn="base"/>
            <a:r>
              <a:rPr lang="en-GB" sz="2400" b="0" i="0" dirty="0">
                <a:effectLst/>
              </a:rPr>
              <a:t>Embedding layer is used on the front end of a neural network and is fit in a supervised way using the Backpropagation algorithm.</a:t>
            </a:r>
            <a:r>
              <a:rPr lang="en-GB" sz="2400" b="0" dirty="0">
                <a:effectLst/>
              </a:rPr>
              <a:t> </a:t>
            </a:r>
          </a:p>
          <a:p>
            <a:pPr algn="l" fontAlgn="base"/>
            <a:r>
              <a:rPr lang="en-GB" sz="2400" b="0" dirty="0">
                <a:effectLst/>
              </a:rPr>
              <a:t>One-hot encoded words are mapped to the word vectors. </a:t>
            </a:r>
          </a:p>
          <a:p>
            <a:pPr algn="l" fontAlgn="base"/>
            <a:r>
              <a:rPr lang="en-GB" sz="2400" b="0" dirty="0">
                <a:effectLst/>
              </a:rPr>
              <a:t>This approach of learning an embedding layer requires a lot of training data and can be slow.</a:t>
            </a: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18</a:t>
            </a:fld>
            <a:endParaRPr lang="en-US"/>
          </a:p>
        </p:txBody>
      </p:sp>
      <p:sp>
        <p:nvSpPr>
          <p:cNvPr id="9" name="TextBox 8">
            <a:extLst>
              <a:ext uri="{FF2B5EF4-FFF2-40B4-BE49-F238E27FC236}">
                <a16:creationId xmlns:a16="http://schemas.microsoft.com/office/drawing/2014/main" id="{FD28EFCF-DCE7-41EB-A810-F6CB9BCFA005}"/>
              </a:ext>
            </a:extLst>
          </p:cNvPr>
          <p:cNvSpPr txBox="1"/>
          <p:nvPr/>
        </p:nvSpPr>
        <p:spPr>
          <a:xfrm>
            <a:off x="3910017" y="5869801"/>
            <a:ext cx="4371966" cy="276999"/>
          </a:xfrm>
          <a:prstGeom prst="rect">
            <a:avLst/>
          </a:prstGeom>
          <a:noFill/>
        </p:spPr>
        <p:txBody>
          <a:bodyPr wrap="none" rtlCol="0">
            <a:spAutoFit/>
          </a:bodyPr>
          <a:lstStyle/>
          <a:p>
            <a:r>
              <a:rPr lang="en-US" sz="1200" dirty="0"/>
              <a:t>https://machinelearningmastery.com/what-are-word-embeddings/</a:t>
            </a:r>
          </a:p>
        </p:txBody>
      </p:sp>
    </p:spTree>
    <p:extLst>
      <p:ext uri="{BB962C8B-B14F-4D97-AF65-F5344CB8AC3E}">
        <p14:creationId xmlns:p14="http://schemas.microsoft.com/office/powerpoint/2010/main" val="44661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Step2- Word Embeddings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19</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1107498"/>
            <a:ext cx="11130856" cy="5039302"/>
          </a:xfrm>
        </p:spPr>
        <p:txBody>
          <a:bodyPr>
            <a:normAutofit/>
          </a:bodyPr>
          <a:lstStyle/>
          <a:p>
            <a:r>
              <a:rPr lang="en-US" dirty="0"/>
              <a:t>Word Embeddings – Word2Vec</a:t>
            </a:r>
          </a:p>
          <a:p>
            <a:pPr algn="l" fontAlgn="base"/>
            <a:r>
              <a:rPr lang="en-GB" sz="2200" b="0" i="0" dirty="0">
                <a:effectLst/>
              </a:rPr>
              <a:t>Word2Vec is a statistical method for efficiently learning a standalone word embedding from a text corpus.</a:t>
            </a:r>
          </a:p>
          <a:p>
            <a:pPr algn="l" fontAlgn="base"/>
            <a:r>
              <a:rPr lang="en-GB" sz="2200" b="0" i="0" dirty="0">
                <a:effectLst/>
              </a:rPr>
              <a:t>Developed as a response to make the neural-network-based training of the embedding more efficient.</a:t>
            </a:r>
          </a:p>
          <a:p>
            <a:pPr algn="l" fontAlgn="base"/>
            <a:r>
              <a:rPr lang="en-GB" sz="2200" b="0" i="0" dirty="0">
                <a:effectLst/>
              </a:rPr>
              <a:t>Analysis of learned vectors and exploration of vector math on the representations of words. </a:t>
            </a:r>
          </a:p>
          <a:p>
            <a:pPr algn="l" fontAlgn="base"/>
            <a:r>
              <a:rPr lang="en-GB" sz="2200" b="0" dirty="0">
                <a:effectLst/>
              </a:rPr>
              <a:t>Bag of Words model </a:t>
            </a:r>
            <a:r>
              <a:rPr lang="en-GB" sz="2200" b="0" i="0" dirty="0">
                <a:effectLst/>
              </a:rPr>
              <a:t>learns the embedding by predicting the current word based on its context.</a:t>
            </a:r>
          </a:p>
          <a:p>
            <a:pPr algn="l" fontAlgn="base"/>
            <a:r>
              <a:rPr lang="en-GB" sz="2200" b="0" i="0" dirty="0">
                <a:effectLst/>
              </a:rPr>
              <a:t>Advantage is that high-quality word embeddings can be learned efficiently (low space and time complexity), allowing larger embeddings to be learned (more dimensions) from much larger corpora of text (billions of words).</a:t>
            </a:r>
            <a:endParaRPr lang="en-GB" sz="2200" b="0" dirty="0">
              <a:effectLst/>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19</a:t>
            </a:fld>
            <a:endParaRPr lang="en-US"/>
          </a:p>
        </p:txBody>
      </p:sp>
      <p:sp>
        <p:nvSpPr>
          <p:cNvPr id="9" name="TextBox 8">
            <a:extLst>
              <a:ext uri="{FF2B5EF4-FFF2-40B4-BE49-F238E27FC236}">
                <a16:creationId xmlns:a16="http://schemas.microsoft.com/office/drawing/2014/main" id="{FD28EFCF-DCE7-41EB-A810-F6CB9BCFA005}"/>
              </a:ext>
            </a:extLst>
          </p:cNvPr>
          <p:cNvSpPr txBox="1"/>
          <p:nvPr/>
        </p:nvSpPr>
        <p:spPr>
          <a:xfrm>
            <a:off x="3910017" y="5869801"/>
            <a:ext cx="4371966" cy="276999"/>
          </a:xfrm>
          <a:prstGeom prst="rect">
            <a:avLst/>
          </a:prstGeom>
          <a:noFill/>
        </p:spPr>
        <p:txBody>
          <a:bodyPr wrap="none" rtlCol="0">
            <a:spAutoFit/>
          </a:bodyPr>
          <a:lstStyle/>
          <a:p>
            <a:r>
              <a:rPr lang="en-US" sz="1200" dirty="0"/>
              <a:t>https://machinelearningmastery.com/what-are-word-embeddings/</a:t>
            </a:r>
          </a:p>
        </p:txBody>
      </p:sp>
    </p:spTree>
    <p:extLst>
      <p:ext uri="{BB962C8B-B14F-4D97-AF65-F5344CB8AC3E}">
        <p14:creationId xmlns:p14="http://schemas.microsoft.com/office/powerpoint/2010/main" val="3442835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Step3-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20</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90584" y="711258"/>
            <a:ext cx="11130856" cy="5039302"/>
          </a:xfrm>
        </p:spPr>
        <p:txBody>
          <a:bodyPr>
            <a:normAutofit/>
          </a:bodyPr>
          <a:lstStyle/>
          <a:p>
            <a:r>
              <a:rPr lang="en-US" dirty="0"/>
              <a:t>Input embeddings to RNN (GRU)</a:t>
            </a:r>
          </a:p>
          <a:p>
            <a:pPr lvl="1"/>
            <a:r>
              <a:rPr lang="en-GB" i="0" dirty="0">
                <a:solidFill>
                  <a:srgbClr val="202122"/>
                </a:solidFill>
                <a:effectLst/>
              </a:rPr>
              <a:t>Output obtained using Sigmoid function</a:t>
            </a:r>
          </a:p>
          <a:p>
            <a:pPr lvl="1"/>
            <a:r>
              <a:rPr lang="en-GB" dirty="0">
                <a:solidFill>
                  <a:srgbClr val="202122"/>
                </a:solidFill>
              </a:rPr>
              <a:t>Output between range 0.0 and 1.0</a:t>
            </a:r>
          </a:p>
          <a:p>
            <a:pPr lvl="2"/>
            <a:r>
              <a:rPr lang="en-GB" dirty="0">
                <a:solidFill>
                  <a:srgbClr val="202122"/>
                </a:solidFill>
              </a:rPr>
              <a:t>0.0 indicates a negative comment</a:t>
            </a:r>
          </a:p>
          <a:p>
            <a:pPr lvl="2"/>
            <a:r>
              <a:rPr lang="en-GB" dirty="0">
                <a:solidFill>
                  <a:srgbClr val="202122"/>
                </a:solidFill>
              </a:rPr>
              <a:t>1.0 indicates a positive comment</a:t>
            </a:r>
          </a:p>
          <a:p>
            <a:r>
              <a:rPr lang="en-GB" dirty="0">
                <a:solidFill>
                  <a:srgbClr val="202122"/>
                </a:solidFill>
              </a:rPr>
              <a:t>Basic unit of RNN is Recursive Unit (RU)</a:t>
            </a:r>
          </a:p>
          <a:p>
            <a:pPr lvl="1"/>
            <a:r>
              <a:rPr lang="en-GB" sz="2000" dirty="0">
                <a:solidFill>
                  <a:srgbClr val="202122"/>
                </a:solidFill>
              </a:rPr>
              <a:t>Another way to visualize RNN is to unroll recursion</a:t>
            </a:r>
          </a:p>
          <a:p>
            <a:pPr lvl="1"/>
            <a:r>
              <a:rPr lang="en-GB" sz="2000" dirty="0">
                <a:solidFill>
                  <a:srgbClr val="202122"/>
                </a:solidFill>
              </a:rPr>
              <a:t>Third word is important as it is “not”</a:t>
            </a:r>
          </a:p>
          <a:p>
            <a:pPr lvl="1"/>
            <a:r>
              <a:rPr lang="en-GB" sz="2000" dirty="0">
                <a:solidFill>
                  <a:srgbClr val="202122"/>
                </a:solidFill>
              </a:rPr>
              <a:t>At time step 6 the word “good” is important</a:t>
            </a:r>
            <a:endParaRPr lang="en-GB" dirty="0">
              <a:solidFill>
                <a:srgbClr val="202122"/>
              </a:solidFill>
            </a:endParaRPr>
          </a:p>
          <a:p>
            <a:pPr lvl="1"/>
            <a:endParaRPr lang="en-GB" b="0" i="0" dirty="0">
              <a:solidFill>
                <a:srgbClr val="202122"/>
              </a:solidFill>
              <a:effectLst/>
            </a:endParaRPr>
          </a:p>
          <a:p>
            <a:endParaRPr lang="en-US"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20</a:t>
            </a:fld>
            <a:endParaRPr lang="en-US"/>
          </a:p>
        </p:txBody>
      </p:sp>
      <p:pic>
        <p:nvPicPr>
          <p:cNvPr id="6" name="Picture 5">
            <a:extLst>
              <a:ext uri="{FF2B5EF4-FFF2-40B4-BE49-F238E27FC236}">
                <a16:creationId xmlns:a16="http://schemas.microsoft.com/office/drawing/2014/main" id="{88713A0B-2A8B-4AE1-B563-AE19E0736C5C}"/>
              </a:ext>
            </a:extLst>
          </p:cNvPr>
          <p:cNvPicPr>
            <a:picLocks noChangeAspect="1"/>
          </p:cNvPicPr>
          <p:nvPr/>
        </p:nvPicPr>
        <p:blipFill>
          <a:blip r:embed="rId3"/>
          <a:stretch>
            <a:fillRect/>
          </a:stretch>
        </p:blipFill>
        <p:spPr>
          <a:xfrm>
            <a:off x="7726493" y="939223"/>
            <a:ext cx="4074923" cy="5379108"/>
          </a:xfrm>
          <a:prstGeom prst="rect">
            <a:avLst/>
          </a:prstGeom>
        </p:spPr>
      </p:pic>
      <p:pic>
        <p:nvPicPr>
          <p:cNvPr id="2050" name="Picture 2" descr="Unrolled network">
            <a:extLst>
              <a:ext uri="{FF2B5EF4-FFF2-40B4-BE49-F238E27FC236}">
                <a16:creationId xmlns:a16="http://schemas.microsoft.com/office/drawing/2014/main" id="{B9C8EC93-513D-48D7-886B-F7AB01F44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920" y="4133127"/>
            <a:ext cx="5651500" cy="218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56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3 Layer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21</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rmAutofit/>
          </a:bodyPr>
          <a:lstStyle/>
          <a:p>
            <a:r>
              <a:rPr lang="en-GB" sz="2200" b="0" i="0" dirty="0">
                <a:effectLst/>
              </a:rPr>
              <a:t>1</a:t>
            </a:r>
            <a:r>
              <a:rPr lang="en-GB" sz="2200" b="0" i="0" baseline="30000" dirty="0">
                <a:effectLst/>
              </a:rPr>
              <a:t>st</a:t>
            </a:r>
            <a:r>
              <a:rPr lang="en-GB" sz="2200" b="0" i="0" dirty="0">
                <a:effectLst/>
              </a:rPr>
              <a:t> layer is like the unrolled single-layer RNN. </a:t>
            </a:r>
          </a:p>
          <a:p>
            <a:r>
              <a:rPr lang="en-GB" sz="2200" dirty="0"/>
              <a:t>1</a:t>
            </a:r>
            <a:r>
              <a:rPr lang="en-GB" sz="2200" baseline="30000" dirty="0"/>
              <a:t>st</a:t>
            </a:r>
            <a:r>
              <a:rPr lang="en-GB" sz="2200" dirty="0"/>
              <a:t> </a:t>
            </a:r>
            <a:r>
              <a:rPr lang="en-GB" sz="2200" b="0" i="0" dirty="0">
                <a:effectLst/>
              </a:rPr>
              <a:t>recurrent unit RU1 has its internal state initialized to zero. </a:t>
            </a:r>
          </a:p>
          <a:p>
            <a:r>
              <a:rPr lang="en-GB" sz="2200" b="0" i="0" dirty="0">
                <a:effectLst/>
              </a:rPr>
              <a:t>The word "this" is input to RU1 and it updates its internal state.</a:t>
            </a:r>
          </a:p>
          <a:p>
            <a:r>
              <a:rPr lang="en-GB" sz="2200" b="0" i="0" dirty="0">
                <a:effectLst/>
              </a:rPr>
              <a:t>Then it processes the next word "is", and so forth. </a:t>
            </a:r>
            <a:endParaRPr lang="en-GB" sz="2200" dirty="0"/>
          </a:p>
          <a:p>
            <a:r>
              <a:rPr lang="en-GB" sz="2200" b="0" i="0" dirty="0">
                <a:effectLst/>
              </a:rPr>
              <a:t>We use the output of RU1 for every time-step. </a:t>
            </a:r>
          </a:p>
          <a:p>
            <a:r>
              <a:rPr lang="en-GB" sz="2200" b="0" i="0" dirty="0">
                <a:effectLst/>
              </a:rPr>
              <a:t>This creates a new sequence that can then be used as input for the next recurrent unit RU2.</a:t>
            </a:r>
          </a:p>
          <a:p>
            <a:r>
              <a:rPr lang="en-GB" sz="2200" b="0" i="0" dirty="0">
                <a:effectLst/>
              </a:rPr>
              <a:t>Same process is repeated for the subsequent layers.</a:t>
            </a:r>
          </a:p>
          <a:p>
            <a:r>
              <a:rPr lang="en-GB" sz="2200" b="0" i="0" dirty="0">
                <a:effectLst/>
              </a:rPr>
              <a:t>Output of RU3 is passed to fully-connected Sigmoid</a:t>
            </a:r>
          </a:p>
          <a:p>
            <a:pPr marL="0" indent="0">
              <a:buNone/>
            </a:pPr>
            <a:r>
              <a:rPr lang="en-GB" sz="2200" b="0" i="0" dirty="0">
                <a:effectLst/>
              </a:rPr>
              <a:t> layer that outputs value between 0.0 (-</a:t>
            </a:r>
            <a:r>
              <a:rPr lang="en-GB" sz="2200" b="0" i="0" dirty="0" err="1">
                <a:effectLst/>
              </a:rPr>
              <a:t>ve</a:t>
            </a:r>
            <a:r>
              <a:rPr lang="en-GB" sz="2200" b="0" i="0" dirty="0">
                <a:effectLst/>
              </a:rPr>
              <a:t>) and 1.0 (+</a:t>
            </a:r>
            <a:r>
              <a:rPr lang="en-GB" sz="2200" b="0" i="0" dirty="0" err="1">
                <a:effectLst/>
              </a:rPr>
              <a:t>ve</a:t>
            </a:r>
            <a:r>
              <a:rPr lang="en-GB" sz="2200" b="0" i="0" dirty="0">
                <a:effectLst/>
              </a:rPr>
              <a:t>).</a:t>
            </a:r>
            <a:endParaRPr lang="en-US" sz="2200" dirty="0"/>
          </a:p>
          <a:p>
            <a:pPr marL="0" indent="0">
              <a:buNone/>
            </a:pPr>
            <a:endParaRPr lang="en-US" dirty="0"/>
          </a:p>
          <a:p>
            <a:endParaRPr lang="en-US"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21</a:t>
            </a:fld>
            <a:endParaRPr lang="en-US"/>
          </a:p>
        </p:txBody>
      </p:sp>
      <p:pic>
        <p:nvPicPr>
          <p:cNvPr id="2052" name="Picture 4" descr="Unrolled 3-layer network">
            <a:extLst>
              <a:ext uri="{FF2B5EF4-FFF2-40B4-BE49-F238E27FC236}">
                <a16:creationId xmlns:a16="http://schemas.microsoft.com/office/drawing/2014/main" id="{9EF1A5AA-B832-4A1C-B43E-54865FB446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1647" y="3582302"/>
            <a:ext cx="4894400" cy="2920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384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Example</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22</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rmAutofit/>
          </a:bodyPr>
          <a:lstStyle/>
          <a:p>
            <a:pPr algn="l"/>
            <a:r>
              <a:rPr lang="en-GB" sz="2200" b="0" i="0" dirty="0">
                <a:effectLst/>
              </a:rPr>
              <a:t>In this example we will use texts that have more than 500 words. </a:t>
            </a:r>
          </a:p>
          <a:p>
            <a:pPr algn="l"/>
            <a:r>
              <a:rPr lang="en-GB" sz="2200" b="0" i="0" dirty="0">
                <a:effectLst/>
              </a:rPr>
              <a:t>This means the RU's gate for updating its internal memory-state is applied recursively more than 500 times. </a:t>
            </a:r>
          </a:p>
          <a:p>
            <a:pPr algn="l"/>
            <a:r>
              <a:rPr lang="en-GB" sz="2200" b="0" i="0" dirty="0">
                <a:effectLst/>
              </a:rPr>
              <a:t>If a gradient of just 1.01 is multiplied with itself 500 times then it gives a value of about 145. If a gradient of just 0.99 is multiplied with itself 500 times then it gives a value of about 0.007.</a:t>
            </a:r>
          </a:p>
          <a:p>
            <a:pPr algn="l"/>
            <a:r>
              <a:rPr lang="en-GB" sz="2200" b="0" i="0" dirty="0">
                <a:effectLst/>
              </a:rPr>
              <a:t>These are called exploding and vanishing gradients. The only gradients that can survive recurrent multiplication are 0 and 1.</a:t>
            </a:r>
          </a:p>
          <a:p>
            <a:pPr algn="l"/>
            <a:r>
              <a:rPr lang="en-GB" sz="2200" b="0" i="0" dirty="0">
                <a:effectLst/>
              </a:rPr>
              <a:t>To avoid these so-called exploding and vanishing gradients, care must be made when designing the recurrent unit and its gates. </a:t>
            </a:r>
          </a:p>
          <a:p>
            <a:pPr algn="l"/>
            <a:r>
              <a:rPr lang="en-GB" sz="2200" b="0" i="0" dirty="0">
                <a:effectLst/>
              </a:rPr>
              <a:t>That is why the actual implementation of the GRU is more complicated, because it tries to send the gradient back through the gates without this distortion.</a:t>
            </a:r>
          </a:p>
          <a:p>
            <a:pPr marL="0" indent="0">
              <a:buNone/>
            </a:pPr>
            <a:endParaRPr lang="en-US" sz="2200" dirty="0"/>
          </a:p>
          <a:p>
            <a:endParaRPr lang="en-US" sz="22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22</a:t>
            </a:fld>
            <a:endParaRPr lang="en-US"/>
          </a:p>
        </p:txBody>
      </p:sp>
    </p:spTree>
    <p:extLst>
      <p:ext uri="{BB962C8B-B14F-4D97-AF65-F5344CB8AC3E}">
        <p14:creationId xmlns:p14="http://schemas.microsoft.com/office/powerpoint/2010/main" val="4280473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Imports</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23</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rmAutofit/>
          </a:bodyPr>
          <a:lstStyle/>
          <a:p>
            <a:pPr marL="0" indent="0">
              <a:buNone/>
            </a:pPr>
            <a:r>
              <a:rPr lang="en-US" sz="2200" dirty="0"/>
              <a:t>%matplotlib inline</a:t>
            </a:r>
          </a:p>
          <a:p>
            <a:pPr marL="0" indent="0">
              <a:buNone/>
            </a:pPr>
            <a:r>
              <a:rPr lang="en-US" sz="1600" dirty="0">
                <a:latin typeface="Courier New" panose="02070309020205020404" pitchFamily="49" charset="0"/>
                <a:cs typeface="Courier New" panose="02070309020205020404" pitchFamily="49" charset="0"/>
              </a:rPr>
              <a:t>import </a:t>
            </a:r>
            <a:r>
              <a:rPr lang="en-US" sz="1600" dirty="0" err="1">
                <a:latin typeface="Courier New" panose="02070309020205020404" pitchFamily="49" charset="0"/>
                <a:cs typeface="Courier New" panose="02070309020205020404" pitchFamily="49" charset="0"/>
              </a:rPr>
              <a:t>matplotlib.pyplot</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plt</a:t>
            </a:r>
            <a:endParaRPr lang="en-US" sz="1600"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import </a:t>
            </a:r>
            <a:r>
              <a:rPr lang="en-US" sz="1600" dirty="0" err="1">
                <a:latin typeface="Courier New" panose="02070309020205020404" pitchFamily="49" charset="0"/>
                <a:cs typeface="Courier New" panose="02070309020205020404" pitchFamily="49" charset="0"/>
              </a:rPr>
              <a:t>tensorflow</a:t>
            </a:r>
            <a:r>
              <a:rPr lang="en-US" sz="1600" dirty="0">
                <a:latin typeface="Courier New" panose="02070309020205020404" pitchFamily="49" charset="0"/>
                <a:cs typeface="Courier New" panose="02070309020205020404" pitchFamily="49" charset="0"/>
              </a:rPr>
              <a:t> as </a:t>
            </a:r>
            <a:r>
              <a:rPr lang="en-US" sz="1600" dirty="0" err="1">
                <a:latin typeface="Courier New" panose="02070309020205020404" pitchFamily="49" charset="0"/>
                <a:cs typeface="Courier New" panose="02070309020205020404" pitchFamily="49" charset="0"/>
              </a:rPr>
              <a:t>tf</a:t>
            </a:r>
            <a:endParaRPr lang="en-US" sz="1600"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import </a:t>
            </a:r>
            <a:r>
              <a:rPr lang="en-US" sz="1600" dirty="0" err="1">
                <a:latin typeface="Courier New" panose="02070309020205020404" pitchFamily="49" charset="0"/>
                <a:cs typeface="Courier New" panose="02070309020205020404" pitchFamily="49" charset="0"/>
              </a:rPr>
              <a:t>numpy</a:t>
            </a:r>
            <a:r>
              <a:rPr lang="en-US" sz="1600" dirty="0">
                <a:latin typeface="Courier New" panose="02070309020205020404" pitchFamily="49" charset="0"/>
                <a:cs typeface="Courier New" panose="02070309020205020404" pitchFamily="49" charset="0"/>
              </a:rPr>
              <a:t> as np</a:t>
            </a: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scipy.spatial.distance</a:t>
            </a:r>
            <a:r>
              <a:rPr lang="en-US" sz="1600" dirty="0">
                <a:latin typeface="Courier New" panose="02070309020205020404" pitchFamily="49" charset="0"/>
                <a:cs typeface="Courier New" panose="02070309020205020404" pitchFamily="49" charset="0"/>
              </a:rPr>
              <a:t> import </a:t>
            </a:r>
            <a:r>
              <a:rPr lang="en-US" sz="1600" dirty="0" err="1">
                <a:latin typeface="Courier New" panose="02070309020205020404" pitchFamily="49" charset="0"/>
                <a:cs typeface="Courier New" panose="02070309020205020404" pitchFamily="49" charset="0"/>
              </a:rPr>
              <a:t>cdist</a:t>
            </a:r>
            <a:endParaRPr lang="en-US" sz="1600" dirty="0">
              <a:latin typeface="Courier New" panose="02070309020205020404" pitchFamily="49" charset="0"/>
              <a:cs typeface="Courier New" panose="02070309020205020404" pitchFamily="49" charset="0"/>
            </a:endParaRPr>
          </a:p>
          <a:p>
            <a:pPr marL="0" indent="0">
              <a:buNone/>
            </a:pPr>
            <a:endParaRPr lang="en-US" sz="1600" dirty="0">
              <a:latin typeface="Courier New" panose="02070309020205020404" pitchFamily="49" charset="0"/>
              <a:cs typeface="Courier New" panose="02070309020205020404" pitchFamily="49" charset="0"/>
            </a:endParaRP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tensorflow.keras.models</a:t>
            </a:r>
            <a:r>
              <a:rPr lang="en-US" sz="1600" dirty="0">
                <a:latin typeface="Courier New" panose="02070309020205020404" pitchFamily="49" charset="0"/>
                <a:cs typeface="Courier New" panose="02070309020205020404" pitchFamily="49" charset="0"/>
              </a:rPr>
              <a:t> import Sequential</a:t>
            </a: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tensorflow.keras.layers</a:t>
            </a:r>
            <a:r>
              <a:rPr lang="en-US" sz="1600" dirty="0">
                <a:latin typeface="Courier New" panose="02070309020205020404" pitchFamily="49" charset="0"/>
                <a:cs typeface="Courier New" panose="02070309020205020404" pitchFamily="49" charset="0"/>
              </a:rPr>
              <a:t> import Dense, GRU, Embedding</a:t>
            </a: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tensorflow.keras.optimizers</a:t>
            </a:r>
            <a:r>
              <a:rPr lang="en-US" sz="1600" dirty="0">
                <a:latin typeface="Courier New" panose="02070309020205020404" pitchFamily="49" charset="0"/>
                <a:cs typeface="Courier New" panose="02070309020205020404" pitchFamily="49" charset="0"/>
              </a:rPr>
              <a:t> import Adam</a:t>
            </a: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tensorflow.keras.preprocessing.text</a:t>
            </a:r>
            <a:r>
              <a:rPr lang="en-US" sz="1600" dirty="0">
                <a:latin typeface="Courier New" panose="02070309020205020404" pitchFamily="49" charset="0"/>
                <a:cs typeface="Courier New" panose="02070309020205020404" pitchFamily="49" charset="0"/>
              </a:rPr>
              <a:t> import Tokenizer</a:t>
            </a:r>
          </a:p>
          <a:p>
            <a:pPr marL="0" indent="0">
              <a:buNone/>
            </a:pPr>
            <a:r>
              <a:rPr lang="en-US" sz="1600" dirty="0">
                <a:latin typeface="Courier New" panose="02070309020205020404" pitchFamily="49" charset="0"/>
                <a:cs typeface="Courier New" panose="02070309020205020404" pitchFamily="49" charset="0"/>
              </a:rPr>
              <a:t>from </a:t>
            </a:r>
            <a:r>
              <a:rPr lang="en-US" sz="1600" dirty="0" err="1">
                <a:latin typeface="Courier New" panose="02070309020205020404" pitchFamily="49" charset="0"/>
                <a:cs typeface="Courier New" panose="02070309020205020404" pitchFamily="49" charset="0"/>
              </a:rPr>
              <a:t>tensorflow.keras.preprocessing.sequence</a:t>
            </a:r>
            <a:r>
              <a:rPr lang="en-US" sz="1600" dirty="0">
                <a:latin typeface="Courier New" panose="02070309020205020404" pitchFamily="49" charset="0"/>
                <a:cs typeface="Courier New" panose="02070309020205020404" pitchFamily="49" charset="0"/>
              </a:rPr>
              <a:t> import </a:t>
            </a:r>
            <a:r>
              <a:rPr lang="en-US" sz="1600" dirty="0" err="1">
                <a:latin typeface="Courier New" panose="02070309020205020404" pitchFamily="49" charset="0"/>
                <a:cs typeface="Courier New" panose="02070309020205020404" pitchFamily="49" charset="0"/>
              </a:rPr>
              <a:t>pad_sequences</a:t>
            </a:r>
            <a:endParaRPr lang="en-US" sz="1600" dirty="0">
              <a:latin typeface="Courier New" panose="02070309020205020404" pitchFamily="49" charset="0"/>
              <a:cs typeface="Courier New" panose="02070309020205020404" pitchFamily="49" charset="0"/>
            </a:endParaRPr>
          </a:p>
          <a:p>
            <a:endParaRPr lang="en-US" sz="22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23</a:t>
            </a:fld>
            <a:endParaRPr lang="en-US"/>
          </a:p>
        </p:txBody>
      </p:sp>
    </p:spTree>
    <p:extLst>
      <p:ext uri="{BB962C8B-B14F-4D97-AF65-F5344CB8AC3E}">
        <p14:creationId xmlns:p14="http://schemas.microsoft.com/office/powerpoint/2010/main" val="3292702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Load Data</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24</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rmAutofit fontScale="70000" lnSpcReduction="20000"/>
          </a:bodyPr>
          <a:lstStyle/>
          <a:p>
            <a:pPr marL="0" indent="0">
              <a:buNone/>
            </a:pPr>
            <a:endParaRPr lang="en-US" sz="2600" dirty="0">
              <a:latin typeface="Courier New" panose="02070309020205020404" pitchFamily="49" charset="0"/>
              <a:cs typeface="Courier New" panose="02070309020205020404" pitchFamily="49" charset="0"/>
            </a:endParaRPr>
          </a:p>
          <a:p>
            <a:pPr marL="0" indent="0">
              <a:buNone/>
            </a:pPr>
            <a:r>
              <a:rPr lang="en-US" sz="2600" b="0" dirty="0">
                <a:effectLst/>
                <a:latin typeface="Courier New" panose="02070309020205020404" pitchFamily="49" charset="0"/>
                <a:cs typeface="Courier New" panose="02070309020205020404" pitchFamily="49" charset="0"/>
              </a:rPr>
              <a:t>from </a:t>
            </a:r>
            <a:r>
              <a:rPr lang="en-US" sz="2600" b="0" dirty="0" err="1">
                <a:effectLst/>
                <a:latin typeface="Courier New" panose="02070309020205020404" pitchFamily="49" charset="0"/>
                <a:cs typeface="Courier New" panose="02070309020205020404" pitchFamily="49" charset="0"/>
              </a:rPr>
              <a:t>imdb</a:t>
            </a:r>
            <a:r>
              <a:rPr lang="en-US" sz="2600" b="0" dirty="0">
                <a:effectLst/>
                <a:latin typeface="Courier New" panose="02070309020205020404" pitchFamily="49" charset="0"/>
                <a:cs typeface="Courier New" panose="02070309020205020404" pitchFamily="49" charset="0"/>
              </a:rPr>
              <a:t> import IMDb</a:t>
            </a:r>
          </a:p>
          <a:p>
            <a:pPr marL="0" indent="0">
              <a:buNone/>
            </a:pPr>
            <a:r>
              <a:rPr lang="en-GB" sz="2600" b="0" dirty="0" err="1">
                <a:effectLst/>
                <a:latin typeface="Courier New" panose="02070309020205020404" pitchFamily="49" charset="0"/>
                <a:cs typeface="Courier New" panose="02070309020205020404" pitchFamily="49" charset="0"/>
              </a:rPr>
              <a:t>imdb.maybe_download_and_extract</a:t>
            </a:r>
            <a:r>
              <a:rPr lang="en-GB" sz="2600" b="0" dirty="0">
                <a:effectLst/>
                <a:latin typeface="Courier New" panose="02070309020205020404" pitchFamily="49" charset="0"/>
                <a:cs typeface="Courier New" panose="02070309020205020404" pitchFamily="49" charset="0"/>
              </a:rPr>
              <a:t>()	#Data size is 84MB download and extract</a:t>
            </a:r>
          </a:p>
          <a:p>
            <a:pPr marL="0" indent="0">
              <a:buNone/>
            </a:pPr>
            <a:endParaRPr lang="en-GB" sz="2600" dirty="0">
              <a:latin typeface="Courier New" panose="02070309020205020404" pitchFamily="49" charset="0"/>
              <a:cs typeface="Courier New" panose="02070309020205020404" pitchFamily="49" charset="0"/>
            </a:endParaRPr>
          </a:p>
          <a:p>
            <a:pPr marL="0" indent="0">
              <a:buNone/>
            </a:pPr>
            <a:r>
              <a:rPr lang="en-GB" sz="2600" b="0" dirty="0" err="1">
                <a:effectLst/>
                <a:latin typeface="Courier New" panose="02070309020205020404" pitchFamily="49" charset="0"/>
                <a:cs typeface="Courier New" panose="02070309020205020404" pitchFamily="49" charset="0"/>
              </a:rPr>
              <a:t>x_train_text</a:t>
            </a:r>
            <a:r>
              <a:rPr lang="en-GB" sz="2600" b="0" dirty="0">
                <a:effectLst/>
                <a:latin typeface="Courier New" panose="02070309020205020404" pitchFamily="49" charset="0"/>
                <a:cs typeface="Courier New" panose="02070309020205020404" pitchFamily="49" charset="0"/>
              </a:rPr>
              <a:t>, </a:t>
            </a:r>
            <a:r>
              <a:rPr lang="en-GB" sz="2600" b="0" dirty="0" err="1">
                <a:effectLst/>
                <a:latin typeface="Courier New" panose="02070309020205020404" pitchFamily="49" charset="0"/>
                <a:cs typeface="Courier New" panose="02070309020205020404" pitchFamily="49" charset="0"/>
              </a:rPr>
              <a:t>y_train</a:t>
            </a:r>
            <a:r>
              <a:rPr lang="en-GB" sz="2600" b="0" dirty="0">
                <a:effectLst/>
                <a:latin typeface="Courier New" panose="02070309020205020404" pitchFamily="49" charset="0"/>
                <a:cs typeface="Courier New" panose="02070309020205020404" pitchFamily="49" charset="0"/>
              </a:rPr>
              <a:t> = </a:t>
            </a:r>
            <a:r>
              <a:rPr lang="en-GB" sz="2600" b="0" dirty="0" err="1">
                <a:effectLst/>
                <a:latin typeface="Courier New" panose="02070309020205020404" pitchFamily="49" charset="0"/>
                <a:cs typeface="Courier New" panose="02070309020205020404" pitchFamily="49" charset="0"/>
              </a:rPr>
              <a:t>imdb.load_data</a:t>
            </a:r>
            <a:r>
              <a:rPr lang="en-GB" sz="2600" b="0" dirty="0">
                <a:effectLst/>
                <a:latin typeface="Courier New" panose="02070309020205020404" pitchFamily="49" charset="0"/>
                <a:cs typeface="Courier New" panose="02070309020205020404" pitchFamily="49" charset="0"/>
              </a:rPr>
              <a:t>(train=True)#Load training and test sets</a:t>
            </a:r>
          </a:p>
          <a:p>
            <a:pPr marL="0" indent="0">
              <a:buNone/>
            </a:pPr>
            <a:r>
              <a:rPr lang="en-GB" sz="2600" b="0" dirty="0" err="1">
                <a:effectLst/>
                <a:latin typeface="Courier New" panose="02070309020205020404" pitchFamily="49" charset="0"/>
                <a:cs typeface="Courier New" panose="02070309020205020404" pitchFamily="49" charset="0"/>
              </a:rPr>
              <a:t>x_test_text</a:t>
            </a:r>
            <a:r>
              <a:rPr lang="en-GB" sz="2600" b="0" dirty="0">
                <a:effectLst/>
                <a:latin typeface="Courier New" panose="02070309020205020404" pitchFamily="49" charset="0"/>
                <a:cs typeface="Courier New" panose="02070309020205020404" pitchFamily="49" charset="0"/>
              </a:rPr>
              <a:t>, </a:t>
            </a:r>
            <a:r>
              <a:rPr lang="en-GB" sz="2600" b="0" dirty="0" err="1">
                <a:effectLst/>
                <a:latin typeface="Courier New" panose="02070309020205020404" pitchFamily="49" charset="0"/>
                <a:cs typeface="Courier New" panose="02070309020205020404" pitchFamily="49" charset="0"/>
              </a:rPr>
              <a:t>y_test</a:t>
            </a:r>
            <a:r>
              <a:rPr lang="en-GB" sz="2600" b="0" dirty="0">
                <a:effectLst/>
                <a:latin typeface="Courier New" panose="02070309020205020404" pitchFamily="49" charset="0"/>
                <a:cs typeface="Courier New" panose="02070309020205020404" pitchFamily="49" charset="0"/>
              </a:rPr>
              <a:t> = </a:t>
            </a:r>
            <a:r>
              <a:rPr lang="en-GB" sz="2600" b="0" dirty="0" err="1">
                <a:effectLst/>
                <a:latin typeface="Courier New" panose="02070309020205020404" pitchFamily="49" charset="0"/>
                <a:cs typeface="Courier New" panose="02070309020205020404" pitchFamily="49" charset="0"/>
              </a:rPr>
              <a:t>imdb.load_data</a:t>
            </a:r>
            <a:r>
              <a:rPr lang="en-GB" sz="2600" b="0" dirty="0">
                <a:effectLst/>
                <a:latin typeface="Courier New" panose="02070309020205020404" pitchFamily="49" charset="0"/>
                <a:cs typeface="Courier New" panose="02070309020205020404" pitchFamily="49" charset="0"/>
              </a:rPr>
              <a:t>(train=False)</a:t>
            </a:r>
          </a:p>
          <a:p>
            <a:pPr marL="0" indent="0">
              <a:buNone/>
            </a:pPr>
            <a:endParaRPr lang="en-GB" sz="2600" b="0" dirty="0">
              <a:effectLst/>
            </a:endParaRPr>
          </a:p>
          <a:p>
            <a:pPr marL="0" indent="0">
              <a:buNone/>
            </a:pPr>
            <a:r>
              <a:rPr lang="en-GB" sz="2600" b="0" dirty="0">
                <a:effectLst/>
              </a:rPr>
              <a:t># Convert to </a:t>
            </a:r>
            <a:r>
              <a:rPr lang="en-GB" sz="2600" b="0" dirty="0" err="1">
                <a:effectLst/>
              </a:rPr>
              <a:t>numpy</a:t>
            </a:r>
            <a:r>
              <a:rPr lang="en-GB" sz="2600" b="0" dirty="0">
                <a:effectLst/>
              </a:rPr>
              <a:t> arrays.</a:t>
            </a:r>
          </a:p>
          <a:p>
            <a:pPr marL="0" indent="0">
              <a:buNone/>
            </a:pPr>
            <a:r>
              <a:rPr lang="en-GB" sz="2600" b="0" dirty="0" err="1">
                <a:effectLst/>
                <a:latin typeface="Courier New" panose="02070309020205020404" pitchFamily="49" charset="0"/>
                <a:cs typeface="Courier New" panose="02070309020205020404" pitchFamily="49" charset="0"/>
              </a:rPr>
              <a:t>y_train</a:t>
            </a:r>
            <a:r>
              <a:rPr lang="en-GB" sz="2600" b="0" dirty="0">
                <a:effectLst/>
                <a:latin typeface="Courier New" panose="02070309020205020404" pitchFamily="49" charset="0"/>
                <a:cs typeface="Courier New" panose="02070309020205020404" pitchFamily="49" charset="0"/>
              </a:rPr>
              <a:t> = </a:t>
            </a:r>
            <a:r>
              <a:rPr lang="en-GB" sz="2600" b="0" dirty="0" err="1">
                <a:effectLst/>
                <a:latin typeface="Courier New" panose="02070309020205020404" pitchFamily="49" charset="0"/>
                <a:cs typeface="Courier New" panose="02070309020205020404" pitchFamily="49" charset="0"/>
              </a:rPr>
              <a:t>np.array</a:t>
            </a:r>
            <a:r>
              <a:rPr lang="en-GB" sz="2600" b="0" dirty="0">
                <a:effectLst/>
                <a:latin typeface="Courier New" panose="02070309020205020404" pitchFamily="49" charset="0"/>
                <a:cs typeface="Courier New" panose="02070309020205020404" pitchFamily="49" charset="0"/>
              </a:rPr>
              <a:t>(</a:t>
            </a:r>
            <a:r>
              <a:rPr lang="en-GB" sz="2600" b="0" dirty="0" err="1">
                <a:effectLst/>
                <a:latin typeface="Courier New" panose="02070309020205020404" pitchFamily="49" charset="0"/>
                <a:cs typeface="Courier New" panose="02070309020205020404" pitchFamily="49" charset="0"/>
              </a:rPr>
              <a:t>y_train</a:t>
            </a:r>
            <a:r>
              <a:rPr lang="en-GB" sz="2600" b="0" dirty="0">
                <a:effectLst/>
                <a:latin typeface="Courier New" panose="02070309020205020404" pitchFamily="49" charset="0"/>
                <a:cs typeface="Courier New" panose="02070309020205020404" pitchFamily="49" charset="0"/>
              </a:rPr>
              <a:t>)</a:t>
            </a:r>
          </a:p>
          <a:p>
            <a:pPr marL="0" indent="0">
              <a:buNone/>
            </a:pPr>
            <a:r>
              <a:rPr lang="en-GB" sz="2600" b="0" dirty="0" err="1">
                <a:effectLst/>
                <a:latin typeface="Courier New" panose="02070309020205020404" pitchFamily="49" charset="0"/>
                <a:cs typeface="Courier New" panose="02070309020205020404" pitchFamily="49" charset="0"/>
              </a:rPr>
              <a:t>y_test</a:t>
            </a:r>
            <a:r>
              <a:rPr lang="en-GB" sz="2600" b="0" dirty="0">
                <a:effectLst/>
                <a:latin typeface="Courier New" panose="02070309020205020404" pitchFamily="49" charset="0"/>
                <a:cs typeface="Courier New" panose="02070309020205020404" pitchFamily="49" charset="0"/>
              </a:rPr>
              <a:t> = </a:t>
            </a:r>
            <a:r>
              <a:rPr lang="en-GB" sz="2600" b="0" dirty="0" err="1">
                <a:effectLst/>
                <a:latin typeface="Courier New" panose="02070309020205020404" pitchFamily="49" charset="0"/>
                <a:cs typeface="Courier New" panose="02070309020205020404" pitchFamily="49" charset="0"/>
              </a:rPr>
              <a:t>np.array</a:t>
            </a:r>
            <a:r>
              <a:rPr lang="en-GB" sz="2600" b="0" dirty="0">
                <a:effectLst/>
                <a:latin typeface="Courier New" panose="02070309020205020404" pitchFamily="49" charset="0"/>
                <a:cs typeface="Courier New" panose="02070309020205020404" pitchFamily="49" charset="0"/>
              </a:rPr>
              <a:t>(</a:t>
            </a:r>
            <a:r>
              <a:rPr lang="en-GB" sz="2600" b="0" dirty="0" err="1">
                <a:effectLst/>
                <a:latin typeface="Courier New" panose="02070309020205020404" pitchFamily="49" charset="0"/>
                <a:cs typeface="Courier New" panose="02070309020205020404" pitchFamily="49" charset="0"/>
              </a:rPr>
              <a:t>y_test</a:t>
            </a:r>
            <a:r>
              <a:rPr lang="en-GB" sz="2600" b="0" dirty="0">
                <a:effectLst/>
                <a:latin typeface="Courier New" panose="02070309020205020404" pitchFamily="49" charset="0"/>
                <a:cs typeface="Courier New" panose="02070309020205020404" pitchFamily="49" charset="0"/>
              </a:rPr>
              <a:t>)</a:t>
            </a:r>
          </a:p>
          <a:p>
            <a:pPr marL="0" indent="0">
              <a:buNone/>
            </a:pPr>
            <a:endParaRPr lang="en-US" sz="2600" dirty="0">
              <a:latin typeface="Courier New" panose="02070309020205020404" pitchFamily="49" charset="0"/>
              <a:cs typeface="Courier New" panose="02070309020205020404" pitchFamily="49" charset="0"/>
            </a:endParaRPr>
          </a:p>
          <a:p>
            <a:pPr marL="0" indent="0">
              <a:buNone/>
            </a:pPr>
            <a:r>
              <a:rPr lang="en-GB" sz="2600" dirty="0" err="1">
                <a:latin typeface="Courier New" panose="02070309020205020404" pitchFamily="49" charset="0"/>
                <a:cs typeface="Courier New" panose="02070309020205020404" pitchFamily="49" charset="0"/>
              </a:rPr>
              <a:t>data_text</a:t>
            </a:r>
            <a:r>
              <a:rPr lang="en-GB" sz="2600" dirty="0">
                <a:latin typeface="Courier New" panose="02070309020205020404" pitchFamily="49" charset="0"/>
                <a:cs typeface="Courier New" panose="02070309020205020404" pitchFamily="49" charset="0"/>
              </a:rPr>
              <a:t> = </a:t>
            </a:r>
            <a:r>
              <a:rPr lang="en-GB" sz="2600" dirty="0" err="1">
                <a:latin typeface="Courier New" panose="02070309020205020404" pitchFamily="49" charset="0"/>
                <a:cs typeface="Courier New" panose="02070309020205020404" pitchFamily="49" charset="0"/>
              </a:rPr>
              <a:t>x_train_text</a:t>
            </a:r>
            <a:r>
              <a:rPr lang="en-GB" sz="2600" dirty="0">
                <a:latin typeface="Courier New" panose="02070309020205020404" pitchFamily="49" charset="0"/>
                <a:cs typeface="Courier New" panose="02070309020205020404" pitchFamily="49" charset="0"/>
              </a:rPr>
              <a:t> + </a:t>
            </a:r>
            <a:r>
              <a:rPr lang="en-GB" sz="2600" dirty="0" err="1">
                <a:latin typeface="Courier New" panose="02070309020205020404" pitchFamily="49" charset="0"/>
                <a:cs typeface="Courier New" panose="02070309020205020404" pitchFamily="49" charset="0"/>
              </a:rPr>
              <a:t>x_test_text</a:t>
            </a:r>
            <a:r>
              <a:rPr lang="en-GB" sz="2600" dirty="0">
                <a:latin typeface="Courier New" panose="02070309020205020404" pitchFamily="49" charset="0"/>
                <a:cs typeface="Courier New" panose="02070309020205020404" pitchFamily="49" charset="0"/>
              </a:rPr>
              <a:t>	#Combine into one dataset</a:t>
            </a:r>
          </a:p>
          <a:p>
            <a:pPr marL="0" indent="0">
              <a:buNone/>
            </a:pPr>
            <a:endParaRPr lang="en-GB" sz="2600" dirty="0">
              <a:latin typeface="Courier New" panose="02070309020205020404" pitchFamily="49" charset="0"/>
              <a:cs typeface="Courier New" panose="02070309020205020404" pitchFamily="49" charset="0"/>
            </a:endParaRPr>
          </a:p>
          <a:p>
            <a:pPr marL="0" indent="0">
              <a:buNone/>
            </a:pPr>
            <a:r>
              <a:rPr lang="en-US" sz="2600" b="0" dirty="0" err="1">
                <a:effectLst/>
                <a:latin typeface="Courier New" panose="02070309020205020404" pitchFamily="49" charset="0"/>
                <a:cs typeface="Courier New" panose="02070309020205020404" pitchFamily="49" charset="0"/>
              </a:rPr>
              <a:t>x_train_text</a:t>
            </a:r>
            <a:r>
              <a:rPr lang="en-US" sz="2600" b="0" dirty="0">
                <a:effectLst/>
                <a:latin typeface="Courier New" panose="02070309020205020404" pitchFamily="49" charset="0"/>
                <a:cs typeface="Courier New" panose="02070309020205020404" pitchFamily="49" charset="0"/>
              </a:rPr>
              <a:t>[1]		#display the first text in the dataset</a:t>
            </a:r>
          </a:p>
          <a:p>
            <a:pPr marL="0" indent="0">
              <a:buNone/>
            </a:pPr>
            <a:r>
              <a:rPr lang="en-US" sz="2600" dirty="0" err="1">
                <a:latin typeface="Courier New" panose="02070309020205020404" pitchFamily="49" charset="0"/>
                <a:cs typeface="Courier New" panose="02070309020205020404" pitchFamily="49" charset="0"/>
              </a:rPr>
              <a:t>y</a:t>
            </a:r>
            <a:r>
              <a:rPr lang="en-US" sz="2600" b="0" dirty="0" err="1">
                <a:effectLst/>
                <a:latin typeface="Courier New" panose="02070309020205020404" pitchFamily="49" charset="0"/>
                <a:cs typeface="Courier New" panose="02070309020205020404" pitchFamily="49" charset="0"/>
              </a:rPr>
              <a:t>_train</a:t>
            </a:r>
            <a:r>
              <a:rPr lang="en-US" sz="2600" b="0" dirty="0">
                <a:effectLst/>
                <a:latin typeface="Courier New" panose="02070309020205020404" pitchFamily="49" charset="0"/>
                <a:cs typeface="Courier New" panose="02070309020205020404" pitchFamily="49" charset="0"/>
              </a:rPr>
              <a:t>[1]			#1.0 (Positive Sentiment)</a:t>
            </a:r>
          </a:p>
          <a:p>
            <a:pPr marL="0" indent="0">
              <a:buNone/>
            </a:pPr>
            <a:endParaRPr lang="en-US" sz="22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24</a:t>
            </a:fld>
            <a:endParaRPr lang="en-US"/>
          </a:p>
        </p:txBody>
      </p:sp>
    </p:spTree>
    <p:extLst>
      <p:ext uri="{BB962C8B-B14F-4D97-AF65-F5344CB8AC3E}">
        <p14:creationId xmlns:p14="http://schemas.microsoft.com/office/powerpoint/2010/main" val="3562316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Tokenizer</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25</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rmAutofit/>
          </a:bodyPr>
          <a:lstStyle/>
          <a:p>
            <a:pPr marL="0" indent="0">
              <a:buNone/>
            </a:pPr>
            <a:r>
              <a:rPr lang="en-US" sz="1600" b="0" dirty="0" err="1">
                <a:effectLst/>
                <a:latin typeface="Courier New" panose="02070309020205020404" pitchFamily="49" charset="0"/>
                <a:cs typeface="Courier New" panose="02070309020205020404" pitchFamily="49" charset="0"/>
              </a:rPr>
              <a:t>num_words</a:t>
            </a:r>
            <a:r>
              <a:rPr lang="en-US" sz="1600" b="0" dirty="0">
                <a:effectLst/>
                <a:latin typeface="Courier New" panose="02070309020205020404" pitchFamily="49" charset="0"/>
                <a:cs typeface="Courier New" panose="02070309020205020404" pitchFamily="49" charset="0"/>
              </a:rPr>
              <a:t> = 10000	#Use only the top 10000 most frequently occurring words</a:t>
            </a:r>
          </a:p>
          <a:p>
            <a:pPr marL="0" indent="0">
              <a:buNone/>
            </a:pPr>
            <a:r>
              <a:rPr lang="en-GB" sz="1600" b="0" dirty="0">
                <a:effectLst/>
                <a:latin typeface="Courier New" panose="02070309020205020404" pitchFamily="49" charset="0"/>
                <a:cs typeface="Courier New" panose="02070309020205020404" pitchFamily="49" charset="0"/>
              </a:rPr>
              <a:t>tokenizer = Tokenizer(</a:t>
            </a:r>
            <a:r>
              <a:rPr lang="en-GB" sz="1600" b="0" dirty="0" err="1">
                <a:effectLst/>
                <a:latin typeface="Courier New" panose="02070309020205020404" pitchFamily="49" charset="0"/>
                <a:cs typeface="Courier New" panose="02070309020205020404" pitchFamily="49" charset="0"/>
              </a:rPr>
              <a:t>num_words</a:t>
            </a:r>
            <a:r>
              <a:rPr lang="en-GB" sz="1600" b="0" dirty="0">
                <a:effectLst/>
                <a:latin typeface="Courier New" panose="02070309020205020404" pitchFamily="49" charset="0"/>
                <a:cs typeface="Courier New" panose="02070309020205020404" pitchFamily="49" charset="0"/>
              </a:rPr>
              <a:t>=</a:t>
            </a:r>
            <a:r>
              <a:rPr lang="en-GB" sz="1600" b="0" dirty="0" err="1">
                <a:effectLst/>
                <a:latin typeface="Courier New" panose="02070309020205020404" pitchFamily="49" charset="0"/>
                <a:cs typeface="Courier New" panose="02070309020205020404" pitchFamily="49" charset="0"/>
              </a:rPr>
              <a:t>num_words</a:t>
            </a:r>
            <a:r>
              <a:rPr lang="en-GB" sz="1600" b="0" dirty="0">
                <a:effectLst/>
                <a:latin typeface="Courier New" panose="02070309020205020404" pitchFamily="49" charset="0"/>
                <a:cs typeface="Courier New" panose="02070309020205020404" pitchFamily="49" charset="0"/>
              </a:rPr>
              <a:t>)</a:t>
            </a:r>
          </a:p>
          <a:p>
            <a:pPr marL="0" indent="0">
              <a:buNone/>
            </a:pPr>
            <a:r>
              <a:rPr lang="en-GB" sz="1600" dirty="0" err="1">
                <a:latin typeface="Courier New" panose="02070309020205020404" pitchFamily="49" charset="0"/>
                <a:cs typeface="Courier New" panose="02070309020205020404" pitchFamily="49" charset="0"/>
              </a:rPr>
              <a:t>tokenizer.fit_on_texts</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data_text</a:t>
            </a:r>
            <a:r>
              <a:rPr lang="en-GB" sz="1600" dirty="0">
                <a:latin typeface="Courier New" panose="02070309020205020404" pitchFamily="49" charset="0"/>
                <a:cs typeface="Courier New" panose="02070309020205020404" pitchFamily="49" charset="0"/>
              </a:rPr>
              <a:t>)</a:t>
            </a:r>
          </a:p>
          <a:p>
            <a:pPr marL="0" indent="0">
              <a:buNone/>
            </a:pPr>
            <a:endParaRPr lang="en-GB" sz="2000" dirty="0"/>
          </a:p>
          <a:p>
            <a:pPr marL="0" indent="0">
              <a:buNone/>
            </a:pPr>
            <a:r>
              <a:rPr lang="en-GB" sz="2000" dirty="0"/>
              <a:t>#</a:t>
            </a:r>
            <a:r>
              <a:rPr lang="en-GB" sz="2000" b="0" dirty="0">
                <a:effectLst/>
              </a:rPr>
              <a:t>The tokenizer can then be "fitted" to the data-set. This scans through all the text and strips it from unwanted characters such as punctuation, and also converts it to lower-case characters. The tokenizer then builds a vocabulary of all unique words along with various data-structures for accessing the data.</a:t>
            </a:r>
          </a:p>
          <a:p>
            <a:pPr marL="0" indent="0">
              <a:buNone/>
            </a:pPr>
            <a:endParaRPr lang="en-GB" sz="2000" b="0" dirty="0">
              <a:effectLst/>
            </a:endParaRPr>
          </a:p>
          <a:p>
            <a:pPr marL="0" indent="0">
              <a:buNone/>
            </a:pPr>
            <a:r>
              <a:rPr lang="en-GB" sz="2000" b="0" dirty="0">
                <a:effectLst/>
              </a:rPr>
              <a:t>#Note that we fit the tokenizer on the entire data-set so it gathers words from both the training- and test-data. This is OK as we are merely building a vocabulary and want it to be as complete as possible. The actual neural network will of course only be trained on the training-set.</a:t>
            </a:r>
          </a:p>
          <a:p>
            <a:pPr marL="0" indent="0">
              <a:buNone/>
            </a:pPr>
            <a:endParaRPr lang="en-GB" sz="2000" dirty="0"/>
          </a:p>
          <a:p>
            <a:pPr marL="0" indent="0">
              <a:buNone/>
            </a:pPr>
            <a:r>
              <a:rPr lang="en-GB" sz="1600" b="0" dirty="0">
                <a:effectLst/>
                <a:latin typeface="Courier New" panose="02070309020205020404" pitchFamily="49" charset="0"/>
                <a:cs typeface="Courier New" panose="02070309020205020404" pitchFamily="49" charset="0"/>
              </a:rPr>
              <a:t>if </a:t>
            </a:r>
            <a:r>
              <a:rPr lang="en-GB" sz="1600" b="0" dirty="0" err="1">
                <a:effectLst/>
                <a:latin typeface="Courier New" panose="02070309020205020404" pitchFamily="49" charset="0"/>
                <a:cs typeface="Courier New" panose="02070309020205020404" pitchFamily="49" charset="0"/>
              </a:rPr>
              <a:t>num_words</a:t>
            </a:r>
            <a:r>
              <a:rPr lang="en-GB" sz="1600" b="0" dirty="0">
                <a:effectLst/>
                <a:latin typeface="Courier New" panose="02070309020205020404" pitchFamily="49" charset="0"/>
                <a:cs typeface="Courier New" panose="02070309020205020404" pitchFamily="49" charset="0"/>
              </a:rPr>
              <a:t> is None:</a:t>
            </a:r>
          </a:p>
          <a:p>
            <a:pPr marL="0" indent="0">
              <a:buNone/>
            </a:pPr>
            <a:r>
              <a:rPr lang="en-GB" sz="1600" b="0" dirty="0">
                <a:effectLst/>
                <a:latin typeface="Courier New" panose="02070309020205020404" pitchFamily="49" charset="0"/>
                <a:cs typeface="Courier New" panose="02070309020205020404" pitchFamily="49" charset="0"/>
              </a:rPr>
              <a:t>    </a:t>
            </a:r>
            <a:r>
              <a:rPr lang="en-GB" sz="1600" b="0" dirty="0" err="1">
                <a:effectLst/>
                <a:latin typeface="Courier New" panose="02070309020205020404" pitchFamily="49" charset="0"/>
                <a:cs typeface="Courier New" panose="02070309020205020404" pitchFamily="49" charset="0"/>
              </a:rPr>
              <a:t>num_words</a:t>
            </a:r>
            <a:r>
              <a:rPr lang="en-GB" sz="1600" b="0" dirty="0">
                <a:effectLst/>
                <a:latin typeface="Courier New" panose="02070309020205020404" pitchFamily="49" charset="0"/>
                <a:cs typeface="Courier New" panose="02070309020205020404" pitchFamily="49" charset="0"/>
              </a:rPr>
              <a:t> = </a:t>
            </a:r>
            <a:r>
              <a:rPr lang="en-GB" sz="1600" b="0" dirty="0" err="1">
                <a:effectLst/>
                <a:latin typeface="Courier New" panose="02070309020205020404" pitchFamily="49" charset="0"/>
                <a:cs typeface="Courier New" panose="02070309020205020404" pitchFamily="49" charset="0"/>
              </a:rPr>
              <a:t>len</a:t>
            </a:r>
            <a:r>
              <a:rPr lang="en-GB" sz="1600" b="0" dirty="0">
                <a:effectLst/>
                <a:latin typeface="Courier New" panose="02070309020205020404" pitchFamily="49" charset="0"/>
                <a:cs typeface="Courier New" panose="02070309020205020404" pitchFamily="49" charset="0"/>
              </a:rPr>
              <a:t>(</a:t>
            </a:r>
            <a:r>
              <a:rPr lang="en-GB" sz="1600" b="0" dirty="0" err="1">
                <a:effectLst/>
                <a:latin typeface="Courier New" panose="02070309020205020404" pitchFamily="49" charset="0"/>
                <a:cs typeface="Courier New" panose="02070309020205020404" pitchFamily="49" charset="0"/>
              </a:rPr>
              <a:t>tokenizer.word_index</a:t>
            </a:r>
            <a:r>
              <a:rPr lang="en-GB" sz="1600" b="0" dirty="0">
                <a:effectLst/>
                <a:latin typeface="Courier New" panose="02070309020205020404" pitchFamily="49" charset="0"/>
                <a:cs typeface="Courier New" panose="02070309020205020404" pitchFamily="49" charset="0"/>
              </a:rPr>
              <a:t>)</a:t>
            </a:r>
            <a:endParaRPr lang="en-US" sz="1600" b="0" dirty="0">
              <a:effectLst/>
              <a:latin typeface="Courier New" panose="02070309020205020404" pitchFamily="49" charset="0"/>
              <a:cs typeface="Courier New" panose="02070309020205020404" pitchFamily="49" charset="0"/>
            </a:endParaRPr>
          </a:p>
          <a:p>
            <a:pPr marL="0" indent="0">
              <a:buNone/>
            </a:pPr>
            <a:endParaRPr lang="en-US" sz="20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25</a:t>
            </a:fld>
            <a:endParaRPr lang="en-US"/>
          </a:p>
        </p:txBody>
      </p:sp>
    </p:spTree>
    <p:extLst>
      <p:ext uri="{BB962C8B-B14F-4D97-AF65-F5344CB8AC3E}">
        <p14:creationId xmlns:p14="http://schemas.microsoft.com/office/powerpoint/2010/main" val="1953786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Tokenizer</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26</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Autofit/>
          </a:bodyPr>
          <a:lstStyle/>
          <a:p>
            <a:pPr marL="0" indent="0">
              <a:buNone/>
            </a:pPr>
            <a:r>
              <a:rPr lang="en-US" sz="1800" b="0" dirty="0">
                <a:effectLst/>
              </a:rPr>
              <a:t>#Inspect vocabulary of tokenizer</a:t>
            </a:r>
          </a:p>
          <a:p>
            <a:pPr marL="0" indent="0">
              <a:buNone/>
            </a:pPr>
            <a:r>
              <a:rPr lang="en-US" sz="1600" b="0" dirty="0" err="1">
                <a:effectLst/>
                <a:latin typeface="Courier New" panose="02070309020205020404" pitchFamily="49" charset="0"/>
                <a:cs typeface="Courier New" panose="02070309020205020404" pitchFamily="49" charset="0"/>
              </a:rPr>
              <a:t>tokenizer.word_index</a:t>
            </a:r>
            <a:endParaRPr lang="en-US" sz="1600" b="0" dirty="0">
              <a:effectLst/>
              <a:latin typeface="Courier New" panose="02070309020205020404" pitchFamily="49" charset="0"/>
              <a:cs typeface="Courier New" panose="02070309020205020404" pitchFamily="49" charset="0"/>
            </a:endParaRPr>
          </a:p>
          <a:p>
            <a:pPr marL="0" indent="0">
              <a:buNone/>
            </a:pPr>
            <a:r>
              <a:rPr lang="en-US" sz="1800" b="0" dirty="0">
                <a:effectLst/>
              </a:rPr>
              <a:t>#</a:t>
            </a:r>
            <a:r>
              <a:rPr lang="en-US" sz="1800" b="0" i="0" dirty="0">
                <a:effectLst/>
              </a:rPr>
              <a:t>{'the': 1, 'and': 2, 'a': 3, 'of': 4, 'to': 5, 'is': 6, '</a:t>
            </a:r>
            <a:r>
              <a:rPr lang="en-US" sz="1800" b="0" i="0" dirty="0" err="1">
                <a:effectLst/>
              </a:rPr>
              <a:t>br</a:t>
            </a:r>
            <a:r>
              <a:rPr lang="en-US" sz="1800" b="0" i="0" dirty="0">
                <a:effectLst/>
              </a:rPr>
              <a:t>': 7, 'in': 8, 'it': 9, '</a:t>
            </a:r>
            <a:r>
              <a:rPr lang="en-US" sz="1800" b="0" i="0" dirty="0" err="1">
                <a:effectLst/>
              </a:rPr>
              <a:t>i</a:t>
            </a:r>
            <a:r>
              <a:rPr lang="en-US" sz="1800" b="0" i="0" dirty="0">
                <a:effectLst/>
              </a:rPr>
              <a:t>': 10,</a:t>
            </a:r>
            <a:endParaRPr lang="en-US" sz="1800" b="0" dirty="0">
              <a:effectLst/>
            </a:endParaRPr>
          </a:p>
          <a:p>
            <a:pPr marL="0" indent="0">
              <a:buNone/>
            </a:pPr>
            <a:r>
              <a:rPr lang="en-GB" sz="1800" b="0" i="0" dirty="0">
                <a:effectLst/>
              </a:rPr>
              <a:t>'telling': 997, 'cover': 998, 'outside': 999, 'present': 1000, ...}</a:t>
            </a:r>
          </a:p>
          <a:p>
            <a:pPr marL="0" indent="0">
              <a:buNone/>
            </a:pPr>
            <a:r>
              <a:rPr lang="en-GB" sz="1800" dirty="0"/>
              <a:t>#Use tokenizer to convert all texts in training text to list of tokens</a:t>
            </a:r>
          </a:p>
          <a:p>
            <a:pPr marL="0" indent="0">
              <a:buNone/>
            </a:pPr>
            <a:r>
              <a:rPr lang="en-US" sz="1600" dirty="0" err="1">
                <a:latin typeface="Courier New" panose="02070309020205020404" pitchFamily="49" charset="0"/>
                <a:cs typeface="Courier New" panose="02070309020205020404" pitchFamily="49" charset="0"/>
              </a:rPr>
              <a:t>x_train_tokens</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tokenizer.texts_to_sequences</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x_train_text</a:t>
            </a:r>
            <a:r>
              <a:rPr lang="en-US" sz="1600" dirty="0">
                <a:latin typeface="Courier New" panose="02070309020205020404" pitchFamily="49" charset="0"/>
                <a:cs typeface="Courier New" panose="02070309020205020404" pitchFamily="49" charset="0"/>
              </a:rPr>
              <a:t>)</a:t>
            </a:r>
          </a:p>
          <a:p>
            <a:pPr marL="0" indent="0">
              <a:buNone/>
            </a:pPr>
            <a:endParaRPr lang="en-US" sz="1600" dirty="0">
              <a:latin typeface="Courier New" panose="02070309020205020404" pitchFamily="49" charset="0"/>
              <a:cs typeface="Courier New" panose="02070309020205020404" pitchFamily="49" charset="0"/>
            </a:endParaRPr>
          </a:p>
          <a:p>
            <a:pPr marL="0" indent="0">
              <a:buNone/>
            </a:pPr>
            <a:r>
              <a:rPr lang="en-US" sz="1600" dirty="0" err="1">
                <a:latin typeface="Courier New" panose="02070309020205020404" pitchFamily="49" charset="0"/>
                <a:cs typeface="Courier New" panose="02070309020205020404" pitchFamily="49" charset="0"/>
              </a:rPr>
              <a:t>x_train_text</a:t>
            </a:r>
            <a:r>
              <a:rPr lang="en-US" sz="1600" dirty="0">
                <a:latin typeface="Courier New" panose="02070309020205020404" pitchFamily="49" charset="0"/>
                <a:cs typeface="Courier New" panose="02070309020205020404" pitchFamily="49" charset="0"/>
              </a:rPr>
              <a:t>[1]</a:t>
            </a:r>
          </a:p>
          <a:p>
            <a:pPr marL="0" indent="0">
              <a:buNone/>
            </a:pPr>
            <a:r>
              <a:rPr lang="en-US" sz="1800" dirty="0"/>
              <a:t>#</a:t>
            </a:r>
            <a:r>
              <a:rPr lang="en-GB" sz="1800" dirty="0"/>
              <a:t>Return To the Lost World was filmed back-to-back with the 1992 version</a:t>
            </a:r>
          </a:p>
          <a:p>
            <a:pPr marL="0" indent="0">
              <a:buNone/>
            </a:pPr>
            <a:r>
              <a:rPr lang="en-GB" sz="1600" dirty="0" err="1">
                <a:latin typeface="Courier New" panose="02070309020205020404" pitchFamily="49" charset="0"/>
                <a:cs typeface="Courier New" panose="02070309020205020404" pitchFamily="49" charset="0"/>
              </a:rPr>
              <a:t>np.array</a:t>
            </a:r>
            <a:r>
              <a:rPr lang="en-GB" sz="1600" dirty="0">
                <a:latin typeface="Courier New" panose="02070309020205020404" pitchFamily="49" charset="0"/>
                <a:cs typeface="Courier New" panose="02070309020205020404" pitchFamily="49" charset="0"/>
              </a:rPr>
              <a:t>(</a:t>
            </a:r>
            <a:r>
              <a:rPr lang="en-GB" sz="1600" dirty="0" err="1">
                <a:latin typeface="Courier New" panose="02070309020205020404" pitchFamily="49" charset="0"/>
                <a:cs typeface="Courier New" panose="02070309020205020404" pitchFamily="49" charset="0"/>
              </a:rPr>
              <a:t>x_train_tokens</a:t>
            </a:r>
            <a:r>
              <a:rPr lang="en-GB" sz="1600" dirty="0">
                <a:latin typeface="Courier New" panose="02070309020205020404" pitchFamily="49" charset="0"/>
                <a:cs typeface="Courier New" panose="02070309020205020404" pitchFamily="49" charset="0"/>
              </a:rPr>
              <a:t>[1])</a:t>
            </a:r>
          </a:p>
          <a:p>
            <a:pPr marL="0" indent="0">
              <a:buNone/>
            </a:pPr>
            <a:r>
              <a:rPr lang="en-GB" sz="1800" dirty="0"/>
              <a:t>#array([1037,    5,    1,  432,  181,   13,  748,  141,    5,  141,   16,</a:t>
            </a:r>
          </a:p>
          <a:p>
            <a:pPr marL="0" indent="0">
              <a:buNone/>
            </a:pPr>
            <a:r>
              <a:rPr lang="en-GB" sz="1800" dirty="0"/>
              <a:t>          1, 7418,  318,    4,    1,  432,  181,    7,    7,    8,   11,</a:t>
            </a:r>
          </a:p>
          <a:p>
            <a:pPr marL="0" indent="0">
              <a:buNone/>
            </a:pPr>
            <a:r>
              <a:rPr lang="en-GB" sz="1800" dirty="0"/>
              <a:t>        751,    1,  167,  707,   83,  469,   31, 1037,    5,    1,  117,</a:t>
            </a:r>
          </a:p>
          <a:p>
            <a:pPr marL="0" indent="0">
              <a:buNone/>
            </a:pPr>
            <a:r>
              <a:rPr lang="en-GB" sz="1600" b="0" dirty="0" err="1">
                <a:effectLst/>
              </a:rPr>
              <a:t>x_test_tokens</a:t>
            </a:r>
            <a:r>
              <a:rPr lang="en-GB" sz="1600" b="0" dirty="0">
                <a:effectLst/>
              </a:rPr>
              <a:t> = </a:t>
            </a:r>
            <a:r>
              <a:rPr lang="en-GB" sz="1600" b="0" dirty="0" err="1">
                <a:effectLst/>
              </a:rPr>
              <a:t>tokenizer.texts_to_sequences</a:t>
            </a:r>
            <a:r>
              <a:rPr lang="en-GB" sz="1600" b="0" dirty="0">
                <a:effectLst/>
              </a:rPr>
              <a:t>(</a:t>
            </a:r>
            <a:r>
              <a:rPr lang="en-GB" sz="1600" b="0" dirty="0" err="1">
                <a:effectLst/>
              </a:rPr>
              <a:t>x_test_text</a:t>
            </a:r>
            <a:r>
              <a:rPr lang="en-GB" sz="1600" b="0" dirty="0">
                <a:effectLst/>
              </a:rPr>
              <a:t>)</a:t>
            </a:r>
          </a:p>
          <a:p>
            <a:pPr marL="0" indent="0">
              <a:buNone/>
            </a:pPr>
            <a:endParaRPr lang="en-US" sz="18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26</a:t>
            </a:fld>
            <a:endParaRPr lang="en-US"/>
          </a:p>
        </p:txBody>
      </p:sp>
    </p:spTree>
    <p:extLst>
      <p:ext uri="{BB962C8B-B14F-4D97-AF65-F5344CB8AC3E}">
        <p14:creationId xmlns:p14="http://schemas.microsoft.com/office/powerpoint/2010/main" val="166391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Padding and Truncation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27</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130856" cy="5039302"/>
          </a:xfrm>
        </p:spPr>
        <p:txBody>
          <a:bodyPr>
            <a:noAutofit/>
          </a:bodyPr>
          <a:lstStyle/>
          <a:p>
            <a:pPr algn="l"/>
            <a:r>
              <a:rPr lang="en-GB" sz="2400" dirty="0"/>
              <a:t>RNN</a:t>
            </a:r>
            <a:r>
              <a:rPr lang="en-GB" sz="2400" b="0" i="0" dirty="0">
                <a:effectLst/>
              </a:rPr>
              <a:t> can take sequences of arbitrary length as input, but in order to use a whole batch of data, the sequences need to have the same length. </a:t>
            </a:r>
          </a:p>
          <a:p>
            <a:pPr algn="l"/>
            <a:r>
              <a:rPr lang="en-GB" sz="2400" b="0" i="0" dirty="0">
                <a:effectLst/>
              </a:rPr>
              <a:t>Two ways of achieving this: </a:t>
            </a:r>
          </a:p>
          <a:p>
            <a:pPr marL="914400" lvl="1" indent="-457200">
              <a:buFont typeface="+mj-lt"/>
              <a:buAutoNum type="alphaUcPeriod"/>
            </a:pPr>
            <a:r>
              <a:rPr lang="en-GB" sz="2000" b="0" i="0" dirty="0">
                <a:effectLst/>
              </a:rPr>
              <a:t>Either we ensure that all sequences in the entire data-set have the same length</a:t>
            </a:r>
          </a:p>
          <a:p>
            <a:pPr marL="914400" lvl="1" indent="-457200">
              <a:buFont typeface="+mj-lt"/>
              <a:buAutoNum type="alphaUcPeriod"/>
            </a:pPr>
            <a:r>
              <a:rPr lang="en-GB" sz="2000" b="0" i="0" dirty="0">
                <a:effectLst/>
              </a:rPr>
              <a:t>We write custom data-generator that ensures that sequences have same length within each batch.</a:t>
            </a:r>
          </a:p>
          <a:p>
            <a:pPr algn="l"/>
            <a:r>
              <a:rPr lang="en-GB" sz="2400" b="0" i="0" dirty="0">
                <a:effectLst/>
              </a:rPr>
              <a:t>Solution (A) is simpler but if we use the length of the longest sequence in the data-set, then we are wasting a lot of memory. </a:t>
            </a:r>
          </a:p>
          <a:p>
            <a:pPr algn="l"/>
            <a:r>
              <a:rPr lang="en-GB" sz="2400" b="0" i="0" dirty="0">
                <a:effectLst/>
              </a:rPr>
              <a:t>So, we will use a sequence-length that covers most sequences in the data-set, and we will then truncate longer sequences and pad shorter sequences.</a:t>
            </a:r>
          </a:p>
          <a:p>
            <a:pPr algn="l"/>
            <a:r>
              <a:rPr lang="en-GB" sz="2400" b="0" i="0" dirty="0">
                <a:effectLst/>
              </a:rPr>
              <a:t>First count the number of tokens in all the sequences in the data-set.</a:t>
            </a:r>
          </a:p>
          <a:p>
            <a:pPr marL="0" indent="0">
              <a:buNone/>
            </a:pPr>
            <a:r>
              <a:rPr lang="en-US" sz="1600" b="0" dirty="0" err="1">
                <a:effectLst/>
                <a:latin typeface="Courier New" panose="02070309020205020404" pitchFamily="49" charset="0"/>
                <a:cs typeface="Courier New" panose="02070309020205020404" pitchFamily="49" charset="0"/>
              </a:rPr>
              <a:t>num_tokens</a:t>
            </a:r>
            <a:r>
              <a:rPr lang="en-US" sz="1600" b="0" dirty="0">
                <a:effectLst/>
                <a:latin typeface="Courier New" panose="02070309020205020404" pitchFamily="49" charset="0"/>
                <a:cs typeface="Courier New" panose="02070309020205020404" pitchFamily="49" charset="0"/>
              </a:rPr>
              <a:t> = [</a:t>
            </a:r>
            <a:r>
              <a:rPr lang="en-US" sz="1600" b="0" dirty="0" err="1">
                <a:effectLst/>
                <a:latin typeface="Courier New" panose="02070309020205020404" pitchFamily="49" charset="0"/>
                <a:cs typeface="Courier New" panose="02070309020205020404" pitchFamily="49" charset="0"/>
              </a:rPr>
              <a:t>len</a:t>
            </a:r>
            <a:r>
              <a:rPr lang="en-US" sz="1600" b="0" dirty="0">
                <a:effectLst/>
                <a:latin typeface="Courier New" panose="02070309020205020404" pitchFamily="49" charset="0"/>
                <a:cs typeface="Courier New" panose="02070309020205020404" pitchFamily="49" charset="0"/>
              </a:rPr>
              <a:t>(tokens) for tokens in </a:t>
            </a:r>
            <a:r>
              <a:rPr lang="en-US" sz="1600" b="0" dirty="0" err="1">
                <a:effectLst/>
                <a:latin typeface="Courier New" panose="02070309020205020404" pitchFamily="49" charset="0"/>
                <a:cs typeface="Courier New" panose="02070309020205020404" pitchFamily="49" charset="0"/>
              </a:rPr>
              <a:t>x_train_tokens</a:t>
            </a:r>
            <a:r>
              <a:rPr lang="en-US" sz="1600" b="0" dirty="0">
                <a:effectLst/>
                <a:latin typeface="Courier New" panose="02070309020205020404" pitchFamily="49" charset="0"/>
                <a:cs typeface="Courier New" panose="02070309020205020404" pitchFamily="49" charset="0"/>
              </a:rPr>
              <a:t> + </a:t>
            </a:r>
            <a:r>
              <a:rPr lang="en-US" sz="1600" b="0" dirty="0" err="1">
                <a:effectLst/>
                <a:latin typeface="Courier New" panose="02070309020205020404" pitchFamily="49" charset="0"/>
                <a:cs typeface="Courier New" panose="02070309020205020404" pitchFamily="49" charset="0"/>
              </a:rPr>
              <a:t>x_test_tokens</a:t>
            </a:r>
            <a:r>
              <a:rPr lang="en-US" sz="1600" b="0" dirty="0">
                <a:effectLst/>
                <a:latin typeface="Courier New" panose="02070309020205020404" pitchFamily="49" charset="0"/>
                <a:cs typeface="Courier New" panose="02070309020205020404" pitchFamily="49" charset="0"/>
              </a:rPr>
              <a:t>]</a:t>
            </a:r>
          </a:p>
          <a:p>
            <a:pPr marL="0" indent="0">
              <a:buNone/>
            </a:pPr>
            <a:r>
              <a:rPr lang="en-US" sz="1600" b="0" dirty="0" err="1">
                <a:effectLst/>
                <a:latin typeface="Courier New" panose="02070309020205020404" pitchFamily="49" charset="0"/>
                <a:cs typeface="Courier New" panose="02070309020205020404" pitchFamily="49" charset="0"/>
              </a:rPr>
              <a:t>num_tokens</a:t>
            </a:r>
            <a:r>
              <a:rPr lang="en-US" sz="1600" b="0" dirty="0">
                <a:effectLst/>
                <a:latin typeface="Courier New" panose="02070309020205020404" pitchFamily="49" charset="0"/>
                <a:cs typeface="Courier New" panose="02070309020205020404" pitchFamily="49" charset="0"/>
              </a:rPr>
              <a:t> = </a:t>
            </a:r>
            <a:r>
              <a:rPr lang="en-US" sz="1600" b="0" dirty="0" err="1">
                <a:effectLst/>
                <a:latin typeface="Courier New" panose="02070309020205020404" pitchFamily="49" charset="0"/>
                <a:cs typeface="Courier New" panose="02070309020205020404" pitchFamily="49" charset="0"/>
              </a:rPr>
              <a:t>np.array</a:t>
            </a:r>
            <a:r>
              <a:rPr lang="en-US" sz="1600" b="0" dirty="0">
                <a:effectLst/>
                <a:latin typeface="Courier New" panose="02070309020205020404" pitchFamily="49" charset="0"/>
                <a:cs typeface="Courier New" panose="02070309020205020404" pitchFamily="49" charset="0"/>
              </a:rPr>
              <a:t>(</a:t>
            </a:r>
            <a:r>
              <a:rPr lang="en-US" sz="1600" b="0" dirty="0" err="1">
                <a:effectLst/>
                <a:latin typeface="Courier New" panose="02070309020205020404" pitchFamily="49" charset="0"/>
                <a:cs typeface="Courier New" panose="02070309020205020404" pitchFamily="49" charset="0"/>
              </a:rPr>
              <a:t>num_tokens</a:t>
            </a:r>
            <a:r>
              <a:rPr lang="en-US" sz="1600" b="0" dirty="0">
                <a:effectLst/>
                <a:latin typeface="Courier New" panose="02070309020205020404" pitchFamily="49" charset="0"/>
                <a:cs typeface="Courier New" panose="02070309020205020404" pitchFamily="49" charset="0"/>
              </a:rPr>
              <a:t>)</a:t>
            </a:r>
          </a:p>
          <a:p>
            <a:pPr algn="l"/>
            <a:endParaRPr lang="en-GB" sz="2400" b="0" i="0" dirty="0">
              <a:effectLst/>
            </a:endParaRPr>
          </a:p>
          <a:p>
            <a:pPr marL="0" indent="0">
              <a:buNone/>
            </a:pPr>
            <a:endParaRPr lang="en-US" sz="18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27</a:t>
            </a:fld>
            <a:endParaRPr lang="en-US"/>
          </a:p>
        </p:txBody>
      </p:sp>
    </p:spTree>
    <p:extLst>
      <p:ext uri="{BB962C8B-B14F-4D97-AF65-F5344CB8AC3E}">
        <p14:creationId xmlns:p14="http://schemas.microsoft.com/office/powerpoint/2010/main" val="3793860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Padding and Truncation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28</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39" y="909349"/>
            <a:ext cx="11363087" cy="5039302"/>
          </a:xfrm>
        </p:spPr>
        <p:txBody>
          <a:bodyPr>
            <a:noAutofit/>
          </a:bodyPr>
          <a:lstStyle/>
          <a:p>
            <a:pPr algn="l"/>
            <a:r>
              <a:rPr lang="en-GB" sz="2400" dirty="0"/>
              <a:t>Calculate average and maximum number of tokens in dataset</a:t>
            </a:r>
            <a:endParaRPr lang="en-GB" sz="2400" b="0" i="0" dirty="0">
              <a:effectLst/>
            </a:endParaRPr>
          </a:p>
          <a:p>
            <a:r>
              <a:rPr lang="en-US" sz="1600" b="0" dirty="0" err="1">
                <a:effectLst/>
                <a:latin typeface="Courier New" panose="02070309020205020404" pitchFamily="49" charset="0"/>
              </a:rPr>
              <a:t>np.mean</a:t>
            </a:r>
            <a:r>
              <a:rPr lang="en-US" sz="1600" b="0" dirty="0">
                <a:effectLst/>
                <a:latin typeface="Courier New" panose="02070309020205020404" pitchFamily="49" charset="0"/>
              </a:rPr>
              <a:t>(</a:t>
            </a:r>
            <a:r>
              <a:rPr lang="en-US" sz="1600" b="0" dirty="0" err="1">
                <a:effectLst/>
                <a:latin typeface="Courier New" panose="02070309020205020404" pitchFamily="49" charset="0"/>
              </a:rPr>
              <a:t>num_tokens</a:t>
            </a:r>
            <a:r>
              <a:rPr lang="en-US" sz="1600" b="0" dirty="0">
                <a:effectLst/>
                <a:latin typeface="Courier New" panose="02070309020205020404" pitchFamily="49" charset="0"/>
              </a:rPr>
              <a:t>)</a:t>
            </a:r>
          </a:p>
          <a:p>
            <a:r>
              <a:rPr lang="en-US" sz="1600" b="0" dirty="0" err="1">
                <a:effectLst/>
                <a:latin typeface="Courier New" panose="02070309020205020404" pitchFamily="49" charset="0"/>
              </a:rPr>
              <a:t>np.max</a:t>
            </a:r>
            <a:r>
              <a:rPr lang="en-US" sz="1600" b="0" dirty="0">
                <a:effectLst/>
                <a:latin typeface="Courier New" panose="02070309020205020404" pitchFamily="49" charset="0"/>
              </a:rPr>
              <a:t>(</a:t>
            </a:r>
            <a:r>
              <a:rPr lang="en-US" sz="1600" b="0" dirty="0" err="1">
                <a:effectLst/>
                <a:latin typeface="Courier New" panose="02070309020205020404" pitchFamily="49" charset="0"/>
              </a:rPr>
              <a:t>num_tokens</a:t>
            </a:r>
            <a:r>
              <a:rPr lang="en-US" sz="1600" b="0" dirty="0">
                <a:effectLst/>
                <a:latin typeface="Courier New" panose="02070309020205020404" pitchFamily="49" charset="0"/>
              </a:rPr>
              <a:t>)</a:t>
            </a:r>
          </a:p>
          <a:p>
            <a:pPr algn="l"/>
            <a:r>
              <a:rPr lang="en-GB" sz="2400" b="0" i="0" dirty="0">
                <a:effectLst/>
              </a:rPr>
              <a:t>Set maximum number of tokens to average plus 2 standard deviation covering 95% data</a:t>
            </a:r>
          </a:p>
          <a:p>
            <a:r>
              <a:rPr lang="en-US" sz="1600" b="0" dirty="0" err="1">
                <a:effectLst/>
                <a:latin typeface="Courier New" panose="02070309020205020404" pitchFamily="49" charset="0"/>
                <a:cs typeface="Courier New" panose="02070309020205020404" pitchFamily="49" charset="0"/>
              </a:rPr>
              <a:t>max_tokens</a:t>
            </a:r>
            <a:r>
              <a:rPr lang="en-US" sz="1600" b="0" dirty="0">
                <a:effectLst/>
                <a:latin typeface="Courier New" panose="02070309020205020404" pitchFamily="49" charset="0"/>
                <a:cs typeface="Courier New" panose="02070309020205020404" pitchFamily="49" charset="0"/>
              </a:rPr>
              <a:t> = </a:t>
            </a:r>
            <a:r>
              <a:rPr lang="en-US" sz="1600" b="0" dirty="0" err="1">
                <a:effectLst/>
                <a:latin typeface="Courier New" panose="02070309020205020404" pitchFamily="49" charset="0"/>
                <a:cs typeface="Courier New" panose="02070309020205020404" pitchFamily="49" charset="0"/>
              </a:rPr>
              <a:t>np.mean</a:t>
            </a:r>
            <a:r>
              <a:rPr lang="en-US" sz="1600" b="0" dirty="0">
                <a:effectLst/>
                <a:latin typeface="Courier New" panose="02070309020205020404" pitchFamily="49" charset="0"/>
                <a:cs typeface="Courier New" panose="02070309020205020404" pitchFamily="49" charset="0"/>
              </a:rPr>
              <a:t>(</a:t>
            </a:r>
            <a:r>
              <a:rPr lang="en-US" sz="1600" b="0" dirty="0" err="1">
                <a:effectLst/>
                <a:latin typeface="Courier New" panose="02070309020205020404" pitchFamily="49" charset="0"/>
                <a:cs typeface="Courier New" panose="02070309020205020404" pitchFamily="49" charset="0"/>
              </a:rPr>
              <a:t>num_tokens</a:t>
            </a:r>
            <a:r>
              <a:rPr lang="en-US" sz="1600" b="0" dirty="0">
                <a:effectLst/>
                <a:latin typeface="Courier New" panose="02070309020205020404" pitchFamily="49" charset="0"/>
                <a:cs typeface="Courier New" panose="02070309020205020404" pitchFamily="49" charset="0"/>
              </a:rPr>
              <a:t>) + 2 * </a:t>
            </a:r>
            <a:r>
              <a:rPr lang="en-US" sz="1600" b="0" dirty="0" err="1">
                <a:effectLst/>
                <a:latin typeface="Courier New" panose="02070309020205020404" pitchFamily="49" charset="0"/>
                <a:cs typeface="Courier New" panose="02070309020205020404" pitchFamily="49" charset="0"/>
              </a:rPr>
              <a:t>np.std</a:t>
            </a:r>
            <a:r>
              <a:rPr lang="en-US" sz="1600" b="0" dirty="0">
                <a:effectLst/>
                <a:latin typeface="Courier New" panose="02070309020205020404" pitchFamily="49" charset="0"/>
                <a:cs typeface="Courier New" panose="02070309020205020404" pitchFamily="49" charset="0"/>
              </a:rPr>
              <a:t>(</a:t>
            </a:r>
            <a:r>
              <a:rPr lang="en-US" sz="1600" b="0" dirty="0" err="1">
                <a:effectLst/>
                <a:latin typeface="Courier New" panose="02070309020205020404" pitchFamily="49" charset="0"/>
                <a:cs typeface="Courier New" panose="02070309020205020404" pitchFamily="49" charset="0"/>
              </a:rPr>
              <a:t>num_tokens</a:t>
            </a:r>
            <a:r>
              <a:rPr lang="en-US" sz="1600" b="0" dirty="0">
                <a:effectLst/>
                <a:latin typeface="Courier New" panose="02070309020205020404" pitchFamily="49" charset="0"/>
                <a:cs typeface="Courier New" panose="02070309020205020404" pitchFamily="49" charset="0"/>
              </a:rPr>
              <a:t>)</a:t>
            </a:r>
          </a:p>
          <a:p>
            <a:r>
              <a:rPr lang="en-US" sz="1600" b="0" dirty="0" err="1">
                <a:effectLst/>
                <a:latin typeface="Courier New" panose="02070309020205020404" pitchFamily="49" charset="0"/>
                <a:cs typeface="Courier New" panose="02070309020205020404" pitchFamily="49" charset="0"/>
              </a:rPr>
              <a:t>max_tokens</a:t>
            </a:r>
            <a:r>
              <a:rPr lang="en-US" sz="1600" b="0" dirty="0">
                <a:effectLst/>
                <a:latin typeface="Courier New" panose="02070309020205020404" pitchFamily="49" charset="0"/>
                <a:cs typeface="Courier New" panose="02070309020205020404" pitchFamily="49" charset="0"/>
              </a:rPr>
              <a:t> = int(</a:t>
            </a:r>
            <a:r>
              <a:rPr lang="en-US" sz="1600" b="0" dirty="0" err="1">
                <a:effectLst/>
                <a:latin typeface="Courier New" panose="02070309020205020404" pitchFamily="49" charset="0"/>
                <a:cs typeface="Courier New" panose="02070309020205020404" pitchFamily="49" charset="0"/>
              </a:rPr>
              <a:t>max_tokens</a:t>
            </a:r>
            <a:r>
              <a:rPr lang="en-US" sz="1600" b="0" dirty="0">
                <a:effectLst/>
                <a:latin typeface="Courier New" panose="02070309020205020404" pitchFamily="49" charset="0"/>
                <a:cs typeface="Courier New" panose="02070309020205020404" pitchFamily="49" charset="0"/>
              </a:rPr>
              <a:t>)</a:t>
            </a:r>
          </a:p>
          <a:p>
            <a:r>
              <a:rPr lang="en-US" sz="1600" b="0" dirty="0" err="1">
                <a:effectLst/>
                <a:latin typeface="Courier New" panose="02070309020205020404" pitchFamily="49" charset="0"/>
                <a:cs typeface="Courier New" panose="02070309020205020404" pitchFamily="49" charset="0"/>
              </a:rPr>
              <a:t>max_tokens</a:t>
            </a:r>
            <a:endParaRPr lang="en-US" sz="1600" b="0" dirty="0">
              <a:effectLst/>
              <a:latin typeface="Courier New" panose="02070309020205020404" pitchFamily="49" charset="0"/>
              <a:cs typeface="Courier New" panose="02070309020205020404" pitchFamily="49" charset="0"/>
            </a:endParaRPr>
          </a:p>
          <a:p>
            <a:r>
              <a:rPr lang="nb-NO" sz="1600" b="0" dirty="0">
                <a:effectLst/>
                <a:latin typeface="Courier New" panose="02070309020205020404" pitchFamily="49" charset="0"/>
                <a:cs typeface="Courier New" panose="02070309020205020404" pitchFamily="49" charset="0"/>
              </a:rPr>
              <a:t>np.sum(num_tokens &lt; max_tokens) / len(num_tokens)	#0.94528</a:t>
            </a:r>
          </a:p>
          <a:p>
            <a:pPr marL="0" indent="0">
              <a:buNone/>
            </a:pPr>
            <a:endParaRPr lang="en-US" sz="18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28</a:t>
            </a:fld>
            <a:endParaRPr lang="en-US"/>
          </a:p>
        </p:txBody>
      </p:sp>
    </p:spTree>
    <p:extLst>
      <p:ext uri="{BB962C8B-B14F-4D97-AF65-F5344CB8AC3E}">
        <p14:creationId xmlns:p14="http://schemas.microsoft.com/office/powerpoint/2010/main" val="774412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Padding and Truncation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29</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437440" cy="5039302"/>
          </a:xfrm>
        </p:spPr>
        <p:txBody>
          <a:bodyPr>
            <a:noAutofit/>
          </a:bodyPr>
          <a:lstStyle/>
          <a:p>
            <a:pPr algn="l"/>
            <a:r>
              <a:rPr lang="en-GB" sz="2200" b="0" i="0" dirty="0">
                <a:effectLst/>
              </a:rPr>
              <a:t>Determine if padding or truncating 'pre' or 'post’ is required. </a:t>
            </a:r>
          </a:p>
          <a:p>
            <a:pPr algn="l"/>
            <a:r>
              <a:rPr lang="en-GB" sz="2200" b="0" i="0" dirty="0">
                <a:effectLst/>
              </a:rPr>
              <a:t>If a sequence is truncated, it means that a part of the sequence is simply thrown away. </a:t>
            </a:r>
          </a:p>
          <a:p>
            <a:pPr algn="l"/>
            <a:r>
              <a:rPr lang="en-GB" sz="2200" b="0" i="0" dirty="0">
                <a:effectLst/>
              </a:rPr>
              <a:t>If a sequence is padded, it means that zeros are added to the sequence.</a:t>
            </a:r>
          </a:p>
          <a:p>
            <a:pPr marL="0" indent="0">
              <a:buNone/>
            </a:pPr>
            <a:r>
              <a:rPr lang="en-US" sz="1600" b="0" dirty="0">
                <a:effectLst/>
                <a:latin typeface="Courier New" panose="02070309020205020404" pitchFamily="49" charset="0"/>
              </a:rPr>
              <a:t>pad = 'pre'</a:t>
            </a:r>
          </a:p>
          <a:p>
            <a:pPr marL="0" indent="0">
              <a:buNone/>
            </a:pPr>
            <a:r>
              <a:rPr lang="en-GB" sz="1600" b="0" dirty="0" err="1">
                <a:effectLst/>
                <a:latin typeface="Courier New" panose="02070309020205020404" pitchFamily="49" charset="0"/>
              </a:rPr>
              <a:t>x_train_pad</a:t>
            </a:r>
            <a:r>
              <a:rPr lang="en-GB" sz="1600" b="0" dirty="0">
                <a:effectLst/>
                <a:latin typeface="Courier New" panose="02070309020205020404" pitchFamily="49" charset="0"/>
              </a:rPr>
              <a:t> = </a:t>
            </a:r>
            <a:r>
              <a:rPr lang="en-GB" sz="1600" b="0" dirty="0" err="1">
                <a:effectLst/>
                <a:latin typeface="Courier New" panose="02070309020205020404" pitchFamily="49" charset="0"/>
              </a:rPr>
              <a:t>pad_sequences</a:t>
            </a:r>
            <a:r>
              <a:rPr lang="en-GB" sz="1600" b="0" dirty="0">
                <a:effectLst/>
                <a:latin typeface="Courier New" panose="02070309020205020404" pitchFamily="49" charset="0"/>
              </a:rPr>
              <a:t>(</a:t>
            </a:r>
            <a:r>
              <a:rPr lang="en-GB" sz="1600" b="0" dirty="0" err="1">
                <a:effectLst/>
                <a:latin typeface="Courier New" panose="02070309020205020404" pitchFamily="49" charset="0"/>
              </a:rPr>
              <a:t>x_train_tokens</a:t>
            </a:r>
            <a:r>
              <a:rPr lang="en-GB" sz="1600" b="0" dirty="0">
                <a:effectLst/>
                <a:latin typeface="Courier New" panose="02070309020205020404" pitchFamily="49" charset="0"/>
              </a:rPr>
              <a:t>, </a:t>
            </a:r>
            <a:r>
              <a:rPr lang="en-GB" sz="1600" b="0" dirty="0" err="1">
                <a:effectLst/>
                <a:latin typeface="Courier New" panose="02070309020205020404" pitchFamily="49" charset="0"/>
              </a:rPr>
              <a:t>maxlen</a:t>
            </a:r>
            <a:r>
              <a:rPr lang="en-GB" sz="1600" b="0" dirty="0">
                <a:effectLst/>
                <a:latin typeface="Courier New" panose="02070309020205020404" pitchFamily="49" charset="0"/>
              </a:rPr>
              <a:t>=</a:t>
            </a:r>
            <a:r>
              <a:rPr lang="en-GB" sz="1600" b="0" dirty="0" err="1">
                <a:effectLst/>
                <a:latin typeface="Courier New" panose="02070309020205020404" pitchFamily="49" charset="0"/>
              </a:rPr>
              <a:t>max_tokens,padding</a:t>
            </a:r>
            <a:r>
              <a:rPr lang="en-GB" sz="1600" b="0" dirty="0">
                <a:effectLst/>
                <a:latin typeface="Courier New" panose="02070309020205020404" pitchFamily="49" charset="0"/>
              </a:rPr>
              <a:t>=pad, truncating=pad)</a:t>
            </a:r>
          </a:p>
          <a:p>
            <a:pPr marL="0" indent="0">
              <a:buNone/>
            </a:pPr>
            <a:r>
              <a:rPr lang="en-US" sz="1600" b="0" dirty="0" err="1">
                <a:effectLst/>
                <a:latin typeface="Courier New" panose="02070309020205020404" pitchFamily="49" charset="0"/>
              </a:rPr>
              <a:t>x_test_pad</a:t>
            </a:r>
            <a:r>
              <a:rPr lang="en-US" sz="1600" b="0" dirty="0">
                <a:effectLst/>
                <a:latin typeface="Courier New" panose="02070309020205020404" pitchFamily="49" charset="0"/>
              </a:rPr>
              <a:t> = </a:t>
            </a:r>
            <a:r>
              <a:rPr lang="en-US" sz="1600" b="0" dirty="0" err="1">
                <a:effectLst/>
                <a:latin typeface="Courier New" panose="02070309020205020404" pitchFamily="49" charset="0"/>
              </a:rPr>
              <a:t>pad_sequences</a:t>
            </a:r>
            <a:r>
              <a:rPr lang="en-US" sz="1600" b="0" dirty="0">
                <a:effectLst/>
                <a:latin typeface="Courier New" panose="02070309020205020404" pitchFamily="49" charset="0"/>
              </a:rPr>
              <a:t>(</a:t>
            </a:r>
            <a:r>
              <a:rPr lang="en-US" sz="1600" b="0" dirty="0" err="1">
                <a:effectLst/>
                <a:latin typeface="Courier New" panose="02070309020205020404" pitchFamily="49" charset="0"/>
              </a:rPr>
              <a:t>x_test_tokens</a:t>
            </a:r>
            <a:r>
              <a:rPr lang="en-US" sz="1600" b="0" dirty="0">
                <a:effectLst/>
                <a:latin typeface="Courier New" panose="02070309020205020404" pitchFamily="49" charset="0"/>
              </a:rPr>
              <a:t>, </a:t>
            </a:r>
            <a:r>
              <a:rPr lang="en-US" sz="1600" b="0" dirty="0" err="1">
                <a:effectLst/>
                <a:latin typeface="Courier New" panose="02070309020205020404" pitchFamily="49" charset="0"/>
              </a:rPr>
              <a:t>maxlen</a:t>
            </a:r>
            <a:r>
              <a:rPr lang="en-US" sz="1600" b="0" dirty="0">
                <a:effectLst/>
                <a:latin typeface="Courier New" panose="02070309020205020404" pitchFamily="49" charset="0"/>
              </a:rPr>
              <a:t>=</a:t>
            </a:r>
            <a:r>
              <a:rPr lang="en-US" sz="1600" b="0" dirty="0" err="1">
                <a:effectLst/>
                <a:latin typeface="Courier New" panose="02070309020205020404" pitchFamily="49" charset="0"/>
              </a:rPr>
              <a:t>max_tokens,padding</a:t>
            </a:r>
            <a:r>
              <a:rPr lang="en-US" sz="1600" b="0" dirty="0">
                <a:effectLst/>
                <a:latin typeface="Courier New" panose="02070309020205020404" pitchFamily="49" charset="0"/>
              </a:rPr>
              <a:t>=pad, truncating=pad)</a:t>
            </a:r>
          </a:p>
          <a:p>
            <a:pPr marL="0" indent="0">
              <a:buNone/>
            </a:pPr>
            <a:r>
              <a:rPr lang="en-US" sz="1600" b="0" dirty="0" err="1">
                <a:effectLst/>
                <a:latin typeface="Courier New" panose="02070309020205020404" pitchFamily="49" charset="0"/>
              </a:rPr>
              <a:t>x_train_pad.shape</a:t>
            </a:r>
            <a:r>
              <a:rPr lang="en-US" sz="1600" b="0" dirty="0">
                <a:effectLst/>
                <a:latin typeface="Courier New" panose="02070309020205020404" pitchFamily="49" charset="0"/>
              </a:rPr>
              <a:t>	#</a:t>
            </a:r>
            <a:r>
              <a:rPr lang="en-US" sz="1600" b="0" i="0" dirty="0">
                <a:effectLst/>
                <a:latin typeface="Courier New" panose="02070309020205020404" pitchFamily="49" charset="0"/>
              </a:rPr>
              <a:t>(25000, 544)</a:t>
            </a:r>
          </a:p>
          <a:p>
            <a:pPr marL="0" indent="0">
              <a:buNone/>
            </a:pPr>
            <a:r>
              <a:rPr lang="en-US" sz="1600" b="0" dirty="0" err="1">
                <a:effectLst/>
                <a:latin typeface="Courier New" panose="02070309020205020404" pitchFamily="49" charset="0"/>
              </a:rPr>
              <a:t>x_test_pad.shape</a:t>
            </a:r>
            <a:r>
              <a:rPr lang="en-US" sz="1600" b="0" dirty="0">
                <a:effectLst/>
                <a:latin typeface="Courier New" panose="02070309020205020404" pitchFamily="49" charset="0"/>
              </a:rPr>
              <a:t>	#</a:t>
            </a:r>
            <a:r>
              <a:rPr lang="en-US" sz="1600" b="0" i="0" dirty="0">
                <a:effectLst/>
                <a:latin typeface="Courier New" panose="02070309020205020404" pitchFamily="49" charset="0"/>
              </a:rPr>
              <a:t>(25000, 544)</a:t>
            </a:r>
            <a:endParaRPr lang="en-US" sz="1600" b="0" dirty="0">
              <a:effectLst/>
              <a:latin typeface="Courier New" panose="02070309020205020404" pitchFamily="49" charset="0"/>
            </a:endParaRPr>
          </a:p>
          <a:p>
            <a:pPr marL="0" indent="0">
              <a:buNone/>
            </a:pPr>
            <a:r>
              <a:rPr lang="en-US" sz="1800" b="0" dirty="0">
                <a:effectLst/>
              </a:rPr>
              <a:t>Data given below</a:t>
            </a:r>
          </a:p>
          <a:p>
            <a:pPr marL="0" indent="0">
              <a:buNone/>
            </a:pPr>
            <a:r>
              <a:rPr lang="en-GB" sz="1800" b="0" i="0" dirty="0">
                <a:effectLst/>
              </a:rPr>
              <a:t>array([1037, 5, 1, 432, 181, 13, 748, 141, 5, 141, 16, 1, 7418, 318, 4, 1, 432, 181, 7, 7, 8, 11, 751, 1, 167, 707, 83, 469, 31, 1037, 5, 1, 117, 3, 547, 45, 654,</a:t>
            </a:r>
          </a:p>
          <a:p>
            <a:pPr marL="0" indent="0">
              <a:buNone/>
            </a:pPr>
            <a:r>
              <a:rPr lang="en-GB" sz="1800" dirty="0"/>
              <a:t>After Padding</a:t>
            </a:r>
          </a:p>
          <a:p>
            <a:pPr marL="0" indent="0">
              <a:buNone/>
            </a:pPr>
            <a:r>
              <a:rPr lang="en-GB" sz="1800" b="0" i="0" dirty="0">
                <a:effectLst/>
              </a:rPr>
              <a:t>array([ 0, 0, 0, 0, 0, 0, 0, 0, 0, 0, 0, 0, 0, 0, 0, 0, 0, 0, 0, 0, 0, 0, 0, 0, 0, 0, 0, 0, 0, 0, 0, 0, 0,</a:t>
            </a:r>
            <a:r>
              <a:rPr lang="en-US" sz="1800" b="0" i="0" dirty="0">
                <a:effectLst/>
              </a:rPr>
              <a:t> 1037, 5, 1, 432, 181, 13, 748, 141, 5, 141, 16, 1, 7418, 318, 4, 1, 432, 181, 7, 7, 8, 11, 751, 1, 167, 707, 83, 469, 31, 1037, 5, 1, 117, 3, 547, 45, 654,</a:t>
            </a:r>
            <a:endParaRPr lang="en-US" sz="1800" dirty="0"/>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29</a:t>
            </a:fld>
            <a:endParaRPr lang="en-US"/>
          </a:p>
        </p:txBody>
      </p:sp>
    </p:spTree>
    <p:extLst>
      <p:ext uri="{BB962C8B-B14F-4D97-AF65-F5344CB8AC3E}">
        <p14:creationId xmlns:p14="http://schemas.microsoft.com/office/powerpoint/2010/main" val="4260507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Inverse Tokenizer</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30</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437440" cy="5039302"/>
          </a:xfrm>
        </p:spPr>
        <p:txBody>
          <a:bodyPr>
            <a:noAutofit/>
          </a:bodyPr>
          <a:lstStyle/>
          <a:p>
            <a:pPr algn="l"/>
            <a:r>
              <a:rPr lang="en-GB" sz="2200" b="0" i="0" dirty="0">
                <a:effectLst/>
              </a:rPr>
              <a:t>Function for converting tokens back to string.</a:t>
            </a:r>
          </a:p>
          <a:p>
            <a:pPr marL="0" indent="0">
              <a:buNone/>
            </a:pPr>
            <a:r>
              <a:rPr lang="en-GB" sz="1600" b="0" dirty="0">
                <a:effectLst/>
                <a:latin typeface="Courier New" panose="02070309020205020404" pitchFamily="49" charset="0"/>
              </a:rPr>
              <a:t>def </a:t>
            </a:r>
            <a:r>
              <a:rPr lang="en-GB" sz="1600" b="0" dirty="0" err="1">
                <a:effectLst/>
                <a:latin typeface="Courier New" panose="02070309020205020404" pitchFamily="49" charset="0"/>
              </a:rPr>
              <a:t>tokens_to_string</a:t>
            </a:r>
            <a:r>
              <a:rPr lang="en-GB" sz="1600" b="0" dirty="0">
                <a:effectLst/>
                <a:latin typeface="Courier New" panose="02070309020205020404" pitchFamily="49" charset="0"/>
              </a:rPr>
              <a:t>(tokens):</a:t>
            </a:r>
          </a:p>
          <a:p>
            <a:pPr marL="0" indent="0">
              <a:buNone/>
            </a:pPr>
            <a:r>
              <a:rPr lang="en-GB" sz="1600" b="0" dirty="0">
                <a:effectLst/>
                <a:latin typeface="Courier New" panose="02070309020205020404" pitchFamily="49" charset="0"/>
              </a:rPr>
              <a:t>    words = [</a:t>
            </a:r>
            <a:r>
              <a:rPr lang="en-GB" sz="1600" b="0" dirty="0" err="1">
                <a:effectLst/>
                <a:latin typeface="Courier New" panose="02070309020205020404" pitchFamily="49" charset="0"/>
              </a:rPr>
              <a:t>inverse_map</a:t>
            </a:r>
            <a:r>
              <a:rPr lang="en-GB" sz="1600" b="0" dirty="0">
                <a:effectLst/>
                <a:latin typeface="Courier New" panose="02070309020205020404" pitchFamily="49" charset="0"/>
              </a:rPr>
              <a:t>[token] for token in tokens if token != 0]#Map from tokens to words.</a:t>
            </a:r>
          </a:p>
          <a:p>
            <a:pPr marL="0" indent="0">
              <a:buNone/>
            </a:pPr>
            <a:r>
              <a:rPr lang="en-GB" sz="1600" b="0" dirty="0">
                <a:effectLst/>
                <a:latin typeface="Courier New" panose="02070309020205020404" pitchFamily="49" charset="0"/>
              </a:rPr>
              <a:t>    text = " ".join(words)	    # Concatenate all words.</a:t>
            </a:r>
          </a:p>
          <a:p>
            <a:pPr marL="0" indent="0">
              <a:buNone/>
            </a:pPr>
            <a:r>
              <a:rPr lang="en-GB" sz="1600" b="0" dirty="0">
                <a:effectLst/>
                <a:latin typeface="Courier New" panose="02070309020205020404" pitchFamily="49" charset="0"/>
              </a:rPr>
              <a:t>    return text</a:t>
            </a:r>
          </a:p>
          <a:p>
            <a:r>
              <a:rPr lang="en-GB" sz="2200" dirty="0"/>
              <a:t>Print and compare original text and text generated by inverse tokenization</a:t>
            </a:r>
          </a:p>
          <a:p>
            <a:pPr marL="0" indent="0">
              <a:buNone/>
            </a:pPr>
            <a:r>
              <a:rPr lang="en-US" sz="1600" b="0" dirty="0" err="1">
                <a:effectLst/>
                <a:latin typeface="Courier New" panose="02070309020205020404" pitchFamily="49" charset="0"/>
              </a:rPr>
              <a:t>x_train_text</a:t>
            </a:r>
            <a:r>
              <a:rPr lang="en-US" sz="1600" b="0" dirty="0">
                <a:effectLst/>
                <a:latin typeface="Courier New" panose="02070309020205020404" pitchFamily="49" charset="0"/>
              </a:rPr>
              <a:t>[1]</a:t>
            </a:r>
          </a:p>
          <a:p>
            <a:r>
              <a:rPr lang="en-GB" sz="2200" b="0" i="0" dirty="0">
                <a:effectLst/>
              </a:rPr>
              <a:t>'Return To the Lost World was filmed back-to-back with the 1992 version</a:t>
            </a:r>
            <a:endParaRPr lang="en-US" sz="2200" b="0" dirty="0">
              <a:effectLst/>
            </a:endParaRPr>
          </a:p>
          <a:p>
            <a:pPr marL="0" indent="0">
              <a:buNone/>
            </a:pPr>
            <a:r>
              <a:rPr lang="en-US" sz="1600" b="0" dirty="0" err="1">
                <a:effectLst/>
                <a:latin typeface="Courier New" panose="02070309020205020404" pitchFamily="49" charset="0"/>
              </a:rPr>
              <a:t>tokens_to_string</a:t>
            </a:r>
            <a:r>
              <a:rPr lang="en-US" sz="1600" b="0" dirty="0">
                <a:effectLst/>
                <a:latin typeface="Courier New" panose="02070309020205020404" pitchFamily="49" charset="0"/>
              </a:rPr>
              <a:t>(</a:t>
            </a:r>
            <a:r>
              <a:rPr lang="en-US" sz="1600" b="0" dirty="0" err="1">
                <a:effectLst/>
                <a:latin typeface="Courier New" panose="02070309020205020404" pitchFamily="49" charset="0"/>
              </a:rPr>
              <a:t>x_train_tokens</a:t>
            </a:r>
            <a:r>
              <a:rPr lang="en-US" sz="1600" b="0" dirty="0">
                <a:effectLst/>
                <a:latin typeface="Courier New" panose="02070309020205020404" pitchFamily="49" charset="0"/>
              </a:rPr>
              <a:t>[1])</a:t>
            </a:r>
          </a:p>
          <a:p>
            <a:r>
              <a:rPr lang="en-GB" sz="2200" b="0" i="0" dirty="0">
                <a:effectLst/>
              </a:rPr>
              <a:t>'return to the lost world was filmed back to back with the 1992 version</a:t>
            </a:r>
            <a:endParaRPr lang="en-US" sz="2200" b="0" dirty="0">
              <a:effectLst/>
            </a:endParaRPr>
          </a:p>
          <a:p>
            <a:endParaRPr lang="en-GB" sz="1600" b="0" i="0" dirty="0">
              <a:effectLst/>
            </a:endParaRPr>
          </a:p>
          <a:p>
            <a:pPr marL="0" indent="0">
              <a:buNone/>
            </a:pPr>
            <a:endParaRPr lang="en-US" sz="1600" b="0" dirty="0">
              <a:effectLst/>
              <a:latin typeface="Courier New" panose="02070309020205020404" pitchFamily="49" charset="0"/>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30</a:t>
            </a:fld>
            <a:endParaRPr lang="en-US"/>
          </a:p>
        </p:txBody>
      </p:sp>
    </p:spTree>
    <p:extLst>
      <p:ext uri="{BB962C8B-B14F-4D97-AF65-F5344CB8AC3E}">
        <p14:creationId xmlns:p14="http://schemas.microsoft.com/office/powerpoint/2010/main" val="4078034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Create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31</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437440" cy="5039302"/>
          </a:xfrm>
        </p:spPr>
        <p:txBody>
          <a:bodyPr>
            <a:noAutofit/>
          </a:bodyPr>
          <a:lstStyle/>
          <a:p>
            <a:pPr algn="l"/>
            <a:r>
              <a:rPr lang="en-GB" sz="2200" b="0" i="0" dirty="0">
                <a:effectLst/>
              </a:rPr>
              <a:t>1</a:t>
            </a:r>
            <a:r>
              <a:rPr lang="en-GB" sz="2200" b="0" i="0" baseline="30000" dirty="0">
                <a:effectLst/>
              </a:rPr>
              <a:t>st</a:t>
            </a:r>
            <a:r>
              <a:rPr lang="en-GB" sz="2200" b="0" i="0" dirty="0">
                <a:effectLst/>
              </a:rPr>
              <a:t> layer in RNN is Embedding-layer (converts integer-token into a vector of values). </a:t>
            </a:r>
          </a:p>
          <a:p>
            <a:pPr lvl="1"/>
            <a:r>
              <a:rPr lang="en-GB" sz="1800" b="0" i="0" dirty="0">
                <a:effectLst/>
              </a:rPr>
              <a:t>Necessary because integer-tokens may have values between 0 and 10000 for a vocabulary of 10000 words.</a:t>
            </a:r>
          </a:p>
          <a:p>
            <a:pPr lvl="1"/>
            <a:r>
              <a:rPr lang="en-GB" sz="1800" b="0" i="0" dirty="0">
                <a:effectLst/>
              </a:rPr>
              <a:t>RNN cannot work on values in such a wide range. Embedding-layer will map words with similar semantic meanings to similar embedding-vectors.</a:t>
            </a:r>
          </a:p>
          <a:p>
            <a:pPr algn="l"/>
            <a:r>
              <a:rPr lang="en-GB" sz="2200" b="0" i="0" dirty="0">
                <a:effectLst/>
              </a:rPr>
              <a:t>First, we define the size of the embedding-vector for each integer-token. </a:t>
            </a:r>
          </a:p>
          <a:p>
            <a:pPr lvl="1"/>
            <a:r>
              <a:rPr lang="en-GB" sz="1800" b="0" i="0" dirty="0">
                <a:effectLst/>
              </a:rPr>
              <a:t>In this case we have set it to 8, so that each integer-token will be converted to a vector of length 8. </a:t>
            </a:r>
          </a:p>
          <a:p>
            <a:pPr lvl="1"/>
            <a:r>
              <a:rPr lang="en-GB" sz="1800" b="0" i="0" dirty="0">
                <a:effectLst/>
              </a:rPr>
              <a:t>Values of embedding-vector will be between -1.0 and 1.0, although they may exceed these values somewhat.</a:t>
            </a:r>
          </a:p>
          <a:p>
            <a:r>
              <a:rPr lang="en-GB" sz="2200" dirty="0"/>
              <a:t>Pass number of words in vocabulary and length of padded token to embedding layer</a:t>
            </a:r>
          </a:p>
          <a:p>
            <a:pPr marL="0" indent="0">
              <a:buNone/>
            </a:pPr>
            <a:r>
              <a:rPr lang="en-US" sz="1600" b="0" dirty="0">
                <a:effectLst/>
                <a:latin typeface="Courier New" panose="02070309020205020404" pitchFamily="49" charset="0"/>
              </a:rPr>
              <a:t>model = Sequential()</a:t>
            </a:r>
          </a:p>
          <a:p>
            <a:pPr marL="0" indent="0">
              <a:buNone/>
            </a:pPr>
            <a:r>
              <a:rPr lang="en-US" sz="1600" b="0" dirty="0" err="1">
                <a:effectLst/>
                <a:latin typeface="Courier New" panose="02070309020205020404" pitchFamily="49" charset="0"/>
              </a:rPr>
              <a:t>embedding_size</a:t>
            </a:r>
            <a:r>
              <a:rPr lang="en-US" sz="1600" b="0" dirty="0">
                <a:effectLst/>
                <a:latin typeface="Courier New" panose="02070309020205020404" pitchFamily="49" charset="0"/>
              </a:rPr>
              <a:t> = 8</a:t>
            </a:r>
          </a:p>
          <a:p>
            <a:pPr marL="0" indent="0">
              <a:buNone/>
            </a:pPr>
            <a:r>
              <a:rPr lang="en-US" sz="1600" b="0" dirty="0" err="1">
                <a:effectLst/>
                <a:latin typeface="Courier New" panose="02070309020205020404" pitchFamily="49" charset="0"/>
              </a:rPr>
              <a:t>model.add</a:t>
            </a:r>
            <a:r>
              <a:rPr lang="en-US" sz="1600" b="0" dirty="0">
                <a:effectLst/>
                <a:latin typeface="Courier New" panose="02070309020205020404" pitchFamily="49" charset="0"/>
              </a:rPr>
              <a:t>(Embedding(</a:t>
            </a:r>
            <a:r>
              <a:rPr lang="en-US" sz="1600" b="0" dirty="0" err="1">
                <a:effectLst/>
                <a:latin typeface="Courier New" panose="02070309020205020404" pitchFamily="49" charset="0"/>
              </a:rPr>
              <a:t>input_dim</a:t>
            </a:r>
            <a:r>
              <a:rPr lang="en-US" sz="1600" b="0" dirty="0">
                <a:effectLst/>
                <a:latin typeface="Courier New" panose="02070309020205020404" pitchFamily="49" charset="0"/>
              </a:rPr>
              <a:t>=</a:t>
            </a:r>
            <a:r>
              <a:rPr lang="en-US" sz="1600" b="0" dirty="0" err="1">
                <a:effectLst/>
                <a:latin typeface="Courier New" panose="02070309020205020404" pitchFamily="49" charset="0"/>
              </a:rPr>
              <a:t>num_words</a:t>
            </a:r>
            <a:r>
              <a:rPr lang="en-US" sz="1600" b="0" dirty="0">
                <a:effectLst/>
                <a:latin typeface="Courier New" panose="02070309020205020404" pitchFamily="49" charset="0"/>
              </a:rPr>
              <a:t>,</a:t>
            </a:r>
          </a:p>
          <a:p>
            <a:pPr marL="0" indent="0">
              <a:buNone/>
            </a:pPr>
            <a:r>
              <a:rPr lang="en-US" sz="1600" b="0" dirty="0">
                <a:effectLst/>
                <a:latin typeface="Courier New" panose="02070309020205020404" pitchFamily="49" charset="0"/>
              </a:rPr>
              <a:t>                    </a:t>
            </a:r>
            <a:r>
              <a:rPr lang="en-US" sz="1600" b="0" dirty="0" err="1">
                <a:effectLst/>
                <a:latin typeface="Courier New" panose="02070309020205020404" pitchFamily="49" charset="0"/>
              </a:rPr>
              <a:t>output_dim</a:t>
            </a:r>
            <a:r>
              <a:rPr lang="en-US" sz="1600" b="0" dirty="0">
                <a:effectLst/>
                <a:latin typeface="Courier New" panose="02070309020205020404" pitchFamily="49" charset="0"/>
              </a:rPr>
              <a:t>=</a:t>
            </a:r>
            <a:r>
              <a:rPr lang="en-US" sz="1600" b="0" dirty="0" err="1">
                <a:effectLst/>
                <a:latin typeface="Courier New" panose="02070309020205020404" pitchFamily="49" charset="0"/>
              </a:rPr>
              <a:t>embedding_size</a:t>
            </a:r>
            <a:r>
              <a:rPr lang="en-US" sz="1600" b="0" dirty="0">
                <a:effectLst/>
                <a:latin typeface="Courier New" panose="02070309020205020404" pitchFamily="49" charset="0"/>
              </a:rPr>
              <a:t>,</a:t>
            </a:r>
          </a:p>
          <a:p>
            <a:pPr marL="0" indent="0">
              <a:buNone/>
            </a:pPr>
            <a:r>
              <a:rPr lang="en-US" sz="1600" b="0" dirty="0">
                <a:effectLst/>
                <a:latin typeface="Courier New" panose="02070309020205020404" pitchFamily="49" charset="0"/>
              </a:rPr>
              <a:t>                    </a:t>
            </a:r>
            <a:r>
              <a:rPr lang="en-US" sz="1600" b="0" dirty="0" err="1">
                <a:effectLst/>
                <a:latin typeface="Courier New" panose="02070309020205020404" pitchFamily="49" charset="0"/>
              </a:rPr>
              <a:t>input_length</a:t>
            </a:r>
            <a:r>
              <a:rPr lang="en-US" sz="1600" b="0" dirty="0">
                <a:effectLst/>
                <a:latin typeface="Courier New" panose="02070309020205020404" pitchFamily="49" charset="0"/>
              </a:rPr>
              <a:t>=</a:t>
            </a:r>
            <a:r>
              <a:rPr lang="en-US" sz="1600" b="0" dirty="0" err="1">
                <a:effectLst/>
                <a:latin typeface="Courier New" panose="02070309020205020404" pitchFamily="49" charset="0"/>
              </a:rPr>
              <a:t>max_tokens</a:t>
            </a:r>
            <a:r>
              <a:rPr lang="en-US" sz="1600" b="0" dirty="0">
                <a:effectLst/>
                <a:latin typeface="Courier New" panose="02070309020205020404" pitchFamily="49" charset="0"/>
              </a:rPr>
              <a:t>,</a:t>
            </a:r>
          </a:p>
          <a:p>
            <a:pPr marL="0" indent="0">
              <a:buNone/>
            </a:pPr>
            <a:r>
              <a:rPr lang="en-US" sz="1600" b="0" dirty="0">
                <a:effectLst/>
                <a:latin typeface="Courier New" panose="02070309020205020404" pitchFamily="49" charset="0"/>
              </a:rPr>
              <a:t>                    name='</a:t>
            </a:r>
            <a:r>
              <a:rPr lang="en-US" sz="1600" b="0" dirty="0" err="1">
                <a:effectLst/>
                <a:latin typeface="Courier New" panose="02070309020205020404" pitchFamily="49" charset="0"/>
              </a:rPr>
              <a:t>layer_embedding</a:t>
            </a:r>
            <a:r>
              <a:rPr lang="en-US" sz="1600" b="0" dirty="0">
                <a:effectLst/>
                <a:latin typeface="Courier New" panose="02070309020205020404" pitchFamily="49" charset="0"/>
              </a:rPr>
              <a:t>'))</a:t>
            </a:r>
          </a:p>
          <a:p>
            <a:endParaRPr lang="en-GB" sz="2200" b="0" i="0" dirty="0">
              <a:effectLst/>
            </a:endParaRPr>
          </a:p>
          <a:p>
            <a:endParaRPr lang="en-GB" sz="1600" b="0" i="0" dirty="0">
              <a:effectLst/>
            </a:endParaRPr>
          </a:p>
          <a:p>
            <a:pPr marL="0" indent="0">
              <a:buNone/>
            </a:pPr>
            <a:endParaRPr lang="en-US" sz="1600" b="0" dirty="0">
              <a:effectLst/>
              <a:latin typeface="Courier New" panose="02070309020205020404" pitchFamily="49" charset="0"/>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31</a:t>
            </a:fld>
            <a:endParaRPr lang="en-US"/>
          </a:p>
        </p:txBody>
      </p:sp>
    </p:spTree>
    <p:extLst>
      <p:ext uri="{BB962C8B-B14F-4D97-AF65-F5344CB8AC3E}">
        <p14:creationId xmlns:p14="http://schemas.microsoft.com/office/powerpoint/2010/main" val="3578829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Create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32</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1437440" cy="5039302"/>
          </a:xfrm>
        </p:spPr>
        <p:txBody>
          <a:bodyPr>
            <a:noAutofit/>
          </a:bodyPr>
          <a:lstStyle/>
          <a:p>
            <a:pPr algn="l"/>
            <a:r>
              <a:rPr lang="en-GB" sz="2200" b="0" i="0" dirty="0">
                <a:effectLst/>
              </a:rPr>
              <a:t>Add a GRU with 16 outputs</a:t>
            </a:r>
          </a:p>
          <a:p>
            <a:pPr marL="0" indent="0">
              <a:buNone/>
            </a:pPr>
            <a:r>
              <a:rPr lang="en-GB" sz="1600" b="0" dirty="0" err="1">
                <a:effectLst/>
                <a:latin typeface="Courier New" panose="02070309020205020404" pitchFamily="49" charset="0"/>
              </a:rPr>
              <a:t>model.add</a:t>
            </a:r>
            <a:r>
              <a:rPr lang="en-GB" sz="1600" b="0" dirty="0">
                <a:effectLst/>
                <a:latin typeface="Courier New" panose="02070309020205020404" pitchFamily="49" charset="0"/>
              </a:rPr>
              <a:t>(GRU(units=16, </a:t>
            </a:r>
            <a:r>
              <a:rPr lang="en-GB" sz="1600" b="0" dirty="0" err="1">
                <a:effectLst/>
                <a:latin typeface="Courier New" panose="02070309020205020404" pitchFamily="49" charset="0"/>
              </a:rPr>
              <a:t>return_sequences</a:t>
            </a:r>
            <a:r>
              <a:rPr lang="en-GB" sz="1600" b="0" dirty="0">
                <a:effectLst/>
                <a:latin typeface="Courier New" panose="02070309020205020404" pitchFamily="49" charset="0"/>
              </a:rPr>
              <a:t>=True))</a:t>
            </a:r>
          </a:p>
          <a:p>
            <a:pPr algn="l"/>
            <a:r>
              <a:rPr lang="en-GB" sz="2200" b="0" i="0" dirty="0">
                <a:effectLst/>
              </a:rPr>
              <a:t>Add a second GRU with 8 outputs</a:t>
            </a:r>
          </a:p>
          <a:p>
            <a:pPr marL="0" indent="0">
              <a:buNone/>
            </a:pPr>
            <a:r>
              <a:rPr lang="en-GB" sz="1600" b="0" dirty="0" err="1">
                <a:effectLst/>
                <a:latin typeface="Courier New" panose="02070309020205020404" pitchFamily="49" charset="0"/>
              </a:rPr>
              <a:t>model.add</a:t>
            </a:r>
            <a:r>
              <a:rPr lang="en-GB" sz="1600" b="0" dirty="0">
                <a:effectLst/>
                <a:latin typeface="Courier New" panose="02070309020205020404" pitchFamily="49" charset="0"/>
              </a:rPr>
              <a:t>(GRU(units=8, </a:t>
            </a:r>
            <a:r>
              <a:rPr lang="en-GB" sz="1600" b="0" dirty="0" err="1">
                <a:effectLst/>
                <a:latin typeface="Courier New" panose="02070309020205020404" pitchFamily="49" charset="0"/>
              </a:rPr>
              <a:t>return_sequences</a:t>
            </a:r>
            <a:r>
              <a:rPr lang="en-GB" sz="1600" b="0" dirty="0">
                <a:effectLst/>
                <a:latin typeface="Courier New" panose="02070309020205020404" pitchFamily="49" charset="0"/>
              </a:rPr>
              <a:t>=True))</a:t>
            </a:r>
            <a:endParaRPr lang="en-GB" sz="1600" b="0" i="0" dirty="0">
              <a:effectLst/>
            </a:endParaRPr>
          </a:p>
          <a:p>
            <a:pPr algn="l"/>
            <a:r>
              <a:rPr lang="en-GB" sz="2200" b="0" i="0" dirty="0">
                <a:effectLst/>
              </a:rPr>
              <a:t>Add a third GRU with 4 outputs. This will be connected to dense layer hence it give final output of GRU</a:t>
            </a:r>
          </a:p>
          <a:p>
            <a:pPr marL="0" indent="0">
              <a:buNone/>
            </a:pPr>
            <a:r>
              <a:rPr lang="en-GB" sz="1600" b="0" dirty="0" err="1">
                <a:effectLst/>
                <a:latin typeface="Courier New" panose="02070309020205020404" pitchFamily="49" charset="0"/>
              </a:rPr>
              <a:t>model.add</a:t>
            </a:r>
            <a:r>
              <a:rPr lang="en-GB" sz="1600" b="0" dirty="0">
                <a:effectLst/>
                <a:latin typeface="Courier New" panose="02070309020205020404" pitchFamily="49" charset="0"/>
              </a:rPr>
              <a:t>(GRU(units=4))</a:t>
            </a:r>
          </a:p>
          <a:p>
            <a:r>
              <a:rPr lang="en-GB" sz="2200" b="0" i="0" dirty="0">
                <a:effectLst/>
              </a:rPr>
              <a:t>Add a fully-connected / dense layer which computes a value between 0.0 and 1.0 that will be used as the classification output.</a:t>
            </a:r>
            <a:endParaRPr lang="en-GB" sz="2200" i="0" dirty="0"/>
          </a:p>
          <a:p>
            <a:pPr marL="0" indent="0">
              <a:buNone/>
            </a:pPr>
            <a:r>
              <a:rPr lang="en-US" sz="1600" b="0" dirty="0" err="1">
                <a:effectLst/>
                <a:latin typeface="Courier New" panose="02070309020205020404" pitchFamily="49" charset="0"/>
                <a:cs typeface="Courier New" panose="02070309020205020404" pitchFamily="49" charset="0"/>
              </a:rPr>
              <a:t>model.add</a:t>
            </a:r>
            <a:r>
              <a:rPr lang="en-US" sz="1600" b="0" dirty="0">
                <a:effectLst/>
                <a:latin typeface="Courier New" panose="02070309020205020404" pitchFamily="49" charset="0"/>
                <a:cs typeface="Courier New" panose="02070309020205020404" pitchFamily="49" charset="0"/>
              </a:rPr>
              <a:t>(Dense(1, activation='sigmoid'))</a:t>
            </a:r>
          </a:p>
          <a:p>
            <a:r>
              <a:rPr lang="en-GB" sz="2200" b="0" i="0" dirty="0">
                <a:effectLst/>
              </a:rPr>
              <a:t>Use the Adam optimizer with the given learning-rate.</a:t>
            </a:r>
            <a:endParaRPr lang="en-GB" sz="2200" b="0" dirty="0">
              <a:effectLst/>
            </a:endParaRPr>
          </a:p>
          <a:p>
            <a:pPr marL="0" indent="0">
              <a:buNone/>
            </a:pPr>
            <a:r>
              <a:rPr lang="en-US" sz="1600" b="0" dirty="0">
                <a:effectLst/>
                <a:latin typeface="Courier New" panose="02070309020205020404" pitchFamily="49" charset="0"/>
                <a:cs typeface="Courier New" panose="02070309020205020404" pitchFamily="49" charset="0"/>
              </a:rPr>
              <a:t>optimizer = Adam(</a:t>
            </a:r>
            <a:r>
              <a:rPr lang="en-US" sz="1600" b="0" dirty="0" err="1">
                <a:effectLst/>
                <a:latin typeface="Courier New" panose="02070309020205020404" pitchFamily="49" charset="0"/>
                <a:cs typeface="Courier New" panose="02070309020205020404" pitchFamily="49" charset="0"/>
              </a:rPr>
              <a:t>lr</a:t>
            </a:r>
            <a:r>
              <a:rPr lang="en-US" sz="1600" b="0" dirty="0">
                <a:effectLst/>
                <a:latin typeface="Courier New" panose="02070309020205020404" pitchFamily="49" charset="0"/>
                <a:cs typeface="Courier New" panose="02070309020205020404" pitchFamily="49" charset="0"/>
              </a:rPr>
              <a:t>=1e-3)</a:t>
            </a:r>
          </a:p>
          <a:p>
            <a:pPr marL="0" indent="0">
              <a:buNone/>
            </a:pPr>
            <a:endParaRPr lang="en-GB" sz="1600" b="0" dirty="0">
              <a:effectLst/>
              <a:latin typeface="Courier New" panose="02070309020205020404" pitchFamily="49" charset="0"/>
            </a:endParaRPr>
          </a:p>
          <a:p>
            <a:endParaRPr lang="en-GB" sz="1600" b="0" i="0" dirty="0">
              <a:effectLst/>
            </a:endParaRPr>
          </a:p>
          <a:p>
            <a:pPr marL="0" indent="0">
              <a:buNone/>
            </a:pPr>
            <a:endParaRPr lang="en-US" sz="1600" b="0" dirty="0">
              <a:effectLst/>
              <a:latin typeface="Courier New" panose="02070309020205020404" pitchFamily="49" charset="0"/>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32</a:t>
            </a:fld>
            <a:endParaRPr lang="en-US"/>
          </a:p>
        </p:txBody>
      </p:sp>
    </p:spTree>
    <p:extLst>
      <p:ext uri="{BB962C8B-B14F-4D97-AF65-F5344CB8AC3E}">
        <p14:creationId xmlns:p14="http://schemas.microsoft.com/office/powerpoint/2010/main" val="1489639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Create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33</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5246254" cy="5039302"/>
          </a:xfrm>
        </p:spPr>
        <p:txBody>
          <a:bodyPr>
            <a:noAutofit/>
          </a:bodyPr>
          <a:lstStyle/>
          <a:p>
            <a:r>
              <a:rPr lang="en-GB" sz="2200" b="0" i="0" dirty="0">
                <a:effectLst/>
              </a:rPr>
              <a:t>Compile the </a:t>
            </a:r>
            <a:r>
              <a:rPr lang="en-GB" sz="2200" b="0" i="0" dirty="0" err="1">
                <a:effectLst/>
              </a:rPr>
              <a:t>Keras</a:t>
            </a:r>
            <a:r>
              <a:rPr lang="en-GB" sz="2200" b="0" i="0" dirty="0">
                <a:effectLst/>
              </a:rPr>
              <a:t> model</a:t>
            </a:r>
            <a:endParaRPr lang="en-GB" sz="2200" b="0" dirty="0">
              <a:effectLst/>
            </a:endParaRPr>
          </a:p>
          <a:p>
            <a:pPr marL="0" indent="0">
              <a:buNone/>
            </a:pPr>
            <a:r>
              <a:rPr lang="en-US" sz="1600" b="0" dirty="0" err="1">
                <a:effectLst/>
                <a:latin typeface="Courier New" panose="02070309020205020404" pitchFamily="49" charset="0"/>
                <a:cs typeface="Courier New" panose="02070309020205020404" pitchFamily="49" charset="0"/>
              </a:rPr>
              <a:t>model.compile</a:t>
            </a:r>
            <a:r>
              <a:rPr lang="en-US" sz="1600" b="0" dirty="0">
                <a:effectLst/>
                <a:latin typeface="Courier New" panose="02070309020205020404" pitchFamily="49" charset="0"/>
                <a:cs typeface="Courier New" panose="02070309020205020404" pitchFamily="49" charset="0"/>
              </a:rPr>
              <a:t>(loss='</a:t>
            </a:r>
            <a:r>
              <a:rPr lang="en-US" sz="1600" b="0" dirty="0" err="1">
                <a:effectLst/>
                <a:latin typeface="Courier New" panose="02070309020205020404" pitchFamily="49" charset="0"/>
                <a:cs typeface="Courier New" panose="02070309020205020404" pitchFamily="49" charset="0"/>
              </a:rPr>
              <a:t>binary_crossentropy</a:t>
            </a:r>
            <a:r>
              <a:rPr lang="en-US" sz="1600" b="0" dirty="0">
                <a:effectLst/>
                <a:latin typeface="Courier New" panose="02070309020205020404" pitchFamily="49" charset="0"/>
                <a:cs typeface="Courier New" panose="02070309020205020404" pitchFamily="49" charset="0"/>
              </a:rPr>
              <a:t>',</a:t>
            </a:r>
          </a:p>
          <a:p>
            <a:pPr marL="0" indent="0">
              <a:buNone/>
            </a:pPr>
            <a:r>
              <a:rPr lang="en-US" sz="1600" b="0" dirty="0">
                <a:effectLst/>
                <a:latin typeface="Courier New" panose="02070309020205020404" pitchFamily="49" charset="0"/>
                <a:cs typeface="Courier New" panose="02070309020205020404" pitchFamily="49" charset="0"/>
              </a:rPr>
              <a:t>              optimizer=optimizer,</a:t>
            </a:r>
          </a:p>
          <a:p>
            <a:pPr marL="0" indent="0">
              <a:buNone/>
            </a:pPr>
            <a:r>
              <a:rPr lang="en-US" sz="1600" b="0" dirty="0">
                <a:effectLst/>
                <a:latin typeface="Courier New" panose="02070309020205020404" pitchFamily="49" charset="0"/>
                <a:cs typeface="Courier New" panose="02070309020205020404" pitchFamily="49" charset="0"/>
              </a:rPr>
              <a:t>              metrics=['accuracy’])</a:t>
            </a:r>
          </a:p>
          <a:p>
            <a:pPr marL="0" indent="0">
              <a:buNone/>
            </a:pPr>
            <a:r>
              <a:rPr lang="en-US" sz="1600" b="0" dirty="0" err="1">
                <a:effectLst/>
                <a:latin typeface="Courier New" panose="02070309020205020404" pitchFamily="49" charset="0"/>
                <a:cs typeface="Courier New" panose="02070309020205020404" pitchFamily="49" charset="0"/>
              </a:rPr>
              <a:t>model.summary</a:t>
            </a:r>
            <a:r>
              <a:rPr lang="en-US" sz="1600" b="0" dirty="0">
                <a:effectLst/>
                <a:latin typeface="Courier New" panose="02070309020205020404" pitchFamily="49" charset="0"/>
                <a:cs typeface="Courier New" panose="02070309020205020404" pitchFamily="49" charset="0"/>
              </a:rPr>
              <a:t>()</a:t>
            </a:r>
            <a:endParaRPr lang="en-GB" sz="1600" b="0" dirty="0">
              <a:effectLst/>
              <a:latin typeface="Courier New" panose="02070309020205020404" pitchFamily="49" charset="0"/>
            </a:endParaRPr>
          </a:p>
          <a:p>
            <a:pPr marL="0" indent="0">
              <a:buNone/>
            </a:pPr>
            <a:endParaRPr lang="en-US" sz="1600" b="0" dirty="0">
              <a:effectLst/>
              <a:latin typeface="Courier New" panose="02070309020205020404" pitchFamily="49" charset="0"/>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33</a:t>
            </a:fld>
            <a:endParaRPr lang="en-US"/>
          </a:p>
        </p:txBody>
      </p:sp>
      <p:sp>
        <p:nvSpPr>
          <p:cNvPr id="3" name="TextBox 2">
            <a:extLst>
              <a:ext uri="{FF2B5EF4-FFF2-40B4-BE49-F238E27FC236}">
                <a16:creationId xmlns:a16="http://schemas.microsoft.com/office/drawing/2014/main" id="{AE87C067-9ECB-4808-9266-8ACCBA1C6027}"/>
              </a:ext>
            </a:extLst>
          </p:cNvPr>
          <p:cNvSpPr txBox="1"/>
          <p:nvPr/>
        </p:nvSpPr>
        <p:spPr>
          <a:xfrm>
            <a:off x="5624894" y="938122"/>
            <a:ext cx="6301725" cy="5355312"/>
          </a:xfrm>
          <a:prstGeom prst="rect">
            <a:avLst/>
          </a:prstGeom>
          <a:noFill/>
        </p:spPr>
        <p:txBody>
          <a:bodyPr wrap="none" rtlCol="0">
            <a:spAutoFit/>
          </a:bodyPr>
          <a:lstStyle/>
          <a:p>
            <a:r>
              <a:rPr lang="en-GB" sz="1800" b="0" i="0" dirty="0">
                <a:effectLst/>
              </a:rPr>
              <a:t>Model: "sequential"</a:t>
            </a:r>
          </a:p>
          <a:p>
            <a:r>
              <a:rPr lang="en-GB" sz="1800" b="0" i="0" dirty="0">
                <a:effectLst/>
              </a:rPr>
              <a:t>___________________________________________________</a:t>
            </a:r>
          </a:p>
          <a:p>
            <a:r>
              <a:rPr lang="en-GB" sz="1800" b="0" i="0" dirty="0">
                <a:effectLst/>
              </a:rPr>
              <a:t>Layer (type)                 Output Shape              Param #   </a:t>
            </a:r>
          </a:p>
          <a:p>
            <a:r>
              <a:rPr lang="en-GB" sz="1800" b="0" i="0" dirty="0">
                <a:effectLst/>
              </a:rPr>
              <a:t>===================================================</a:t>
            </a:r>
          </a:p>
          <a:p>
            <a:r>
              <a:rPr lang="en-GB" sz="1800" b="0" i="0" dirty="0" err="1">
                <a:effectLst/>
              </a:rPr>
              <a:t>layer_embedding</a:t>
            </a:r>
            <a:r>
              <a:rPr lang="en-GB" sz="1800" b="0" i="0" dirty="0">
                <a:effectLst/>
              </a:rPr>
              <a:t> (Embedding)  (None, 544, 8)            80000     </a:t>
            </a:r>
          </a:p>
          <a:p>
            <a:r>
              <a:rPr lang="en-GB" sz="1800" b="0" i="0" dirty="0">
                <a:effectLst/>
              </a:rPr>
              <a:t>___________________________________________________</a:t>
            </a:r>
          </a:p>
          <a:p>
            <a:r>
              <a:rPr lang="en-GB" sz="1800" b="0" i="0" dirty="0" err="1">
                <a:effectLst/>
              </a:rPr>
              <a:t>gru</a:t>
            </a:r>
            <a:r>
              <a:rPr lang="en-GB" sz="1800" b="0" i="0" dirty="0">
                <a:effectLst/>
              </a:rPr>
              <a:t> (GRU)                    (None, 544, 16)           1248      </a:t>
            </a:r>
          </a:p>
          <a:p>
            <a:r>
              <a:rPr lang="en-GB" sz="1800" b="0" i="0" dirty="0">
                <a:effectLst/>
              </a:rPr>
              <a:t>___________________________________________________</a:t>
            </a:r>
          </a:p>
          <a:p>
            <a:r>
              <a:rPr lang="en-GB" sz="1800" b="0" i="0" dirty="0">
                <a:effectLst/>
              </a:rPr>
              <a:t>gru_1 (GRU)                  (None, 544, 8)            624       </a:t>
            </a:r>
          </a:p>
          <a:p>
            <a:r>
              <a:rPr lang="en-GB" sz="1800" b="0" i="0" dirty="0">
                <a:effectLst/>
              </a:rPr>
              <a:t>___________________________________________________</a:t>
            </a:r>
          </a:p>
          <a:p>
            <a:r>
              <a:rPr lang="en-GB" sz="1800" b="0" i="0" dirty="0">
                <a:effectLst/>
              </a:rPr>
              <a:t>gru_2 (GRU)                  (None, 4)                 168       </a:t>
            </a:r>
          </a:p>
          <a:p>
            <a:r>
              <a:rPr lang="en-GB" sz="1800" b="0" i="0" dirty="0">
                <a:effectLst/>
              </a:rPr>
              <a:t>___________________________________________________</a:t>
            </a:r>
          </a:p>
          <a:p>
            <a:r>
              <a:rPr lang="en-GB" sz="1800" b="0" i="0" dirty="0">
                <a:effectLst/>
              </a:rPr>
              <a:t>dense (Dense)                (None, 1)                 5         </a:t>
            </a:r>
          </a:p>
          <a:p>
            <a:r>
              <a:rPr lang="en-GB" sz="1800" b="0" i="0" dirty="0">
                <a:effectLst/>
              </a:rPr>
              <a:t>===================================================</a:t>
            </a:r>
          </a:p>
          <a:p>
            <a:r>
              <a:rPr lang="en-GB" sz="1800" b="0" i="0" dirty="0">
                <a:effectLst/>
              </a:rPr>
              <a:t>Total params: 82,045</a:t>
            </a:r>
          </a:p>
          <a:p>
            <a:r>
              <a:rPr lang="en-GB" sz="1800" b="0" i="0" dirty="0">
                <a:effectLst/>
              </a:rPr>
              <a:t>Trainable params: 82,045</a:t>
            </a:r>
          </a:p>
          <a:p>
            <a:r>
              <a:rPr lang="en-GB" sz="1800" b="0" i="0" dirty="0">
                <a:effectLst/>
              </a:rPr>
              <a:t>Non-trainable params: 0</a:t>
            </a:r>
          </a:p>
          <a:p>
            <a:r>
              <a:rPr lang="en-GB" sz="1800" b="0" i="0" dirty="0">
                <a:effectLst/>
              </a:rPr>
              <a:t>___________________________________________________</a:t>
            </a:r>
          </a:p>
          <a:p>
            <a:endParaRPr lang="en-US" dirty="0"/>
          </a:p>
        </p:txBody>
      </p:sp>
    </p:spTree>
    <p:extLst>
      <p:ext uri="{BB962C8B-B14F-4D97-AF65-F5344CB8AC3E}">
        <p14:creationId xmlns:p14="http://schemas.microsoft.com/office/powerpoint/2010/main" val="3073179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Train RNN</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34</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0975160" cy="5039302"/>
          </a:xfrm>
        </p:spPr>
        <p:txBody>
          <a:bodyPr>
            <a:noAutofit/>
          </a:bodyPr>
          <a:lstStyle/>
          <a:p>
            <a:r>
              <a:rPr lang="en-GB" sz="2200" b="0" i="0" dirty="0">
                <a:effectLst/>
              </a:rPr>
              <a:t>Train the </a:t>
            </a:r>
            <a:r>
              <a:rPr lang="en-GB" sz="2200" b="0" i="0" dirty="0" err="1">
                <a:effectLst/>
              </a:rPr>
              <a:t>Keras</a:t>
            </a:r>
            <a:r>
              <a:rPr lang="en-GB" sz="2200" b="0" i="0" dirty="0">
                <a:effectLst/>
              </a:rPr>
              <a:t> model</a:t>
            </a:r>
            <a:endParaRPr lang="en-GB" sz="2200" b="0" dirty="0">
              <a:effectLst/>
            </a:endParaRPr>
          </a:p>
          <a:p>
            <a:pPr marL="0" indent="0">
              <a:buNone/>
            </a:pPr>
            <a:r>
              <a:rPr lang="en-US" sz="1600" b="0" dirty="0" err="1">
                <a:effectLst/>
                <a:latin typeface="Courier New" panose="02070309020205020404" pitchFamily="49" charset="0"/>
              </a:rPr>
              <a:t>model.fit</a:t>
            </a:r>
            <a:r>
              <a:rPr lang="en-US" sz="1600" b="0" dirty="0">
                <a:effectLst/>
                <a:latin typeface="Courier New" panose="02070309020205020404" pitchFamily="49" charset="0"/>
              </a:rPr>
              <a:t>(</a:t>
            </a:r>
            <a:r>
              <a:rPr lang="en-US" sz="1600" b="0" dirty="0" err="1">
                <a:effectLst/>
                <a:latin typeface="Courier New" panose="02070309020205020404" pitchFamily="49" charset="0"/>
              </a:rPr>
              <a:t>x_train_pad</a:t>
            </a:r>
            <a:r>
              <a:rPr lang="en-US" sz="1600" b="0" dirty="0">
                <a:effectLst/>
                <a:latin typeface="Courier New" panose="02070309020205020404" pitchFamily="49" charset="0"/>
              </a:rPr>
              <a:t>, </a:t>
            </a:r>
            <a:r>
              <a:rPr lang="en-US" sz="1600" b="0" dirty="0" err="1">
                <a:effectLst/>
                <a:latin typeface="Courier New" panose="02070309020205020404" pitchFamily="49" charset="0"/>
              </a:rPr>
              <a:t>y_train</a:t>
            </a:r>
            <a:r>
              <a:rPr lang="en-US" sz="1600" b="0" dirty="0">
                <a:effectLst/>
                <a:latin typeface="Courier New" panose="02070309020205020404" pitchFamily="49" charset="0"/>
              </a:rPr>
              <a:t>, </a:t>
            </a:r>
            <a:r>
              <a:rPr lang="en-US" sz="1600" b="0" dirty="0" err="1">
                <a:effectLst/>
                <a:latin typeface="Courier New" panose="02070309020205020404" pitchFamily="49" charset="0"/>
              </a:rPr>
              <a:t>validation_split</a:t>
            </a:r>
            <a:r>
              <a:rPr lang="en-US" sz="1600" b="0" dirty="0">
                <a:effectLst/>
                <a:latin typeface="Courier New" panose="02070309020205020404" pitchFamily="49" charset="0"/>
              </a:rPr>
              <a:t>=0.05, epochs=3, </a:t>
            </a:r>
            <a:r>
              <a:rPr lang="en-US" sz="1600" b="0" dirty="0" err="1">
                <a:effectLst/>
                <a:latin typeface="Courier New" panose="02070309020205020404" pitchFamily="49" charset="0"/>
              </a:rPr>
              <a:t>batch_size</a:t>
            </a:r>
            <a:r>
              <a:rPr lang="en-US" sz="1600" b="0" dirty="0">
                <a:effectLst/>
                <a:latin typeface="Courier New" panose="02070309020205020404" pitchFamily="49" charset="0"/>
              </a:rPr>
              <a:t>=64)</a:t>
            </a:r>
          </a:p>
          <a:p>
            <a:pPr marL="0" indent="0">
              <a:buNone/>
            </a:pPr>
            <a:endParaRPr lang="en-GB" sz="1600" b="0" dirty="0">
              <a:effectLst/>
              <a:latin typeface="Courier New" panose="02070309020205020404" pitchFamily="49" charset="0"/>
            </a:endParaRPr>
          </a:p>
          <a:p>
            <a:pPr marL="0" indent="0">
              <a:buNone/>
            </a:pPr>
            <a:r>
              <a:rPr lang="en-US" sz="1100" b="0" i="0" dirty="0">
                <a:effectLst/>
                <a:latin typeface="Courier New" panose="02070309020205020404" pitchFamily="49" charset="0"/>
              </a:rPr>
              <a:t>Train on 23750 samples, validate on 1250 samples</a:t>
            </a:r>
          </a:p>
          <a:p>
            <a:pPr marL="0" indent="0">
              <a:buNone/>
            </a:pPr>
            <a:r>
              <a:rPr lang="en-US" sz="1100" b="0" i="0" dirty="0">
                <a:effectLst/>
                <a:latin typeface="Courier New" panose="02070309020205020404" pitchFamily="49" charset="0"/>
              </a:rPr>
              <a:t>Epoch 1/3 </a:t>
            </a:r>
          </a:p>
          <a:p>
            <a:pPr marL="0" indent="0">
              <a:buNone/>
            </a:pPr>
            <a:r>
              <a:rPr lang="en-US" sz="1100" b="0" i="0" dirty="0">
                <a:effectLst/>
                <a:latin typeface="Courier New" panose="02070309020205020404" pitchFamily="49" charset="0"/>
              </a:rPr>
              <a:t>23750/23750 [==============================] - 16s 690us/sample - loss: 0.4935 - accuracy: 0.7452 - </a:t>
            </a:r>
            <a:r>
              <a:rPr lang="en-US" sz="1100" b="0" i="0" dirty="0" err="1">
                <a:effectLst/>
                <a:latin typeface="Courier New" panose="02070309020205020404" pitchFamily="49" charset="0"/>
              </a:rPr>
              <a:t>val_loss</a:t>
            </a:r>
            <a:r>
              <a:rPr lang="en-US" sz="1100" b="0" i="0" dirty="0">
                <a:effectLst/>
                <a:latin typeface="Courier New" panose="02070309020205020404" pitchFamily="49" charset="0"/>
              </a:rPr>
              <a:t>: 0.3798 - </a:t>
            </a:r>
            <a:r>
              <a:rPr lang="en-US" sz="1100" b="0" i="0" dirty="0" err="1">
                <a:effectLst/>
                <a:latin typeface="Courier New" panose="02070309020205020404" pitchFamily="49" charset="0"/>
              </a:rPr>
              <a:t>val_accuracy</a:t>
            </a:r>
            <a:r>
              <a:rPr lang="en-US" sz="1100" b="0" i="0" dirty="0">
                <a:effectLst/>
                <a:latin typeface="Courier New" panose="02070309020205020404" pitchFamily="49" charset="0"/>
              </a:rPr>
              <a:t>: 0.8328 </a:t>
            </a:r>
          </a:p>
          <a:p>
            <a:pPr marL="0" indent="0">
              <a:buNone/>
            </a:pPr>
            <a:r>
              <a:rPr lang="en-US" sz="1100" b="0" i="0" dirty="0">
                <a:effectLst/>
                <a:latin typeface="Courier New" panose="02070309020205020404" pitchFamily="49" charset="0"/>
              </a:rPr>
              <a:t>Epoch 2/3 </a:t>
            </a:r>
          </a:p>
          <a:p>
            <a:pPr marL="0" indent="0">
              <a:buNone/>
            </a:pPr>
            <a:r>
              <a:rPr lang="en-US" sz="1100" b="0" i="0" dirty="0">
                <a:effectLst/>
                <a:latin typeface="Courier New" panose="02070309020205020404" pitchFamily="49" charset="0"/>
              </a:rPr>
              <a:t>23750/23750 [==============================] - 12s 510us/sample - loss: 0.2919 - accuracy: 0.8887 - </a:t>
            </a:r>
            <a:r>
              <a:rPr lang="en-US" sz="1100" b="0" i="0" dirty="0" err="1">
                <a:effectLst/>
                <a:latin typeface="Courier New" panose="02070309020205020404" pitchFamily="49" charset="0"/>
              </a:rPr>
              <a:t>val_loss</a:t>
            </a:r>
            <a:r>
              <a:rPr lang="en-US" sz="1100" b="0" i="0" dirty="0">
                <a:effectLst/>
                <a:latin typeface="Courier New" panose="02070309020205020404" pitchFamily="49" charset="0"/>
              </a:rPr>
              <a:t>: 0.3111 - </a:t>
            </a:r>
            <a:r>
              <a:rPr lang="en-US" sz="1100" b="0" i="0" dirty="0" err="1">
                <a:effectLst/>
                <a:latin typeface="Courier New" panose="02070309020205020404" pitchFamily="49" charset="0"/>
              </a:rPr>
              <a:t>val_accuracy</a:t>
            </a:r>
            <a:r>
              <a:rPr lang="en-US" sz="1100" b="0" i="0" dirty="0">
                <a:effectLst/>
                <a:latin typeface="Courier New" panose="02070309020205020404" pitchFamily="49" charset="0"/>
              </a:rPr>
              <a:t>: 0.8736 </a:t>
            </a:r>
          </a:p>
          <a:p>
            <a:pPr marL="0" indent="0">
              <a:buNone/>
            </a:pPr>
            <a:r>
              <a:rPr lang="en-US" sz="1100" b="0" i="0" dirty="0">
                <a:effectLst/>
                <a:latin typeface="Courier New" panose="02070309020205020404" pitchFamily="49" charset="0"/>
              </a:rPr>
              <a:t>Epoch 3/3 </a:t>
            </a:r>
          </a:p>
          <a:p>
            <a:pPr marL="0" indent="0">
              <a:buNone/>
            </a:pPr>
            <a:r>
              <a:rPr lang="en-US" sz="1100" b="0" i="0" dirty="0">
                <a:effectLst/>
                <a:latin typeface="Courier New" panose="02070309020205020404" pitchFamily="49" charset="0"/>
              </a:rPr>
              <a:t>23750/23750 [==============================] - 12s 511us/sample - loss: 0.2210 - accuracy: 0.9211 - </a:t>
            </a:r>
            <a:r>
              <a:rPr lang="en-US" sz="1100" b="0" i="0" dirty="0" err="1">
                <a:effectLst/>
                <a:latin typeface="Courier New" panose="02070309020205020404" pitchFamily="49" charset="0"/>
              </a:rPr>
              <a:t>val_loss</a:t>
            </a:r>
            <a:r>
              <a:rPr lang="en-US" sz="1100" b="0" i="0" dirty="0">
                <a:effectLst/>
                <a:latin typeface="Courier New" panose="02070309020205020404" pitchFamily="49" charset="0"/>
              </a:rPr>
              <a:t>: 0.3090 - </a:t>
            </a:r>
            <a:r>
              <a:rPr lang="en-US" sz="1100" b="0" i="0" dirty="0" err="1">
                <a:effectLst/>
                <a:latin typeface="Courier New" panose="02070309020205020404" pitchFamily="49" charset="0"/>
              </a:rPr>
              <a:t>val_accuracy</a:t>
            </a:r>
            <a:r>
              <a:rPr lang="en-US" sz="1100" b="0" i="0" dirty="0">
                <a:effectLst/>
                <a:latin typeface="Courier New" panose="02070309020205020404" pitchFamily="49" charset="0"/>
              </a:rPr>
              <a:t>: 0.8760 </a:t>
            </a:r>
          </a:p>
          <a:p>
            <a:pPr marL="0" indent="0">
              <a:buNone/>
            </a:pPr>
            <a:r>
              <a:rPr lang="en-US" sz="1100" b="0" i="0" dirty="0">
                <a:effectLst/>
                <a:latin typeface="Courier New" panose="02070309020205020404" pitchFamily="49" charset="0"/>
              </a:rPr>
              <a:t>CPU times: user 48.9 s, sys: 1.58 s, total: 50.5 s</a:t>
            </a:r>
            <a:endParaRPr lang="en-US" sz="1600" b="0" dirty="0">
              <a:effectLst/>
              <a:latin typeface="Courier New" panose="02070309020205020404" pitchFamily="49" charset="0"/>
            </a:endParaRP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34</a:t>
            </a:fld>
            <a:endParaRPr lang="en-US"/>
          </a:p>
        </p:txBody>
      </p:sp>
      <p:sp>
        <p:nvSpPr>
          <p:cNvPr id="3" name="TextBox 2">
            <a:extLst>
              <a:ext uri="{FF2B5EF4-FFF2-40B4-BE49-F238E27FC236}">
                <a16:creationId xmlns:a16="http://schemas.microsoft.com/office/drawing/2014/main" id="{AE87C067-9ECB-4808-9266-8ACCBA1C6027}"/>
              </a:ext>
            </a:extLst>
          </p:cNvPr>
          <p:cNvSpPr txBox="1"/>
          <p:nvPr/>
        </p:nvSpPr>
        <p:spPr>
          <a:xfrm>
            <a:off x="5624894" y="93812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554884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710D-C626-4B1C-8D0A-9C3E0E7D3FA7}"/>
              </a:ext>
            </a:extLst>
          </p:cNvPr>
          <p:cNvSpPr>
            <a:spLocks noGrp="1"/>
          </p:cNvSpPr>
          <p:nvPr>
            <p:ph type="title"/>
          </p:nvPr>
        </p:nvSpPr>
        <p:spPr>
          <a:xfrm>
            <a:off x="450273" y="168275"/>
            <a:ext cx="11291454" cy="770948"/>
          </a:xfrm>
        </p:spPr>
        <p:txBody>
          <a:bodyPr/>
          <a:lstStyle/>
          <a:p>
            <a:r>
              <a:rPr lang="en-US" dirty="0"/>
              <a:t>Sentiment Analysis – Test the system</a:t>
            </a:r>
            <a:endParaRPr lang="en-US" dirty="0">
              <a:solidFill>
                <a:schemeClr val="tx1"/>
              </a:solidFill>
            </a:endParaRPr>
          </a:p>
        </p:txBody>
      </p:sp>
      <p:sp>
        <p:nvSpPr>
          <p:cNvPr id="4" name="Footer Placeholder 3">
            <a:extLst>
              <a:ext uri="{FF2B5EF4-FFF2-40B4-BE49-F238E27FC236}">
                <a16:creationId xmlns:a16="http://schemas.microsoft.com/office/drawing/2014/main" id="{54D5DA6C-F4D5-4F42-9571-90DD21D02B8A}"/>
              </a:ext>
            </a:extLst>
          </p:cNvPr>
          <p:cNvSpPr>
            <a:spLocks noGrp="1"/>
          </p:cNvSpPr>
          <p:nvPr>
            <p:ph type="ftr" sz="quarter" idx="11"/>
          </p:nvPr>
        </p:nvSpPr>
        <p:spPr>
          <a:xfrm>
            <a:off x="3325091" y="6319838"/>
            <a:ext cx="5246254" cy="365125"/>
          </a:xfrm>
        </p:spPr>
        <p:txBody>
          <a:bodyPr/>
          <a:lstStyle/>
          <a:p>
            <a:r>
              <a:rPr lang="en-GB" dirty="0">
                <a:solidFill>
                  <a:schemeClr val="tx1"/>
                </a:solidFill>
              </a:rPr>
              <a:t>College of Computer Science and Engineering </a:t>
            </a:r>
          </a:p>
          <a:p>
            <a:r>
              <a:rPr lang="en-GB" dirty="0">
                <a:solidFill>
                  <a:schemeClr val="tx1"/>
                </a:solidFill>
              </a:rPr>
              <a:t>University of Jeddah</a:t>
            </a:r>
            <a:endParaRPr lang="en-US" dirty="0">
              <a:solidFill>
                <a:schemeClr val="tx1"/>
              </a:solidFill>
            </a:endParaRPr>
          </a:p>
        </p:txBody>
      </p:sp>
      <p:sp>
        <p:nvSpPr>
          <p:cNvPr id="5" name="Slide Number Placeholder 4">
            <a:extLst>
              <a:ext uri="{FF2B5EF4-FFF2-40B4-BE49-F238E27FC236}">
                <a16:creationId xmlns:a16="http://schemas.microsoft.com/office/drawing/2014/main" id="{DE69E97D-6DFF-4A07-BC12-DF5244B1CF33}"/>
              </a:ext>
            </a:extLst>
          </p:cNvPr>
          <p:cNvSpPr>
            <a:spLocks noGrp="1"/>
          </p:cNvSpPr>
          <p:nvPr>
            <p:ph type="sldNum" sz="quarter" idx="12"/>
          </p:nvPr>
        </p:nvSpPr>
        <p:spPr/>
        <p:txBody>
          <a:bodyPr/>
          <a:lstStyle/>
          <a:p>
            <a:fld id="{11A71338-8BA2-4C79-A6C5-5A8E30081D0C}" type="slidenum">
              <a:rPr lang="en-US" smtClean="0">
                <a:solidFill>
                  <a:schemeClr val="tx1"/>
                </a:solidFill>
              </a:rPr>
              <a:t>35</a:t>
            </a:fld>
            <a:endParaRPr lang="en-US" dirty="0">
              <a:solidFill>
                <a:schemeClr val="tx1"/>
              </a:solidFill>
            </a:endParaRPr>
          </a:p>
        </p:txBody>
      </p:sp>
      <p:sp>
        <p:nvSpPr>
          <p:cNvPr id="21" name="Content Placeholder 2">
            <a:extLst>
              <a:ext uri="{FF2B5EF4-FFF2-40B4-BE49-F238E27FC236}">
                <a16:creationId xmlns:a16="http://schemas.microsoft.com/office/drawing/2014/main" id="{CA34E99C-EFEB-417D-BE22-B24B5972087B}"/>
              </a:ext>
            </a:extLst>
          </p:cNvPr>
          <p:cNvSpPr>
            <a:spLocks noGrp="1"/>
          </p:cNvSpPr>
          <p:nvPr>
            <p:ph idx="1"/>
          </p:nvPr>
        </p:nvSpPr>
        <p:spPr>
          <a:xfrm>
            <a:off x="378640" y="909349"/>
            <a:ext cx="10975160" cy="5039302"/>
          </a:xfrm>
        </p:spPr>
        <p:txBody>
          <a:bodyPr>
            <a:noAutofit/>
          </a:bodyPr>
          <a:lstStyle/>
          <a:p>
            <a:r>
              <a:rPr lang="en-GB" sz="2200" b="0" i="0" dirty="0">
                <a:effectLst/>
              </a:rPr>
              <a:t>Test on the test data set</a:t>
            </a:r>
            <a:endParaRPr lang="en-GB" sz="2200" b="0" dirty="0">
              <a:effectLst/>
            </a:endParaRPr>
          </a:p>
          <a:p>
            <a:pPr marL="0" indent="0">
              <a:buNone/>
            </a:pPr>
            <a:r>
              <a:rPr lang="en-GB" sz="1600" b="0" dirty="0">
                <a:effectLst/>
                <a:latin typeface="Courier New" panose="02070309020205020404" pitchFamily="49" charset="0"/>
              </a:rPr>
              <a:t>result = </a:t>
            </a:r>
            <a:r>
              <a:rPr lang="en-GB" sz="1600" b="0" dirty="0" err="1">
                <a:effectLst/>
                <a:latin typeface="Courier New" panose="02070309020205020404" pitchFamily="49" charset="0"/>
              </a:rPr>
              <a:t>model.evaluate</a:t>
            </a:r>
            <a:r>
              <a:rPr lang="en-GB" sz="1600" b="0" dirty="0">
                <a:effectLst/>
                <a:latin typeface="Courier New" panose="02070309020205020404" pitchFamily="49" charset="0"/>
              </a:rPr>
              <a:t>(</a:t>
            </a:r>
            <a:r>
              <a:rPr lang="en-GB" sz="1600" b="0" dirty="0" err="1">
                <a:effectLst/>
                <a:latin typeface="Courier New" panose="02070309020205020404" pitchFamily="49" charset="0"/>
              </a:rPr>
              <a:t>x_test_pad</a:t>
            </a:r>
            <a:r>
              <a:rPr lang="en-GB" sz="1600" b="0" dirty="0">
                <a:effectLst/>
                <a:latin typeface="Courier New" panose="02070309020205020404" pitchFamily="49" charset="0"/>
              </a:rPr>
              <a:t>, </a:t>
            </a:r>
            <a:r>
              <a:rPr lang="en-GB" sz="1600" b="0" dirty="0" err="1">
                <a:effectLst/>
                <a:latin typeface="Courier New" panose="02070309020205020404" pitchFamily="49" charset="0"/>
              </a:rPr>
              <a:t>y_test</a:t>
            </a:r>
            <a:r>
              <a:rPr lang="en-GB" sz="1600" b="0" dirty="0">
                <a:effectLst/>
                <a:latin typeface="Courier New" panose="02070309020205020404" pitchFamily="49" charset="0"/>
              </a:rPr>
              <a:t>)</a:t>
            </a:r>
          </a:p>
          <a:p>
            <a:pPr marL="0" indent="0">
              <a:buNone/>
            </a:pPr>
            <a:r>
              <a:rPr lang="en-GB" sz="1800" b="0" i="0" dirty="0">
                <a:effectLst/>
              </a:rPr>
              <a:t>25000/25000 [==============================] - 12s 493us/sample - loss: 0.3331 - accuracy: 0.8674 </a:t>
            </a:r>
          </a:p>
          <a:p>
            <a:pPr marL="0" indent="0">
              <a:buNone/>
            </a:pPr>
            <a:r>
              <a:rPr lang="en-GB" sz="1800" b="0" i="0" dirty="0">
                <a:effectLst/>
              </a:rPr>
              <a:t>CPU times: user 14 s, sys: 404 </a:t>
            </a:r>
            <a:r>
              <a:rPr lang="en-GB" sz="1800" b="0" i="0" dirty="0" err="1">
                <a:effectLst/>
              </a:rPr>
              <a:t>ms</a:t>
            </a:r>
            <a:r>
              <a:rPr lang="en-GB" sz="1800" b="0" i="0" dirty="0">
                <a:effectLst/>
              </a:rPr>
              <a:t>, total: 14.4 s Wall time: 12.4 s</a:t>
            </a:r>
            <a:endParaRPr lang="en-US" sz="1800" b="0" i="0" dirty="0">
              <a:effectLst/>
            </a:endParaRPr>
          </a:p>
          <a:p>
            <a:pPr marL="0" indent="0">
              <a:buNone/>
            </a:pPr>
            <a:endParaRPr lang="en-GB" sz="1600" b="0" dirty="0">
              <a:effectLst/>
              <a:latin typeface="Courier New" panose="02070309020205020404" pitchFamily="49" charset="0"/>
            </a:endParaRPr>
          </a:p>
          <a:p>
            <a:pPr marL="0" indent="0">
              <a:buNone/>
            </a:pPr>
            <a:r>
              <a:rPr lang="en-GB" sz="1600" b="0" dirty="0">
                <a:effectLst/>
                <a:latin typeface="Courier New" panose="02070309020205020404" pitchFamily="49" charset="0"/>
              </a:rPr>
              <a:t>print("Accuracy: {0:.2%}".format(result[1]))	#86.74%</a:t>
            </a:r>
          </a:p>
        </p:txBody>
      </p:sp>
      <p:sp>
        <p:nvSpPr>
          <p:cNvPr id="22" name="Slide Number Placeholder 3">
            <a:extLst>
              <a:ext uri="{FF2B5EF4-FFF2-40B4-BE49-F238E27FC236}">
                <a16:creationId xmlns:a16="http://schemas.microsoft.com/office/drawing/2014/main" id="{E986AB69-7627-4D92-8547-7B8AD32D9B5B}"/>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AD5D9-7E52-44BC-8503-52C80A722C60}" type="slidenum">
              <a:rPr lang="en-US" smtClean="0"/>
              <a:pPr/>
              <a:t>35</a:t>
            </a:fld>
            <a:endParaRPr lang="en-US"/>
          </a:p>
        </p:txBody>
      </p:sp>
      <p:sp>
        <p:nvSpPr>
          <p:cNvPr id="3" name="TextBox 2">
            <a:extLst>
              <a:ext uri="{FF2B5EF4-FFF2-40B4-BE49-F238E27FC236}">
                <a16:creationId xmlns:a16="http://schemas.microsoft.com/office/drawing/2014/main" id="{AE87C067-9ECB-4808-9266-8ACCBA1C6027}"/>
              </a:ext>
            </a:extLst>
          </p:cNvPr>
          <p:cNvSpPr txBox="1"/>
          <p:nvPr/>
        </p:nvSpPr>
        <p:spPr>
          <a:xfrm>
            <a:off x="5624894" y="93812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04225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12006</TotalTime>
  <Words>4660</Words>
  <Application>Microsoft Office PowerPoint</Application>
  <PresentationFormat>Widescreen</PresentationFormat>
  <Paragraphs>517</Paragraphs>
  <Slides>35</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MathJax_Main</vt:lpstr>
      <vt:lpstr>Arial</vt:lpstr>
      <vt:lpstr>Calibri</vt:lpstr>
      <vt:lpstr>Calibri Light</vt:lpstr>
      <vt:lpstr>Cambria Math</vt:lpstr>
      <vt:lpstr>Courier New</vt:lpstr>
      <vt:lpstr>Lato</vt:lpstr>
      <vt:lpstr>Roboto</vt:lpstr>
      <vt:lpstr>Office Theme</vt:lpstr>
      <vt:lpstr>Contents</vt:lpstr>
      <vt:lpstr>Gated Recurrent Unit (GRU)</vt:lpstr>
      <vt:lpstr>Gated Recurrent Unit (GRU)</vt:lpstr>
      <vt:lpstr>Reset Gate (Short Term Memory)</vt:lpstr>
      <vt:lpstr>Update Gate (Long Term Memory)</vt:lpstr>
      <vt:lpstr>Gated Recurrent Unit (GRU)</vt:lpstr>
      <vt:lpstr>How GRU works?</vt:lpstr>
      <vt:lpstr>Candidate Hidden State</vt:lpstr>
      <vt:lpstr>How GRU works?</vt:lpstr>
      <vt:lpstr>Hidden State</vt:lpstr>
      <vt:lpstr>Implementation</vt:lpstr>
      <vt:lpstr>Implementation (Initializing Model Parameters)</vt:lpstr>
      <vt:lpstr>Implementation (Defining the Model)</vt:lpstr>
      <vt:lpstr>Implementation (Training and Predicting)</vt:lpstr>
      <vt:lpstr>GRU Application</vt:lpstr>
      <vt:lpstr>Sentiment Analysis – Step1- Tokenization</vt:lpstr>
      <vt:lpstr>Sentiment Analysis – Step2- Word Embeddings</vt:lpstr>
      <vt:lpstr>Sentiment Analysis – Step2- Word Embeddings</vt:lpstr>
      <vt:lpstr>Sentiment Analysis – Step2- Word Embeddings</vt:lpstr>
      <vt:lpstr>Sentiment Analysis – Step3- RNN</vt:lpstr>
      <vt:lpstr>Sentiment Analysis – 3 Layer RNN</vt:lpstr>
      <vt:lpstr>Sentiment Analysis – Example</vt:lpstr>
      <vt:lpstr>Sentiment Analysis – Imports</vt:lpstr>
      <vt:lpstr>Sentiment Analysis – Load Data</vt:lpstr>
      <vt:lpstr>Sentiment Analysis – Tokenizer</vt:lpstr>
      <vt:lpstr>Sentiment Analysis – Tokenizer</vt:lpstr>
      <vt:lpstr>Sentiment Analysis – Padding and Truncation</vt:lpstr>
      <vt:lpstr>Sentiment Analysis – Padding and Truncation</vt:lpstr>
      <vt:lpstr>Sentiment Analysis – Padding and Truncation</vt:lpstr>
      <vt:lpstr>Sentiment Analysis – Inverse Tokenizer</vt:lpstr>
      <vt:lpstr>Sentiment Analysis – Create RNN</vt:lpstr>
      <vt:lpstr>Sentiment Analysis – Create RNN</vt:lpstr>
      <vt:lpstr>Sentiment Analysis – Create RNN</vt:lpstr>
      <vt:lpstr>Sentiment Analysis – Train RNN</vt:lpstr>
      <vt:lpstr>Sentiment Analysis – Test the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CCAI 321  Artificial Neural Networks  Week 1</dc:title>
  <dc:creator>Muhammad khan</dc:creator>
  <cp:lastModifiedBy>OTHMAN SAED MOHAMAD SAED</cp:lastModifiedBy>
  <cp:revision>660</cp:revision>
  <dcterms:created xsi:type="dcterms:W3CDTF">2021-01-14T12:18:11Z</dcterms:created>
  <dcterms:modified xsi:type="dcterms:W3CDTF">2026-02-22T05:31:44Z</dcterms:modified>
</cp:coreProperties>
</file>